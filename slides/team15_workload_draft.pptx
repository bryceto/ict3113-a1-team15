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embeddedFontLst>
    <p:embeddedFont>
      <p:font typeface="DM Sans" pitchFamily="2" charset="0"/>
      <p:regular r:id="rId15"/>
      <p:bold r:id="rId16"/>
    </p:embeddedFont>
    <p:embeddedFont>
      <p:font typeface="Nunito" pitchFamily="2" charset="0"/>
      <p:regular r:id="rId17"/>
      <p:bold r:id="rId18"/>
      <p:italic r:id="rId19"/>
      <p:boldItalic r:id="rId20"/>
    </p:embeddedFont>
    <p:embeddedFont>
      <p:font typeface="Nunito Light" pitchFamily="2" charset="0"/>
      <p:regular r:id="rId21"/>
    </p:embeddedFont>
    <p:embeddedFont>
      <p:font typeface="Outfit" panose="020B0604020202020204" charset="0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A484EB1-52C8-4F88-B49D-DAC7C477A5D6}">
  <a:tblStyle styleId="{1A484EB1-52C8-4F88-B49D-DAC7C477A5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h1f62ee977b89b881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h1f62ee977b89b881_1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54dda1946d_4_27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54dda1946d_4_27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1e71a4a866a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1e71a4a866a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1e71a4a866a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1e71a4a866a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54dda1946d_4_2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54dda1946d_4_27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54dda1946d_4_26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54dda1946d_4_26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54dda1946d_4_2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54dda1946d_4_2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h65af4be945300552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h65af4be945300552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h1f62ee977b89b881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h1f62ee977b89b881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156000"/>
            <a:ext cx="4160700" cy="238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541600"/>
            <a:ext cx="4160700" cy="4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713225" y="2384250"/>
            <a:ext cx="4344300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468350"/>
            <a:ext cx="12642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713225" y="3300150"/>
            <a:ext cx="43443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4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7" name="Google Shape;17;p4"/>
            <p:cNvSpPr/>
            <p:nvPr/>
          </p:nvSpPr>
          <p:spPr>
            <a:xfrm>
              <a:off x="-247298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4"/>
            <p:cNvSpPr/>
            <p:nvPr/>
          </p:nvSpPr>
          <p:spPr>
            <a:xfrm>
              <a:off x="29354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4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4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4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4"/>
            <p:cNvSpPr/>
            <p:nvPr/>
          </p:nvSpPr>
          <p:spPr>
            <a:xfrm rot="10800000" flipH="1">
              <a:off x="29354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4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4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5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29" name="Google Shape;29;p5"/>
            <p:cNvSpPr/>
            <p:nvPr/>
          </p:nvSpPr>
          <p:spPr>
            <a:xfrm>
              <a:off x="-247298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5"/>
            <p:cNvSpPr/>
            <p:nvPr/>
          </p:nvSpPr>
          <p:spPr>
            <a:xfrm>
              <a:off x="29354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5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5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5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5"/>
            <p:cNvSpPr/>
            <p:nvPr/>
          </p:nvSpPr>
          <p:spPr>
            <a:xfrm rot="10800000" flipH="1">
              <a:off x="29354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5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1"/>
          </p:nvPr>
        </p:nvSpPr>
        <p:spPr>
          <a:xfrm>
            <a:off x="5055284" y="356257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ubTitle" idx="2"/>
          </p:nvPr>
        </p:nvSpPr>
        <p:spPr>
          <a:xfrm>
            <a:off x="1583300" y="356257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ubTitle" idx="3"/>
          </p:nvPr>
        </p:nvSpPr>
        <p:spPr>
          <a:xfrm>
            <a:off x="5055275" y="3122525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ubTitle" idx="4"/>
          </p:nvPr>
        </p:nvSpPr>
        <p:spPr>
          <a:xfrm>
            <a:off x="1583075" y="3122525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6"/>
          <p:cNvGrpSpPr/>
          <p:nvPr/>
        </p:nvGrpSpPr>
        <p:grpSpPr>
          <a:xfrm>
            <a:off x="-247298" y="-284290"/>
            <a:ext cx="9638600" cy="5868163"/>
            <a:chOff x="-247298" y="-284290"/>
            <a:chExt cx="9638600" cy="5868163"/>
          </a:xfrm>
        </p:grpSpPr>
        <p:sp>
          <p:nvSpPr>
            <p:cNvPr id="44" name="Google Shape;44;p6"/>
            <p:cNvSpPr/>
            <p:nvPr/>
          </p:nvSpPr>
          <p:spPr>
            <a:xfrm>
              <a:off x="-247298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6"/>
            <p:cNvSpPr/>
            <p:nvPr/>
          </p:nvSpPr>
          <p:spPr>
            <a:xfrm>
              <a:off x="29354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6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6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6"/>
            <p:cNvSpPr/>
            <p:nvPr/>
          </p:nvSpPr>
          <p:spPr>
            <a:xfrm rot="10800000" flipH="1">
              <a:off x="-125473" y="123489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6"/>
            <p:cNvSpPr/>
            <p:nvPr/>
          </p:nvSpPr>
          <p:spPr>
            <a:xfrm rot="10800000" flipH="1">
              <a:off x="-125483" y="-28429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6"/>
            <p:cNvSpPr/>
            <p:nvPr/>
          </p:nvSpPr>
          <p:spPr>
            <a:xfrm rot="10800000" flipH="1">
              <a:off x="8424002" y="123489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6"/>
            <p:cNvSpPr/>
            <p:nvPr/>
          </p:nvSpPr>
          <p:spPr>
            <a:xfrm rot="10800000" flipH="1">
              <a:off x="8423992" y="-28429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554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ubTitle" idx="1"/>
          </p:nvPr>
        </p:nvSpPr>
        <p:spPr>
          <a:xfrm>
            <a:off x="720000" y="1652075"/>
            <a:ext cx="4294800" cy="213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4292275" y="1663850"/>
            <a:ext cx="4138500" cy="18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3862975" y="1655500"/>
            <a:ext cx="456780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ubTitle" idx="1"/>
          </p:nvPr>
        </p:nvSpPr>
        <p:spPr>
          <a:xfrm>
            <a:off x="3862975" y="2816925"/>
            <a:ext cx="45678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>
            <a:spLocks noGrp="1"/>
          </p:cNvSpPr>
          <p:nvPr>
            <p:ph type="pic" idx="2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720000" y="3942625"/>
            <a:ext cx="7704000" cy="6444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title" hasCustomPrompt="1"/>
          </p:nvPr>
        </p:nvSpPr>
        <p:spPr>
          <a:xfrm>
            <a:off x="713225" y="1774100"/>
            <a:ext cx="4676100" cy="109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6" name="Google Shape;66;p11"/>
          <p:cNvSpPr txBox="1">
            <a:spLocks noGrp="1"/>
          </p:cNvSpPr>
          <p:nvPr>
            <p:ph type="subTitle" idx="1"/>
          </p:nvPr>
        </p:nvSpPr>
        <p:spPr>
          <a:xfrm>
            <a:off x="713225" y="2872275"/>
            <a:ext cx="46761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13"/>
          <p:cNvGrpSpPr/>
          <p:nvPr/>
        </p:nvGrpSpPr>
        <p:grpSpPr>
          <a:xfrm>
            <a:off x="-417711" y="-428628"/>
            <a:ext cx="9979385" cy="6000759"/>
            <a:chOff x="-417711" y="-428628"/>
            <a:chExt cx="9979385" cy="6000759"/>
          </a:xfrm>
        </p:grpSpPr>
        <p:sp>
          <p:nvSpPr>
            <p:cNvPr id="70" name="Google Shape;70;p13"/>
            <p:cNvSpPr/>
            <p:nvPr/>
          </p:nvSpPr>
          <p:spPr>
            <a:xfrm>
              <a:off x="421002" y="-42862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7884277" y="-42862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8430764" y="554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8430764" y="74622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-125486" y="554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-125486" y="74622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-417711" y="460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8722964" y="460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" name="Google Shape;78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1"/>
          </p:nvPr>
        </p:nvSpPr>
        <p:spPr>
          <a:xfrm>
            <a:off x="720000" y="21784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2"/>
          </p:nvPr>
        </p:nvSpPr>
        <p:spPr>
          <a:xfrm>
            <a:off x="3419271" y="21784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3"/>
          </p:nvPr>
        </p:nvSpPr>
        <p:spPr>
          <a:xfrm>
            <a:off x="720000" y="39116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4"/>
          </p:nvPr>
        </p:nvSpPr>
        <p:spPr>
          <a:xfrm>
            <a:off x="3419271" y="39116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5"/>
          </p:nvPr>
        </p:nvSpPr>
        <p:spPr>
          <a:xfrm>
            <a:off x="6118549" y="21784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6"/>
          </p:nvPr>
        </p:nvSpPr>
        <p:spPr>
          <a:xfrm>
            <a:off x="6118549" y="39116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7" hasCustomPrompt="1"/>
          </p:nvPr>
        </p:nvSpPr>
        <p:spPr>
          <a:xfrm>
            <a:off x="1505400" y="1206926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8" hasCustomPrompt="1"/>
          </p:nvPr>
        </p:nvSpPr>
        <p:spPr>
          <a:xfrm>
            <a:off x="1505400" y="2939527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9" hasCustomPrompt="1"/>
          </p:nvPr>
        </p:nvSpPr>
        <p:spPr>
          <a:xfrm>
            <a:off x="4204671" y="1206926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13" hasCustomPrompt="1"/>
          </p:nvPr>
        </p:nvSpPr>
        <p:spPr>
          <a:xfrm>
            <a:off x="4204671" y="2939527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 idx="14" hasCustomPrompt="1"/>
          </p:nvPr>
        </p:nvSpPr>
        <p:spPr>
          <a:xfrm>
            <a:off x="6903950" y="1206926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15" hasCustomPrompt="1"/>
          </p:nvPr>
        </p:nvSpPr>
        <p:spPr>
          <a:xfrm>
            <a:off x="6903950" y="2939527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16"/>
          </p:nvPr>
        </p:nvSpPr>
        <p:spPr>
          <a:xfrm>
            <a:off x="720000" y="18011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17"/>
          </p:nvPr>
        </p:nvSpPr>
        <p:spPr>
          <a:xfrm>
            <a:off x="3419271" y="18011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subTitle" idx="18"/>
          </p:nvPr>
        </p:nvSpPr>
        <p:spPr>
          <a:xfrm>
            <a:off x="6118549" y="18011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19"/>
          </p:nvPr>
        </p:nvSpPr>
        <p:spPr>
          <a:xfrm>
            <a:off x="720000" y="3533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20"/>
          </p:nvPr>
        </p:nvSpPr>
        <p:spPr>
          <a:xfrm>
            <a:off x="3419271" y="3533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21"/>
          </p:nvPr>
        </p:nvSpPr>
        <p:spPr>
          <a:xfrm>
            <a:off x="6118549" y="3533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14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99" name="Google Shape;99;p14"/>
            <p:cNvSpPr/>
            <p:nvPr/>
          </p:nvSpPr>
          <p:spPr>
            <a:xfrm>
              <a:off x="-247298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4"/>
            <p:cNvSpPr/>
            <p:nvPr/>
          </p:nvSpPr>
          <p:spPr>
            <a:xfrm>
              <a:off x="29354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4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4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4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4"/>
            <p:cNvSpPr/>
            <p:nvPr/>
          </p:nvSpPr>
          <p:spPr>
            <a:xfrm rot="10800000" flipH="1">
              <a:off x="29354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4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4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" name="Google Shape;107;p14"/>
          <p:cNvSpPr txBox="1">
            <a:spLocks noGrp="1"/>
          </p:cNvSpPr>
          <p:nvPr>
            <p:ph type="title"/>
          </p:nvPr>
        </p:nvSpPr>
        <p:spPr>
          <a:xfrm>
            <a:off x="1226425" y="3229500"/>
            <a:ext cx="6691200" cy="5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subTitle" idx="1"/>
          </p:nvPr>
        </p:nvSpPr>
        <p:spPr>
          <a:xfrm>
            <a:off x="1226413" y="1366200"/>
            <a:ext cx="6691200" cy="186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15"/>
          <p:cNvGrpSpPr/>
          <p:nvPr/>
        </p:nvGrpSpPr>
        <p:grpSpPr>
          <a:xfrm>
            <a:off x="-535133" y="-37823"/>
            <a:ext cx="10207495" cy="5621696"/>
            <a:chOff x="-535133" y="-37823"/>
            <a:chExt cx="10207495" cy="5621696"/>
          </a:xfrm>
        </p:grpSpPr>
        <p:sp>
          <p:nvSpPr>
            <p:cNvPr id="111" name="Google Shape;111;p15"/>
            <p:cNvSpPr/>
            <p:nvPr/>
          </p:nvSpPr>
          <p:spPr>
            <a:xfrm>
              <a:off x="-125473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-535133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5"/>
            <p:cNvSpPr/>
            <p:nvPr/>
          </p:nvSpPr>
          <p:spPr>
            <a:xfrm rot="10800000">
              <a:off x="8833642" y="-378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5"/>
            <p:cNvSpPr/>
            <p:nvPr/>
          </p:nvSpPr>
          <p:spPr>
            <a:xfrm rot="10800000">
              <a:off x="8430777" y="4190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5"/>
            <p:cNvSpPr/>
            <p:nvPr/>
          </p:nvSpPr>
          <p:spPr>
            <a:xfrm flipH="1">
              <a:off x="84239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5"/>
            <p:cNvSpPr/>
            <p:nvPr/>
          </p:nvSpPr>
          <p:spPr>
            <a:xfrm flipH="1">
              <a:off x="88336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5"/>
            <p:cNvSpPr/>
            <p:nvPr/>
          </p:nvSpPr>
          <p:spPr>
            <a:xfrm rot="10800000" flipH="1">
              <a:off x="-528348" y="-378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5"/>
            <p:cNvSpPr/>
            <p:nvPr/>
          </p:nvSpPr>
          <p:spPr>
            <a:xfrm rot="10800000" flipH="1">
              <a:off x="-125483" y="4190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" name="Google Shape;119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16"/>
          <p:cNvGrpSpPr/>
          <p:nvPr/>
        </p:nvGrpSpPr>
        <p:grpSpPr>
          <a:xfrm>
            <a:off x="-247298" y="-446215"/>
            <a:ext cx="9638610" cy="6030088"/>
            <a:chOff x="-247298" y="-446215"/>
            <a:chExt cx="9638610" cy="6030088"/>
          </a:xfrm>
        </p:grpSpPr>
        <p:sp>
          <p:nvSpPr>
            <p:cNvPr id="122" name="Google Shape;122;p16"/>
            <p:cNvSpPr/>
            <p:nvPr/>
          </p:nvSpPr>
          <p:spPr>
            <a:xfrm>
              <a:off x="-125573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6"/>
            <p:cNvSpPr/>
            <p:nvPr/>
          </p:nvSpPr>
          <p:spPr>
            <a:xfrm>
              <a:off x="-125583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6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6"/>
            <p:cNvSpPr/>
            <p:nvPr/>
          </p:nvSpPr>
          <p:spPr>
            <a:xfrm rot="10800000" flipH="1">
              <a:off x="346967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6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6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6"/>
            <p:cNvSpPr/>
            <p:nvPr/>
          </p:nvSpPr>
          <p:spPr>
            <a:xfrm>
              <a:off x="8430777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6"/>
            <p:cNvSpPr/>
            <p:nvPr/>
          </p:nvSpPr>
          <p:spPr>
            <a:xfrm>
              <a:off x="8430767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0" name="Google Shape;130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3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17"/>
          <p:cNvGrpSpPr/>
          <p:nvPr/>
        </p:nvGrpSpPr>
        <p:grpSpPr>
          <a:xfrm>
            <a:off x="-548808" y="-584898"/>
            <a:ext cx="10241610" cy="6168779"/>
            <a:chOff x="-548808" y="-584898"/>
            <a:chExt cx="10241610" cy="6168779"/>
          </a:xfrm>
        </p:grpSpPr>
        <p:sp>
          <p:nvSpPr>
            <p:cNvPr id="133" name="Google Shape;133;p17"/>
            <p:cNvSpPr/>
            <p:nvPr/>
          </p:nvSpPr>
          <p:spPr>
            <a:xfrm>
              <a:off x="293877" y="461576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7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7"/>
            <p:cNvSpPr/>
            <p:nvPr/>
          </p:nvSpPr>
          <p:spPr>
            <a:xfrm rot="10800000" flipH="1">
              <a:off x="-129123" y="44966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7"/>
            <p:cNvSpPr/>
            <p:nvPr/>
          </p:nvSpPr>
          <p:spPr>
            <a:xfrm rot="10800000" flipH="1">
              <a:off x="-548808" y="449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7"/>
            <p:cNvSpPr/>
            <p:nvPr/>
          </p:nvSpPr>
          <p:spPr>
            <a:xfrm>
              <a:off x="185192" y="-58489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7"/>
            <p:cNvSpPr/>
            <p:nvPr/>
          </p:nvSpPr>
          <p:spPr>
            <a:xfrm rot="10800000">
              <a:off x="8434407" y="44966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7"/>
            <p:cNvSpPr/>
            <p:nvPr/>
          </p:nvSpPr>
          <p:spPr>
            <a:xfrm rot="10800000">
              <a:off x="8854092" y="449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7"/>
            <p:cNvSpPr/>
            <p:nvPr/>
          </p:nvSpPr>
          <p:spPr>
            <a:xfrm flipH="1">
              <a:off x="8120092" y="-58489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1" name="Google Shape;141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4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44" name="Google Shape;144;p18"/>
          <p:cNvGrpSpPr/>
          <p:nvPr/>
        </p:nvGrpSpPr>
        <p:grpSpPr>
          <a:xfrm>
            <a:off x="-476796" y="2900252"/>
            <a:ext cx="10097585" cy="2865204"/>
            <a:chOff x="-476796" y="2900252"/>
            <a:chExt cx="10097585" cy="2865204"/>
          </a:xfrm>
        </p:grpSpPr>
        <p:grpSp>
          <p:nvGrpSpPr>
            <p:cNvPr id="145" name="Google Shape;145;p18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146" name="Google Shape;146;p18"/>
              <p:cNvSpPr/>
              <p:nvPr/>
            </p:nvSpPr>
            <p:spPr>
              <a:xfrm rot="10800000" flipH="1">
                <a:off x="-266661" y="2900252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18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18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18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18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18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14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18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8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" name="Google Shape;153;p18"/>
            <p:cNvSpPr/>
            <p:nvPr/>
          </p:nvSpPr>
          <p:spPr>
            <a:xfrm rot="10800000" flipH="1">
              <a:off x="293867" y="47973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9"/>
          <p:cNvGrpSpPr/>
          <p:nvPr/>
        </p:nvGrpSpPr>
        <p:grpSpPr>
          <a:xfrm>
            <a:off x="-145083" y="-503840"/>
            <a:ext cx="9434170" cy="6151188"/>
            <a:chOff x="-145083" y="-503840"/>
            <a:chExt cx="9434170" cy="6151188"/>
          </a:xfrm>
        </p:grpSpPr>
        <p:sp>
          <p:nvSpPr>
            <p:cNvPr id="156" name="Google Shape;156;p19"/>
            <p:cNvSpPr/>
            <p:nvPr/>
          </p:nvSpPr>
          <p:spPr>
            <a:xfrm rot="10800000" flipH="1">
              <a:off x="534577" y="46792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9"/>
            <p:cNvSpPr/>
            <p:nvPr/>
          </p:nvSpPr>
          <p:spPr>
            <a:xfrm>
              <a:off x="-145073" y="392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9"/>
            <p:cNvSpPr/>
            <p:nvPr/>
          </p:nvSpPr>
          <p:spPr>
            <a:xfrm>
              <a:off x="-145083" y="44198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9"/>
            <p:cNvSpPr/>
            <p:nvPr/>
          </p:nvSpPr>
          <p:spPr>
            <a:xfrm flipH="1">
              <a:off x="8430777" y="46443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9"/>
            <p:cNvSpPr/>
            <p:nvPr/>
          </p:nvSpPr>
          <p:spPr>
            <a:xfrm rot="10800000" flipH="1">
              <a:off x="-125483" y="-4286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9"/>
            <p:cNvSpPr/>
            <p:nvPr/>
          </p:nvSpPr>
          <p:spPr>
            <a:xfrm flipH="1">
              <a:off x="7770717" y="-50384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9"/>
            <p:cNvSpPr/>
            <p:nvPr/>
          </p:nvSpPr>
          <p:spPr>
            <a:xfrm rot="10800000">
              <a:off x="8450367" y="25137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9"/>
            <p:cNvSpPr/>
            <p:nvPr/>
          </p:nvSpPr>
          <p:spPr>
            <a:xfrm rot="10800000">
              <a:off x="8450377" y="-24444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4" name="Google Shape;164;p19"/>
          <p:cNvSpPr txBox="1">
            <a:spLocks noGrp="1"/>
          </p:cNvSpPr>
          <p:nvPr>
            <p:ph type="title"/>
          </p:nvPr>
        </p:nvSpPr>
        <p:spPr>
          <a:xfrm>
            <a:off x="720000" y="1270313"/>
            <a:ext cx="3777300" cy="170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19"/>
          <p:cNvSpPr txBox="1">
            <a:spLocks noGrp="1"/>
          </p:cNvSpPr>
          <p:nvPr>
            <p:ph type="subTitle" idx="1"/>
          </p:nvPr>
        </p:nvSpPr>
        <p:spPr>
          <a:xfrm>
            <a:off x="720000" y="2979813"/>
            <a:ext cx="3777300" cy="8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19"/>
          <p:cNvSpPr>
            <a:spLocks noGrp="1"/>
          </p:cNvSpPr>
          <p:nvPr>
            <p:ph type="pic" idx="2"/>
          </p:nvPr>
        </p:nvSpPr>
        <p:spPr>
          <a:xfrm>
            <a:off x="5121925" y="1060325"/>
            <a:ext cx="3109200" cy="31092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20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69" name="Google Shape;169;p20"/>
            <p:cNvSpPr/>
            <p:nvPr/>
          </p:nvSpPr>
          <p:spPr>
            <a:xfrm>
              <a:off x="-125473" y="44532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0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0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0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0"/>
            <p:cNvSpPr/>
            <p:nvPr/>
          </p:nvSpPr>
          <p:spPr>
            <a:xfrm rot="10800000" flipH="1">
              <a:off x="29354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0"/>
            <p:cNvSpPr/>
            <p:nvPr/>
          </p:nvSpPr>
          <p:spPr>
            <a:xfrm rot="10800000">
              <a:off x="8430767" y="-4042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0"/>
            <p:cNvSpPr/>
            <p:nvPr/>
          </p:nvSpPr>
          <p:spPr>
            <a:xfrm>
              <a:off x="-125483" y="39965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0"/>
            <p:cNvSpPr/>
            <p:nvPr/>
          </p:nvSpPr>
          <p:spPr>
            <a:xfrm>
              <a:off x="8430767" y="46839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7" name="Google Shape;177;p20"/>
          <p:cNvSpPr txBox="1">
            <a:spLocks noGrp="1"/>
          </p:cNvSpPr>
          <p:nvPr>
            <p:ph type="title"/>
          </p:nvPr>
        </p:nvSpPr>
        <p:spPr>
          <a:xfrm>
            <a:off x="720000" y="1637550"/>
            <a:ext cx="3597900" cy="10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20"/>
          <p:cNvSpPr txBox="1">
            <a:spLocks noGrp="1"/>
          </p:cNvSpPr>
          <p:nvPr>
            <p:ph type="subTitle" idx="1"/>
          </p:nvPr>
        </p:nvSpPr>
        <p:spPr>
          <a:xfrm>
            <a:off x="720000" y="2700750"/>
            <a:ext cx="35979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80;p21"/>
          <p:cNvGrpSpPr/>
          <p:nvPr/>
        </p:nvGrpSpPr>
        <p:grpSpPr>
          <a:xfrm flipH="1"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81" name="Google Shape;181;p21"/>
            <p:cNvSpPr/>
            <p:nvPr/>
          </p:nvSpPr>
          <p:spPr>
            <a:xfrm>
              <a:off x="-125473" y="44532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1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1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1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1"/>
            <p:cNvSpPr/>
            <p:nvPr/>
          </p:nvSpPr>
          <p:spPr>
            <a:xfrm rot="10800000" flipH="1">
              <a:off x="29354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1"/>
            <p:cNvSpPr/>
            <p:nvPr/>
          </p:nvSpPr>
          <p:spPr>
            <a:xfrm rot="10800000">
              <a:off x="8430767" y="-4042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1"/>
            <p:cNvSpPr/>
            <p:nvPr/>
          </p:nvSpPr>
          <p:spPr>
            <a:xfrm>
              <a:off x="-125483" y="39965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1"/>
            <p:cNvSpPr/>
            <p:nvPr/>
          </p:nvSpPr>
          <p:spPr>
            <a:xfrm>
              <a:off x="8430767" y="46839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9" name="Google Shape;189;p21"/>
          <p:cNvSpPr txBox="1">
            <a:spLocks noGrp="1"/>
          </p:cNvSpPr>
          <p:nvPr>
            <p:ph type="title"/>
          </p:nvPr>
        </p:nvSpPr>
        <p:spPr>
          <a:xfrm>
            <a:off x="4837200" y="1796350"/>
            <a:ext cx="35934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21"/>
          <p:cNvSpPr txBox="1">
            <a:spLocks noGrp="1"/>
          </p:cNvSpPr>
          <p:nvPr>
            <p:ph type="subTitle" idx="1"/>
          </p:nvPr>
        </p:nvSpPr>
        <p:spPr>
          <a:xfrm>
            <a:off x="4837375" y="2441150"/>
            <a:ext cx="3593400" cy="90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_AND_BODY_1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22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93" name="Google Shape;193;p22"/>
            <p:cNvSpPr/>
            <p:nvPr/>
          </p:nvSpPr>
          <p:spPr>
            <a:xfrm>
              <a:off x="-247298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2"/>
            <p:cNvSpPr/>
            <p:nvPr/>
          </p:nvSpPr>
          <p:spPr>
            <a:xfrm>
              <a:off x="29354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2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2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2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2"/>
            <p:cNvSpPr/>
            <p:nvPr/>
          </p:nvSpPr>
          <p:spPr>
            <a:xfrm rot="10800000" flipH="1">
              <a:off x="29354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2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2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1" name="Google Shape;201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22"/>
          <p:cNvSpPr txBox="1">
            <a:spLocks noGrp="1"/>
          </p:cNvSpPr>
          <p:nvPr>
            <p:ph type="body" idx="1"/>
          </p:nvPr>
        </p:nvSpPr>
        <p:spPr>
          <a:xfrm>
            <a:off x="720000" y="1215742"/>
            <a:ext cx="7704000" cy="102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_AND_BODY_1_1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23"/>
          <p:cNvGrpSpPr/>
          <p:nvPr/>
        </p:nvGrpSpPr>
        <p:grpSpPr>
          <a:xfrm>
            <a:off x="-535133" y="-37823"/>
            <a:ext cx="10207495" cy="5621696"/>
            <a:chOff x="-535133" y="-37823"/>
            <a:chExt cx="10207495" cy="5621696"/>
          </a:xfrm>
        </p:grpSpPr>
        <p:sp>
          <p:nvSpPr>
            <p:cNvPr id="205" name="Google Shape;205;p23"/>
            <p:cNvSpPr/>
            <p:nvPr/>
          </p:nvSpPr>
          <p:spPr>
            <a:xfrm>
              <a:off x="-125473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3"/>
            <p:cNvSpPr/>
            <p:nvPr/>
          </p:nvSpPr>
          <p:spPr>
            <a:xfrm>
              <a:off x="-535133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3"/>
            <p:cNvSpPr/>
            <p:nvPr/>
          </p:nvSpPr>
          <p:spPr>
            <a:xfrm rot="10800000">
              <a:off x="8833642" y="-378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3"/>
            <p:cNvSpPr/>
            <p:nvPr/>
          </p:nvSpPr>
          <p:spPr>
            <a:xfrm rot="10800000">
              <a:off x="8430777" y="4190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3"/>
            <p:cNvSpPr/>
            <p:nvPr/>
          </p:nvSpPr>
          <p:spPr>
            <a:xfrm flipH="1">
              <a:off x="84239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3"/>
            <p:cNvSpPr/>
            <p:nvPr/>
          </p:nvSpPr>
          <p:spPr>
            <a:xfrm flipH="1">
              <a:off x="88336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3"/>
            <p:cNvSpPr/>
            <p:nvPr/>
          </p:nvSpPr>
          <p:spPr>
            <a:xfrm rot="10800000" flipH="1">
              <a:off x="-528348" y="-378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3"/>
            <p:cNvSpPr/>
            <p:nvPr/>
          </p:nvSpPr>
          <p:spPr>
            <a:xfrm rot="10800000" flipH="1">
              <a:off x="-125483" y="4190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3" name="Google Shape;213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23"/>
          <p:cNvSpPr txBox="1">
            <a:spLocks noGrp="1"/>
          </p:cNvSpPr>
          <p:nvPr>
            <p:ph type="body" idx="1"/>
          </p:nvPr>
        </p:nvSpPr>
        <p:spPr>
          <a:xfrm>
            <a:off x="720000" y="1215749"/>
            <a:ext cx="7704000" cy="31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24"/>
          <p:cNvGrpSpPr/>
          <p:nvPr/>
        </p:nvGrpSpPr>
        <p:grpSpPr>
          <a:xfrm>
            <a:off x="-310473" y="3500727"/>
            <a:ext cx="9764950" cy="2327954"/>
            <a:chOff x="-310473" y="3500727"/>
            <a:chExt cx="9764950" cy="2327954"/>
          </a:xfrm>
        </p:grpSpPr>
        <p:sp>
          <p:nvSpPr>
            <p:cNvPr id="217" name="Google Shape;217;p24"/>
            <p:cNvSpPr/>
            <p:nvPr/>
          </p:nvSpPr>
          <p:spPr>
            <a:xfrm rot="10800000" flipH="1">
              <a:off x="927364" y="46300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4"/>
            <p:cNvSpPr/>
            <p:nvPr/>
          </p:nvSpPr>
          <p:spPr>
            <a:xfrm rot="10800000" flipH="1">
              <a:off x="273054" y="486056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4"/>
            <p:cNvSpPr/>
            <p:nvPr/>
          </p:nvSpPr>
          <p:spPr>
            <a:xfrm>
              <a:off x="-310473" y="39963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4"/>
            <p:cNvSpPr/>
            <p:nvPr/>
          </p:nvSpPr>
          <p:spPr>
            <a:xfrm>
              <a:off x="-125483" y="35007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4"/>
            <p:cNvSpPr/>
            <p:nvPr/>
          </p:nvSpPr>
          <p:spPr>
            <a:xfrm flipH="1">
              <a:off x="8615767" y="39963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4"/>
            <p:cNvSpPr/>
            <p:nvPr/>
          </p:nvSpPr>
          <p:spPr>
            <a:xfrm flipH="1">
              <a:off x="8424002" y="35007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4"/>
            <p:cNvSpPr/>
            <p:nvPr/>
          </p:nvSpPr>
          <p:spPr>
            <a:xfrm rot="10800000">
              <a:off x="7377929" y="46300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4"/>
            <p:cNvSpPr/>
            <p:nvPr/>
          </p:nvSpPr>
          <p:spPr>
            <a:xfrm rot="10800000">
              <a:off x="8032239" y="486056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5" name="Google Shape;225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4"/>
          <p:cNvSpPr txBox="1">
            <a:spLocks noGrp="1"/>
          </p:cNvSpPr>
          <p:nvPr>
            <p:ph type="subTitle" idx="1"/>
          </p:nvPr>
        </p:nvSpPr>
        <p:spPr>
          <a:xfrm>
            <a:off x="4821081" y="2782975"/>
            <a:ext cx="2844000" cy="11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24"/>
          <p:cNvSpPr txBox="1">
            <a:spLocks noGrp="1"/>
          </p:cNvSpPr>
          <p:nvPr>
            <p:ph type="subTitle" idx="2"/>
          </p:nvPr>
        </p:nvSpPr>
        <p:spPr>
          <a:xfrm>
            <a:off x="1478950" y="2782975"/>
            <a:ext cx="2844000" cy="11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24"/>
          <p:cNvSpPr txBox="1">
            <a:spLocks noGrp="1"/>
          </p:cNvSpPr>
          <p:nvPr>
            <p:ph type="subTitle" idx="3"/>
          </p:nvPr>
        </p:nvSpPr>
        <p:spPr>
          <a:xfrm>
            <a:off x="1478950" y="2370625"/>
            <a:ext cx="2844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29" name="Google Shape;229;p24"/>
          <p:cNvSpPr txBox="1">
            <a:spLocks noGrp="1"/>
          </p:cNvSpPr>
          <p:nvPr>
            <p:ph type="subTitle" idx="4"/>
          </p:nvPr>
        </p:nvSpPr>
        <p:spPr>
          <a:xfrm>
            <a:off x="4821091" y="2370625"/>
            <a:ext cx="2844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25"/>
          <p:cNvGrpSpPr/>
          <p:nvPr/>
        </p:nvGrpSpPr>
        <p:grpSpPr>
          <a:xfrm>
            <a:off x="-655296" y="3436585"/>
            <a:ext cx="10454595" cy="2311221"/>
            <a:chOff x="-655296" y="3436585"/>
            <a:chExt cx="10454595" cy="2311221"/>
          </a:xfrm>
        </p:grpSpPr>
        <p:sp>
          <p:nvSpPr>
            <p:cNvPr id="232" name="Google Shape;232;p25"/>
            <p:cNvSpPr/>
            <p:nvPr/>
          </p:nvSpPr>
          <p:spPr>
            <a:xfrm rot="10800000" flipH="1">
              <a:off x="-136836" y="34365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5"/>
            <p:cNvSpPr/>
            <p:nvPr/>
          </p:nvSpPr>
          <p:spPr>
            <a:xfrm>
              <a:off x="183414" y="454091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5"/>
            <p:cNvSpPr/>
            <p:nvPr/>
          </p:nvSpPr>
          <p:spPr>
            <a:xfrm rot="10800000" flipH="1">
              <a:off x="-655296" y="390306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5"/>
            <p:cNvSpPr/>
            <p:nvPr/>
          </p:nvSpPr>
          <p:spPr>
            <a:xfrm rot="10800000">
              <a:off x="8442129" y="34365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5"/>
            <p:cNvSpPr/>
            <p:nvPr/>
          </p:nvSpPr>
          <p:spPr>
            <a:xfrm flipH="1">
              <a:off x="8121879" y="454091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5"/>
            <p:cNvSpPr/>
            <p:nvPr/>
          </p:nvSpPr>
          <p:spPr>
            <a:xfrm rot="10800000">
              <a:off x="8960589" y="390306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5"/>
            <p:cNvSpPr/>
            <p:nvPr/>
          </p:nvSpPr>
          <p:spPr>
            <a:xfrm rot="10800000">
              <a:off x="7718714" y="47796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5"/>
            <p:cNvSpPr/>
            <p:nvPr/>
          </p:nvSpPr>
          <p:spPr>
            <a:xfrm rot="10800000">
              <a:off x="586589" y="47796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0" name="Google Shape;240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25"/>
          <p:cNvSpPr txBox="1">
            <a:spLocks noGrp="1"/>
          </p:cNvSpPr>
          <p:nvPr>
            <p:ph type="subTitle" idx="1"/>
          </p:nvPr>
        </p:nvSpPr>
        <p:spPr>
          <a:xfrm>
            <a:off x="4646250" y="1667625"/>
            <a:ext cx="3398400" cy="18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25"/>
          <p:cNvSpPr txBox="1">
            <a:spLocks noGrp="1"/>
          </p:cNvSpPr>
          <p:nvPr>
            <p:ph type="subTitle" idx="2"/>
          </p:nvPr>
        </p:nvSpPr>
        <p:spPr>
          <a:xfrm>
            <a:off x="1099338" y="1667625"/>
            <a:ext cx="3398400" cy="18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p26"/>
          <p:cNvGrpSpPr/>
          <p:nvPr/>
        </p:nvGrpSpPr>
        <p:grpSpPr>
          <a:xfrm>
            <a:off x="-512036" y="-358023"/>
            <a:ext cx="10169413" cy="5930154"/>
            <a:chOff x="-512036" y="-358023"/>
            <a:chExt cx="10169413" cy="5930154"/>
          </a:xfrm>
        </p:grpSpPr>
        <p:sp>
          <p:nvSpPr>
            <p:cNvPr id="245" name="Google Shape;245;p26"/>
            <p:cNvSpPr/>
            <p:nvPr/>
          </p:nvSpPr>
          <p:spPr>
            <a:xfrm flipH="1">
              <a:off x="8430767" y="40742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6"/>
            <p:cNvSpPr/>
            <p:nvPr/>
          </p:nvSpPr>
          <p:spPr>
            <a:xfrm rot="10800000">
              <a:off x="8818667" y="182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6"/>
            <p:cNvSpPr/>
            <p:nvPr/>
          </p:nvSpPr>
          <p:spPr>
            <a:xfrm rot="10800000">
              <a:off x="8011414" y="460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6"/>
            <p:cNvSpPr/>
            <p:nvPr/>
          </p:nvSpPr>
          <p:spPr>
            <a:xfrm flipH="1">
              <a:off x="8430777" y="-3580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6"/>
            <p:cNvSpPr/>
            <p:nvPr/>
          </p:nvSpPr>
          <p:spPr>
            <a:xfrm>
              <a:off x="-124136" y="40742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6"/>
            <p:cNvSpPr/>
            <p:nvPr/>
          </p:nvSpPr>
          <p:spPr>
            <a:xfrm rot="10800000" flipH="1">
              <a:off x="-512036" y="182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6"/>
            <p:cNvSpPr/>
            <p:nvPr/>
          </p:nvSpPr>
          <p:spPr>
            <a:xfrm rot="10800000" flipH="1">
              <a:off x="295217" y="460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6"/>
            <p:cNvSpPr/>
            <p:nvPr/>
          </p:nvSpPr>
          <p:spPr>
            <a:xfrm>
              <a:off x="-124133" y="-3580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3" name="Google Shape;253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26"/>
          <p:cNvSpPr txBox="1">
            <a:spLocks noGrp="1"/>
          </p:cNvSpPr>
          <p:nvPr>
            <p:ph type="subTitle" idx="1"/>
          </p:nvPr>
        </p:nvSpPr>
        <p:spPr>
          <a:xfrm>
            <a:off x="881225" y="2768751"/>
            <a:ext cx="2288100" cy="8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26"/>
          <p:cNvSpPr txBox="1">
            <a:spLocks noGrp="1"/>
          </p:cNvSpPr>
          <p:nvPr>
            <p:ph type="subTitle" idx="2"/>
          </p:nvPr>
        </p:nvSpPr>
        <p:spPr>
          <a:xfrm>
            <a:off x="3427950" y="2768751"/>
            <a:ext cx="2288100" cy="8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26"/>
          <p:cNvSpPr txBox="1">
            <a:spLocks noGrp="1"/>
          </p:cNvSpPr>
          <p:nvPr>
            <p:ph type="subTitle" idx="3"/>
          </p:nvPr>
        </p:nvSpPr>
        <p:spPr>
          <a:xfrm>
            <a:off x="5974700" y="2768751"/>
            <a:ext cx="2288100" cy="8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26"/>
          <p:cNvSpPr txBox="1">
            <a:spLocks noGrp="1"/>
          </p:cNvSpPr>
          <p:nvPr>
            <p:ph type="subTitle" idx="4"/>
          </p:nvPr>
        </p:nvSpPr>
        <p:spPr>
          <a:xfrm>
            <a:off x="881225" y="2250275"/>
            <a:ext cx="22881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58" name="Google Shape;258;p26"/>
          <p:cNvSpPr txBox="1">
            <a:spLocks noGrp="1"/>
          </p:cNvSpPr>
          <p:nvPr>
            <p:ph type="subTitle" idx="5"/>
          </p:nvPr>
        </p:nvSpPr>
        <p:spPr>
          <a:xfrm>
            <a:off x="3427954" y="2250275"/>
            <a:ext cx="22881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59" name="Google Shape;259;p26"/>
          <p:cNvSpPr txBox="1">
            <a:spLocks noGrp="1"/>
          </p:cNvSpPr>
          <p:nvPr>
            <p:ph type="subTitle" idx="6"/>
          </p:nvPr>
        </p:nvSpPr>
        <p:spPr>
          <a:xfrm>
            <a:off x="5974700" y="2250275"/>
            <a:ext cx="22881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p27"/>
          <p:cNvGrpSpPr/>
          <p:nvPr/>
        </p:nvGrpSpPr>
        <p:grpSpPr>
          <a:xfrm>
            <a:off x="-519458" y="2674710"/>
            <a:ext cx="10224210" cy="2744938"/>
            <a:chOff x="-519458" y="2674710"/>
            <a:chExt cx="10224210" cy="2744938"/>
          </a:xfrm>
        </p:grpSpPr>
        <p:sp>
          <p:nvSpPr>
            <p:cNvPr id="262" name="Google Shape;262;p27"/>
            <p:cNvSpPr/>
            <p:nvPr/>
          </p:nvSpPr>
          <p:spPr>
            <a:xfrm rot="10800000" flipH="1">
              <a:off x="-118698" y="308477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7"/>
            <p:cNvSpPr/>
            <p:nvPr/>
          </p:nvSpPr>
          <p:spPr>
            <a:xfrm rot="10800000" flipH="1">
              <a:off x="-519458" y="26747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7"/>
            <p:cNvSpPr/>
            <p:nvPr/>
          </p:nvSpPr>
          <p:spPr>
            <a:xfrm>
              <a:off x="-519448" y="39557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7"/>
            <p:cNvSpPr/>
            <p:nvPr/>
          </p:nvSpPr>
          <p:spPr>
            <a:xfrm>
              <a:off x="21392" y="44515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7"/>
            <p:cNvSpPr/>
            <p:nvPr/>
          </p:nvSpPr>
          <p:spPr>
            <a:xfrm rot="10800000">
              <a:off x="8465282" y="308477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7"/>
            <p:cNvSpPr/>
            <p:nvPr/>
          </p:nvSpPr>
          <p:spPr>
            <a:xfrm rot="10800000">
              <a:off x="8866042" y="26747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7"/>
            <p:cNvSpPr/>
            <p:nvPr/>
          </p:nvSpPr>
          <p:spPr>
            <a:xfrm flipH="1">
              <a:off x="8866032" y="39557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7"/>
            <p:cNvSpPr/>
            <p:nvPr/>
          </p:nvSpPr>
          <p:spPr>
            <a:xfrm flipH="1">
              <a:off x="8325192" y="44515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0" name="Google Shape;270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27"/>
          <p:cNvSpPr txBox="1">
            <a:spLocks noGrp="1"/>
          </p:cNvSpPr>
          <p:nvPr>
            <p:ph type="subTitle" idx="1"/>
          </p:nvPr>
        </p:nvSpPr>
        <p:spPr>
          <a:xfrm>
            <a:off x="1142950" y="2219063"/>
            <a:ext cx="3251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27"/>
          <p:cNvSpPr txBox="1">
            <a:spLocks noGrp="1"/>
          </p:cNvSpPr>
          <p:nvPr>
            <p:ph type="subTitle" idx="2"/>
          </p:nvPr>
        </p:nvSpPr>
        <p:spPr>
          <a:xfrm>
            <a:off x="4749341" y="2219063"/>
            <a:ext cx="3251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27"/>
          <p:cNvSpPr txBox="1">
            <a:spLocks noGrp="1"/>
          </p:cNvSpPr>
          <p:nvPr>
            <p:ph type="subTitle" idx="3"/>
          </p:nvPr>
        </p:nvSpPr>
        <p:spPr>
          <a:xfrm>
            <a:off x="1142950" y="4010313"/>
            <a:ext cx="3251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27"/>
          <p:cNvSpPr txBox="1">
            <a:spLocks noGrp="1"/>
          </p:cNvSpPr>
          <p:nvPr>
            <p:ph type="subTitle" idx="4"/>
          </p:nvPr>
        </p:nvSpPr>
        <p:spPr>
          <a:xfrm>
            <a:off x="4749341" y="4010313"/>
            <a:ext cx="3251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27"/>
          <p:cNvSpPr txBox="1">
            <a:spLocks noGrp="1"/>
          </p:cNvSpPr>
          <p:nvPr>
            <p:ph type="subTitle" idx="5"/>
          </p:nvPr>
        </p:nvSpPr>
        <p:spPr>
          <a:xfrm>
            <a:off x="1142962" y="1860588"/>
            <a:ext cx="32517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76" name="Google Shape;276;p27"/>
          <p:cNvSpPr txBox="1">
            <a:spLocks noGrp="1"/>
          </p:cNvSpPr>
          <p:nvPr>
            <p:ph type="subTitle" idx="6"/>
          </p:nvPr>
        </p:nvSpPr>
        <p:spPr>
          <a:xfrm>
            <a:off x="1142962" y="3651938"/>
            <a:ext cx="32517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77" name="Google Shape;277;p27"/>
          <p:cNvSpPr txBox="1">
            <a:spLocks noGrp="1"/>
          </p:cNvSpPr>
          <p:nvPr>
            <p:ph type="subTitle" idx="7"/>
          </p:nvPr>
        </p:nvSpPr>
        <p:spPr>
          <a:xfrm>
            <a:off x="4749338" y="1860588"/>
            <a:ext cx="32517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78" name="Google Shape;278;p27"/>
          <p:cNvSpPr txBox="1">
            <a:spLocks noGrp="1"/>
          </p:cNvSpPr>
          <p:nvPr>
            <p:ph type="subTitle" idx="8"/>
          </p:nvPr>
        </p:nvSpPr>
        <p:spPr>
          <a:xfrm>
            <a:off x="4749338" y="3651938"/>
            <a:ext cx="32517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p28"/>
          <p:cNvGrpSpPr/>
          <p:nvPr/>
        </p:nvGrpSpPr>
        <p:grpSpPr>
          <a:xfrm>
            <a:off x="-266473" y="3341397"/>
            <a:ext cx="9676960" cy="2321921"/>
            <a:chOff x="-266473" y="3341397"/>
            <a:chExt cx="9676960" cy="2321921"/>
          </a:xfrm>
        </p:grpSpPr>
        <p:sp>
          <p:nvSpPr>
            <p:cNvPr id="281" name="Google Shape;281;p28"/>
            <p:cNvSpPr/>
            <p:nvPr/>
          </p:nvSpPr>
          <p:spPr>
            <a:xfrm flipH="1">
              <a:off x="7441675" y="469519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8"/>
            <p:cNvSpPr/>
            <p:nvPr/>
          </p:nvSpPr>
          <p:spPr>
            <a:xfrm>
              <a:off x="863615" y="469519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8"/>
            <p:cNvSpPr/>
            <p:nvPr/>
          </p:nvSpPr>
          <p:spPr>
            <a:xfrm rot="10800000" flipH="1">
              <a:off x="-266473" y="40287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8"/>
            <p:cNvSpPr/>
            <p:nvPr/>
          </p:nvSpPr>
          <p:spPr>
            <a:xfrm>
              <a:off x="152867" y="45245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8"/>
            <p:cNvSpPr/>
            <p:nvPr/>
          </p:nvSpPr>
          <p:spPr>
            <a:xfrm rot="10800000" flipH="1">
              <a:off x="-151033" y="334139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8"/>
            <p:cNvSpPr/>
            <p:nvPr/>
          </p:nvSpPr>
          <p:spPr>
            <a:xfrm rot="10800000">
              <a:off x="8571777" y="40287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8"/>
            <p:cNvSpPr/>
            <p:nvPr/>
          </p:nvSpPr>
          <p:spPr>
            <a:xfrm flipH="1">
              <a:off x="8152437" y="45245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8"/>
            <p:cNvSpPr/>
            <p:nvPr/>
          </p:nvSpPr>
          <p:spPr>
            <a:xfrm rot="10800000">
              <a:off x="8456337" y="334139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9" name="Google Shape;289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28"/>
          <p:cNvSpPr txBox="1">
            <a:spLocks noGrp="1"/>
          </p:cNvSpPr>
          <p:nvPr>
            <p:ph type="subTitle" idx="1"/>
          </p:nvPr>
        </p:nvSpPr>
        <p:spPr>
          <a:xfrm>
            <a:off x="968524" y="2235613"/>
            <a:ext cx="2266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28"/>
          <p:cNvSpPr txBox="1">
            <a:spLocks noGrp="1"/>
          </p:cNvSpPr>
          <p:nvPr>
            <p:ph type="subTitle" idx="2"/>
          </p:nvPr>
        </p:nvSpPr>
        <p:spPr>
          <a:xfrm>
            <a:off x="3439063" y="2235613"/>
            <a:ext cx="22659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28"/>
          <p:cNvSpPr txBox="1">
            <a:spLocks noGrp="1"/>
          </p:cNvSpPr>
          <p:nvPr>
            <p:ph type="subTitle" idx="3"/>
          </p:nvPr>
        </p:nvSpPr>
        <p:spPr>
          <a:xfrm>
            <a:off x="968524" y="3967325"/>
            <a:ext cx="2266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28"/>
          <p:cNvSpPr txBox="1">
            <a:spLocks noGrp="1"/>
          </p:cNvSpPr>
          <p:nvPr>
            <p:ph type="subTitle" idx="4"/>
          </p:nvPr>
        </p:nvSpPr>
        <p:spPr>
          <a:xfrm>
            <a:off x="3439063" y="3967325"/>
            <a:ext cx="22659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28"/>
          <p:cNvSpPr txBox="1">
            <a:spLocks noGrp="1"/>
          </p:cNvSpPr>
          <p:nvPr>
            <p:ph type="subTitle" idx="5"/>
          </p:nvPr>
        </p:nvSpPr>
        <p:spPr>
          <a:xfrm>
            <a:off x="5909375" y="2235613"/>
            <a:ext cx="22659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28"/>
          <p:cNvSpPr txBox="1">
            <a:spLocks noGrp="1"/>
          </p:cNvSpPr>
          <p:nvPr>
            <p:ph type="subTitle" idx="6"/>
          </p:nvPr>
        </p:nvSpPr>
        <p:spPr>
          <a:xfrm>
            <a:off x="5909375" y="3967325"/>
            <a:ext cx="22659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28"/>
          <p:cNvSpPr txBox="1">
            <a:spLocks noGrp="1"/>
          </p:cNvSpPr>
          <p:nvPr>
            <p:ph type="subTitle" idx="7"/>
          </p:nvPr>
        </p:nvSpPr>
        <p:spPr>
          <a:xfrm>
            <a:off x="968524" y="1890138"/>
            <a:ext cx="2266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97" name="Google Shape;297;p28"/>
          <p:cNvSpPr txBox="1">
            <a:spLocks noGrp="1"/>
          </p:cNvSpPr>
          <p:nvPr>
            <p:ph type="subTitle" idx="8"/>
          </p:nvPr>
        </p:nvSpPr>
        <p:spPr>
          <a:xfrm>
            <a:off x="3439063" y="1890138"/>
            <a:ext cx="22659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98" name="Google Shape;298;p28"/>
          <p:cNvSpPr txBox="1">
            <a:spLocks noGrp="1"/>
          </p:cNvSpPr>
          <p:nvPr>
            <p:ph type="subTitle" idx="9"/>
          </p:nvPr>
        </p:nvSpPr>
        <p:spPr>
          <a:xfrm>
            <a:off x="5909375" y="1890138"/>
            <a:ext cx="22659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99" name="Google Shape;299;p28"/>
          <p:cNvSpPr txBox="1">
            <a:spLocks noGrp="1"/>
          </p:cNvSpPr>
          <p:nvPr>
            <p:ph type="subTitle" idx="13"/>
          </p:nvPr>
        </p:nvSpPr>
        <p:spPr>
          <a:xfrm>
            <a:off x="968524" y="3621825"/>
            <a:ext cx="2266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00" name="Google Shape;300;p28"/>
          <p:cNvSpPr txBox="1">
            <a:spLocks noGrp="1"/>
          </p:cNvSpPr>
          <p:nvPr>
            <p:ph type="subTitle" idx="14"/>
          </p:nvPr>
        </p:nvSpPr>
        <p:spPr>
          <a:xfrm>
            <a:off x="3439063" y="3621825"/>
            <a:ext cx="22659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01" name="Google Shape;301;p28"/>
          <p:cNvSpPr txBox="1">
            <a:spLocks noGrp="1"/>
          </p:cNvSpPr>
          <p:nvPr>
            <p:ph type="subTitle" idx="15"/>
          </p:nvPr>
        </p:nvSpPr>
        <p:spPr>
          <a:xfrm>
            <a:off x="5909375" y="3621825"/>
            <a:ext cx="22659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9"/>
          <p:cNvSpPr txBox="1">
            <a:spLocks noGrp="1"/>
          </p:cNvSpPr>
          <p:nvPr>
            <p:ph type="title" hasCustomPrompt="1"/>
          </p:nvPr>
        </p:nvSpPr>
        <p:spPr>
          <a:xfrm>
            <a:off x="4351975" y="638350"/>
            <a:ext cx="4078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4" name="Google Shape;304;p29"/>
          <p:cNvSpPr txBox="1">
            <a:spLocks noGrp="1"/>
          </p:cNvSpPr>
          <p:nvPr>
            <p:ph type="subTitle" idx="1"/>
          </p:nvPr>
        </p:nvSpPr>
        <p:spPr>
          <a:xfrm>
            <a:off x="4351975" y="1327275"/>
            <a:ext cx="4078800" cy="41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5" name="Google Shape;305;p29"/>
          <p:cNvSpPr txBox="1">
            <a:spLocks noGrp="1"/>
          </p:cNvSpPr>
          <p:nvPr>
            <p:ph type="title" idx="2" hasCustomPrompt="1"/>
          </p:nvPr>
        </p:nvSpPr>
        <p:spPr>
          <a:xfrm>
            <a:off x="4351975" y="1990612"/>
            <a:ext cx="4078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6" name="Google Shape;306;p29"/>
          <p:cNvSpPr txBox="1">
            <a:spLocks noGrp="1"/>
          </p:cNvSpPr>
          <p:nvPr>
            <p:ph type="subTitle" idx="3"/>
          </p:nvPr>
        </p:nvSpPr>
        <p:spPr>
          <a:xfrm>
            <a:off x="4351975" y="2679529"/>
            <a:ext cx="4078800" cy="41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7" name="Google Shape;307;p29"/>
          <p:cNvSpPr txBox="1">
            <a:spLocks noGrp="1"/>
          </p:cNvSpPr>
          <p:nvPr>
            <p:ph type="title" idx="4" hasCustomPrompt="1"/>
          </p:nvPr>
        </p:nvSpPr>
        <p:spPr>
          <a:xfrm>
            <a:off x="4351975" y="3342874"/>
            <a:ext cx="4078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8" name="Google Shape;308;p29"/>
          <p:cNvSpPr txBox="1">
            <a:spLocks noGrp="1"/>
          </p:cNvSpPr>
          <p:nvPr>
            <p:ph type="subTitle" idx="5"/>
          </p:nvPr>
        </p:nvSpPr>
        <p:spPr>
          <a:xfrm>
            <a:off x="4351975" y="4031799"/>
            <a:ext cx="4078800" cy="41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0"/>
          <p:cNvSpPr txBox="1">
            <a:spLocks noGrp="1"/>
          </p:cNvSpPr>
          <p:nvPr>
            <p:ph type="title"/>
          </p:nvPr>
        </p:nvSpPr>
        <p:spPr>
          <a:xfrm>
            <a:off x="713225" y="677525"/>
            <a:ext cx="50946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30"/>
          <p:cNvSpPr txBox="1">
            <a:spLocks noGrp="1"/>
          </p:cNvSpPr>
          <p:nvPr>
            <p:ph type="subTitle" idx="1"/>
          </p:nvPr>
        </p:nvSpPr>
        <p:spPr>
          <a:xfrm>
            <a:off x="713225" y="1841450"/>
            <a:ext cx="50946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30"/>
          <p:cNvSpPr txBox="1"/>
          <p:nvPr/>
        </p:nvSpPr>
        <p:spPr>
          <a:xfrm>
            <a:off x="713225" y="3611950"/>
            <a:ext cx="50946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200" b="1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oogle Shape;314;p31"/>
          <p:cNvGrpSpPr/>
          <p:nvPr/>
        </p:nvGrpSpPr>
        <p:grpSpPr>
          <a:xfrm>
            <a:off x="-247298" y="-446215"/>
            <a:ext cx="9638610" cy="6030088"/>
            <a:chOff x="-247298" y="-446215"/>
            <a:chExt cx="9638610" cy="6030088"/>
          </a:xfrm>
        </p:grpSpPr>
        <p:sp>
          <p:nvSpPr>
            <p:cNvPr id="315" name="Google Shape;315;p31"/>
            <p:cNvSpPr/>
            <p:nvPr/>
          </p:nvSpPr>
          <p:spPr>
            <a:xfrm>
              <a:off x="-125573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1"/>
            <p:cNvSpPr/>
            <p:nvPr/>
          </p:nvSpPr>
          <p:spPr>
            <a:xfrm>
              <a:off x="-125583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1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1"/>
            <p:cNvSpPr/>
            <p:nvPr/>
          </p:nvSpPr>
          <p:spPr>
            <a:xfrm rot="10800000" flipH="1">
              <a:off x="346967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1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1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1"/>
            <p:cNvSpPr/>
            <p:nvPr/>
          </p:nvSpPr>
          <p:spPr>
            <a:xfrm>
              <a:off x="8430777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1"/>
            <p:cNvSpPr/>
            <p:nvPr/>
          </p:nvSpPr>
          <p:spPr>
            <a:xfrm>
              <a:off x="8430767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32"/>
          <p:cNvGrpSpPr/>
          <p:nvPr/>
        </p:nvGrpSpPr>
        <p:grpSpPr>
          <a:xfrm>
            <a:off x="-476796" y="2900252"/>
            <a:ext cx="10097585" cy="2865204"/>
            <a:chOff x="-476796" y="2900252"/>
            <a:chExt cx="10097585" cy="2865204"/>
          </a:xfrm>
        </p:grpSpPr>
        <p:grpSp>
          <p:nvGrpSpPr>
            <p:cNvPr id="325" name="Google Shape;325;p32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326" name="Google Shape;326;p32"/>
              <p:cNvSpPr/>
              <p:nvPr/>
            </p:nvSpPr>
            <p:spPr>
              <a:xfrm rot="10800000" flipH="1">
                <a:off x="-266661" y="2900252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32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32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32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32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32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14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32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8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3" name="Google Shape;333;p32"/>
            <p:cNvSpPr/>
            <p:nvPr/>
          </p:nvSpPr>
          <p:spPr>
            <a:xfrm rot="10800000" flipH="1">
              <a:off x="293867" y="47973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3"/>
          <p:cNvSpPr txBox="1">
            <a:spLocks noGrp="1"/>
          </p:cNvSpPr>
          <p:nvPr>
            <p:ph type="ctrTitle"/>
          </p:nvPr>
        </p:nvSpPr>
        <p:spPr>
          <a:xfrm>
            <a:off x="188625" y="118825"/>
            <a:ext cx="4926600" cy="148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Automated financial complaint triage   </a:t>
            </a:r>
            <a:endParaRPr sz="2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             </a:t>
            </a:r>
            <a:endParaRPr sz="2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Performance Evaluation on CPU Infrastructure</a:t>
            </a:r>
            <a:endParaRPr sz="1600"/>
          </a:p>
        </p:txBody>
      </p:sp>
      <p:sp>
        <p:nvSpPr>
          <p:cNvPr id="339" name="Google Shape;339;p33"/>
          <p:cNvSpPr txBox="1">
            <a:spLocks noGrp="1"/>
          </p:cNvSpPr>
          <p:nvPr>
            <p:ph type="subTitle" idx="1"/>
          </p:nvPr>
        </p:nvSpPr>
        <p:spPr>
          <a:xfrm>
            <a:off x="0" y="4314725"/>
            <a:ext cx="4275000" cy="6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https://github.com/BryceTO/ict3113-a1-team15</a:t>
            </a:r>
            <a:endParaRPr/>
          </a:p>
        </p:txBody>
      </p:sp>
      <p:grpSp>
        <p:nvGrpSpPr>
          <p:cNvPr id="340" name="Google Shape;340;p33"/>
          <p:cNvGrpSpPr/>
          <p:nvPr/>
        </p:nvGrpSpPr>
        <p:grpSpPr>
          <a:xfrm>
            <a:off x="5115337" y="-428624"/>
            <a:ext cx="4275118" cy="6450405"/>
            <a:chOff x="5115337" y="-428624"/>
            <a:chExt cx="4275118" cy="6450405"/>
          </a:xfrm>
        </p:grpSpPr>
        <p:sp>
          <p:nvSpPr>
            <p:cNvPr id="341" name="Google Shape;341;p33"/>
            <p:cNvSpPr/>
            <p:nvPr/>
          </p:nvSpPr>
          <p:spPr>
            <a:xfrm rot="10800000" flipH="1">
              <a:off x="8492525" y="-19272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3"/>
            <p:cNvSpPr/>
            <p:nvPr/>
          </p:nvSpPr>
          <p:spPr>
            <a:xfrm>
              <a:off x="8551745" y="326783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33"/>
            <p:cNvSpPr/>
            <p:nvPr/>
          </p:nvSpPr>
          <p:spPr>
            <a:xfrm>
              <a:off x="6606686" y="25473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33"/>
            <p:cNvSpPr/>
            <p:nvPr/>
          </p:nvSpPr>
          <p:spPr>
            <a:xfrm>
              <a:off x="7103477" y="-1533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3"/>
            <p:cNvSpPr/>
            <p:nvPr/>
          </p:nvSpPr>
          <p:spPr>
            <a:xfrm>
              <a:off x="6684072" y="31846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3"/>
            <p:cNvSpPr/>
            <p:nvPr/>
          </p:nvSpPr>
          <p:spPr>
            <a:xfrm>
              <a:off x="6109895" y="119408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33"/>
            <p:cNvSpPr/>
            <p:nvPr/>
          </p:nvSpPr>
          <p:spPr>
            <a:xfrm>
              <a:off x="6109895" y="69774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33"/>
            <p:cNvSpPr/>
            <p:nvPr/>
          </p:nvSpPr>
          <p:spPr>
            <a:xfrm>
              <a:off x="7587339" y="11940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3"/>
            <p:cNvSpPr/>
            <p:nvPr/>
          </p:nvSpPr>
          <p:spPr>
            <a:xfrm>
              <a:off x="5634170" y="-42862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3"/>
            <p:cNvSpPr/>
            <p:nvPr/>
          </p:nvSpPr>
          <p:spPr>
            <a:xfrm>
              <a:off x="7017892" y="207505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3"/>
            <p:cNvSpPr/>
            <p:nvPr/>
          </p:nvSpPr>
          <p:spPr>
            <a:xfrm>
              <a:off x="5193798" y="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3"/>
            <p:cNvSpPr/>
            <p:nvPr/>
          </p:nvSpPr>
          <p:spPr>
            <a:xfrm>
              <a:off x="8068891" y="16222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3"/>
            <p:cNvSpPr/>
            <p:nvPr/>
          </p:nvSpPr>
          <p:spPr>
            <a:xfrm rot="10800000" flipH="1">
              <a:off x="5115337" y="36559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3"/>
            <p:cNvSpPr/>
            <p:nvPr/>
          </p:nvSpPr>
          <p:spPr>
            <a:xfrm rot="10800000" flipH="1">
              <a:off x="6606680" y="392470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3"/>
            <p:cNvSpPr/>
            <p:nvPr/>
          </p:nvSpPr>
          <p:spPr>
            <a:xfrm rot="10800000" flipH="1">
              <a:off x="5983934" y="505366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3"/>
            <p:cNvSpPr/>
            <p:nvPr/>
          </p:nvSpPr>
          <p:spPr>
            <a:xfrm rot="10800000" flipH="1">
              <a:off x="7178797" y="353334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3"/>
            <p:cNvSpPr/>
            <p:nvPr/>
          </p:nvSpPr>
          <p:spPr>
            <a:xfrm rot="10800000" flipH="1">
              <a:off x="6606686" y="4609409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3"/>
            <p:cNvSpPr/>
            <p:nvPr/>
          </p:nvSpPr>
          <p:spPr>
            <a:xfrm rot="10800000" flipH="1">
              <a:off x="5526543" y="412830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3"/>
            <p:cNvSpPr/>
            <p:nvPr/>
          </p:nvSpPr>
          <p:spPr>
            <a:xfrm>
              <a:off x="8117298" y="285223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3"/>
            <p:cNvSpPr/>
            <p:nvPr/>
          </p:nvSpPr>
          <p:spPr>
            <a:xfrm>
              <a:off x="8172542" y="30360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361" name="Google Shape;361;p33"/>
          <p:cNvGraphicFramePr/>
          <p:nvPr/>
        </p:nvGraphicFramePr>
        <p:xfrm>
          <a:off x="188625" y="1733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{1A484EB1-52C8-4F88-B49D-DAC7C477A5D6}</a:tableStyleId>
              </a:tblPr>
              <a:tblGrid>
                <a:gridCol w="302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Name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Student ID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Arokkiasamy Liandomaxin 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2400643</a:t>
                      </a:r>
                      <a:endParaRPr sz="15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Yuhao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2400703</a:t>
                      </a:r>
                      <a:endParaRPr sz="15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Bryce Teoh Yi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2401073</a:t>
                      </a:r>
                      <a:endParaRPr sz="15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3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Toh Zhengda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2302113</a:t>
                      </a:r>
                      <a:endParaRPr sz="15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3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Bryan Koh Kai Xun</a:t>
                      </a:r>
                      <a:endParaRPr sz="15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2400960</a:t>
                      </a:r>
                      <a:endParaRPr sz="15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4"/>
          <p:cNvSpPr txBox="1">
            <a:spLocks noGrp="1"/>
          </p:cNvSpPr>
          <p:nvPr>
            <p:ph type="title"/>
          </p:nvPr>
        </p:nvSpPr>
        <p:spPr>
          <a:xfrm>
            <a:off x="720000" y="26517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Service Architecture : Sync Baseline</a:t>
            </a:r>
            <a:endParaRPr/>
          </a:p>
        </p:txBody>
      </p:sp>
      <p:sp>
        <p:nvSpPr>
          <p:cNvPr id="367" name="Google Shape;367;p34"/>
          <p:cNvSpPr/>
          <p:nvPr/>
        </p:nvSpPr>
        <p:spPr>
          <a:xfrm>
            <a:off x="2073749" y="1080575"/>
            <a:ext cx="3865200" cy="3122100"/>
          </a:xfrm>
          <a:prstGeom prst="rect">
            <a:avLst/>
          </a:prstGeom>
          <a:noFill/>
          <a:ln w="19050" cap="flat" cmpd="sng">
            <a:solidFill>
              <a:srgbClr val="4A86E8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8" name="Google Shape;368;p34"/>
          <p:cNvSpPr txBox="1"/>
          <p:nvPr/>
        </p:nvSpPr>
        <p:spPr>
          <a:xfrm>
            <a:off x="2073749" y="1080575"/>
            <a:ext cx="4614000" cy="1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Service Machine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9" name="Google Shape;369;p34"/>
          <p:cNvSpPr/>
          <p:nvPr/>
        </p:nvSpPr>
        <p:spPr>
          <a:xfrm>
            <a:off x="2164424" y="3022475"/>
            <a:ext cx="1382400" cy="1068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DM Sans"/>
                <a:ea typeface="DM Sans"/>
                <a:cs typeface="DM Sans"/>
                <a:sym typeface="DM Sans"/>
              </a:rPr>
              <a:t>SQLite</a:t>
            </a:r>
            <a:br>
              <a:rPr lang="en">
                <a:latin typeface="DM Sans"/>
                <a:ea typeface="DM Sans"/>
                <a:cs typeface="DM Sans"/>
                <a:sym typeface="DM Sans"/>
              </a:rPr>
            </a:br>
            <a:r>
              <a:rPr lang="en" sz="1100">
                <a:latin typeface="DM Sans"/>
                <a:ea typeface="DM Sans"/>
                <a:cs typeface="DM Sans"/>
                <a:sym typeface="DM Sans"/>
              </a:rPr>
              <a:t>Ticket Store </a:t>
            </a:r>
            <a:br>
              <a:rPr lang="en" sz="1100">
                <a:latin typeface="DM Sans"/>
                <a:ea typeface="DM Sans"/>
                <a:cs typeface="DM Sans"/>
                <a:sym typeface="DM Sans"/>
              </a:rPr>
            </a:br>
            <a:r>
              <a:rPr lang="en" sz="1100">
                <a:latin typeface="DM Sans"/>
                <a:ea typeface="DM Sans"/>
                <a:cs typeface="DM Sans"/>
                <a:sym typeface="DM Sans"/>
              </a:rPr>
              <a:t>(New DB per run)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70" name="Google Shape;370;p34"/>
          <p:cNvSpPr/>
          <p:nvPr/>
        </p:nvSpPr>
        <p:spPr>
          <a:xfrm>
            <a:off x="4429449" y="1485950"/>
            <a:ext cx="1382400" cy="1068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DM Sans"/>
                <a:ea typeface="DM Sans"/>
                <a:cs typeface="DM Sans"/>
                <a:sym typeface="DM Sans"/>
              </a:rPr>
              <a:t>Ollama</a:t>
            </a:r>
            <a:br>
              <a:rPr lang="en">
                <a:latin typeface="DM Sans"/>
                <a:ea typeface="DM Sans"/>
                <a:cs typeface="DM Sans"/>
                <a:sym typeface="DM Sans"/>
              </a:rPr>
            </a:br>
            <a:r>
              <a:rPr lang="en" sz="1100">
                <a:latin typeface="DM Sans"/>
                <a:ea typeface="DM Sans"/>
                <a:cs typeface="DM Sans"/>
                <a:sym typeface="DM Sans"/>
              </a:rPr>
              <a:t>Local model backend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DM Sans"/>
                <a:ea typeface="DM Sans"/>
                <a:cs typeface="DM Sans"/>
                <a:sym typeface="DM Sans"/>
              </a:rPr>
              <a:t>1 request at a time 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71" name="Google Shape;371;p34"/>
          <p:cNvSpPr/>
          <p:nvPr/>
        </p:nvSpPr>
        <p:spPr>
          <a:xfrm>
            <a:off x="4374999" y="3022475"/>
            <a:ext cx="1382400" cy="1068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DM Sans"/>
                <a:ea typeface="DM Sans"/>
                <a:cs typeface="DM Sans"/>
                <a:sym typeface="DM Sans"/>
              </a:rPr>
              <a:t>Request Log</a:t>
            </a:r>
            <a:br>
              <a:rPr lang="en">
                <a:latin typeface="DM Sans"/>
                <a:ea typeface="DM Sans"/>
                <a:cs typeface="DM Sans"/>
                <a:sym typeface="DM Sans"/>
              </a:rPr>
            </a:br>
            <a:r>
              <a:rPr lang="en" sz="1100">
                <a:latin typeface="DM Sans"/>
                <a:ea typeface="DM Sans"/>
                <a:cs typeface="DM Sans"/>
                <a:sym typeface="DM Sans"/>
              </a:rPr>
              <a:t>JSON line per request &lt;RUN_ID&gt;.log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72" name="Google Shape;372;p34"/>
          <p:cNvSpPr/>
          <p:nvPr/>
        </p:nvSpPr>
        <p:spPr>
          <a:xfrm>
            <a:off x="1422550" y="1718100"/>
            <a:ext cx="764100" cy="5001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latin typeface="DM Sans"/>
                <a:ea typeface="DM Sans"/>
                <a:cs typeface="DM Sans"/>
                <a:sym typeface="DM Sans"/>
              </a:rPr>
              <a:t>HTTP</a:t>
            </a:r>
            <a:br>
              <a:rPr lang="en" sz="700">
                <a:latin typeface="DM Sans"/>
                <a:ea typeface="DM Sans"/>
                <a:cs typeface="DM Sans"/>
                <a:sym typeface="DM Sans"/>
              </a:rPr>
            </a:br>
            <a:r>
              <a:rPr lang="en" sz="700">
                <a:latin typeface="DM Sans"/>
                <a:ea typeface="DM Sans"/>
                <a:cs typeface="DM Sans"/>
                <a:sym typeface="DM Sans"/>
              </a:rPr>
              <a:t>Requests</a:t>
            </a:r>
            <a:endParaRPr sz="7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73" name="Google Shape;373;p34"/>
          <p:cNvSpPr/>
          <p:nvPr/>
        </p:nvSpPr>
        <p:spPr>
          <a:xfrm>
            <a:off x="3586024" y="1913600"/>
            <a:ext cx="843300" cy="216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74" name="Google Shape;374;p34"/>
          <p:cNvSpPr/>
          <p:nvPr/>
        </p:nvSpPr>
        <p:spPr>
          <a:xfrm rot="2326923">
            <a:off x="3386278" y="2694249"/>
            <a:ext cx="1032155" cy="22470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75" name="Google Shape;375;p34"/>
          <p:cNvSpPr/>
          <p:nvPr/>
        </p:nvSpPr>
        <p:spPr>
          <a:xfrm rot="5401928">
            <a:off x="2597024" y="2625100"/>
            <a:ext cx="534900" cy="2187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76" name="Google Shape;376;p34"/>
          <p:cNvSpPr/>
          <p:nvPr/>
        </p:nvSpPr>
        <p:spPr>
          <a:xfrm>
            <a:off x="2203624" y="1485950"/>
            <a:ext cx="1382400" cy="1068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DM Sans"/>
                <a:ea typeface="DM Sans"/>
                <a:cs typeface="DM Sans"/>
                <a:sym typeface="DM Sans"/>
              </a:rPr>
              <a:t>Triage Service</a:t>
            </a:r>
            <a:r>
              <a:rPr lang="en" sz="1100">
                <a:latin typeface="DM Sans"/>
                <a:ea typeface="DM Sans"/>
                <a:cs typeface="DM Sans"/>
                <a:sym typeface="DM Sans"/>
              </a:rPr>
              <a:t> </a:t>
            </a:r>
            <a:br>
              <a:rPr lang="en" sz="1100">
                <a:latin typeface="DM Sans"/>
                <a:ea typeface="DM Sans"/>
                <a:cs typeface="DM Sans"/>
                <a:sym typeface="DM Sans"/>
              </a:rPr>
            </a:br>
            <a:r>
              <a:rPr lang="en" sz="1100">
                <a:latin typeface="DM Sans"/>
                <a:ea typeface="DM Sans"/>
                <a:cs typeface="DM Sans"/>
                <a:sym typeface="DM Sans"/>
              </a:rPr>
              <a:t>Fast API , </a:t>
            </a:r>
            <a:br>
              <a:rPr lang="en" sz="1100">
                <a:latin typeface="DM Sans"/>
                <a:ea typeface="DM Sans"/>
                <a:cs typeface="DM Sans"/>
                <a:sym typeface="DM Sans"/>
              </a:rPr>
            </a:br>
            <a:r>
              <a:rPr lang="en" sz="1100">
                <a:latin typeface="DM Sans"/>
                <a:ea typeface="DM Sans"/>
                <a:cs typeface="DM Sans"/>
                <a:sym typeface="DM Sans"/>
              </a:rPr>
              <a:t>Port 8000 , Python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77" name="Google Shape;377;p34"/>
          <p:cNvSpPr/>
          <p:nvPr/>
        </p:nvSpPr>
        <p:spPr>
          <a:xfrm>
            <a:off x="81175" y="1434000"/>
            <a:ext cx="1382400" cy="1068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DM Sans"/>
                <a:ea typeface="DM Sans"/>
                <a:cs typeface="DM Sans"/>
                <a:sym typeface="DM Sans"/>
              </a:rPr>
              <a:t>Apache JMeter</a:t>
            </a:r>
            <a:br>
              <a:rPr lang="en">
                <a:latin typeface="DM Sans"/>
                <a:ea typeface="DM Sans"/>
                <a:cs typeface="DM Sans"/>
                <a:sym typeface="DM Sans"/>
              </a:rPr>
            </a:br>
            <a:r>
              <a:rPr lang="en" sz="1100">
                <a:latin typeface="DM Sans"/>
                <a:ea typeface="DM Sans"/>
                <a:cs typeface="DM Sans"/>
                <a:sym typeface="DM Sans"/>
              </a:rPr>
              <a:t>Load generator (seperate machine)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78" name="Google Shape;378;p34"/>
          <p:cNvSpPr txBox="1"/>
          <p:nvPr/>
        </p:nvSpPr>
        <p:spPr>
          <a:xfrm>
            <a:off x="6082739" y="1196975"/>
            <a:ext cx="18255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API Endpoints</a:t>
            </a:r>
            <a:endParaRPr sz="1600" b="1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79" name="Google Shape;379;p34"/>
          <p:cNvSpPr/>
          <p:nvPr/>
        </p:nvSpPr>
        <p:spPr>
          <a:xfrm>
            <a:off x="6082739" y="1505530"/>
            <a:ext cx="2879100" cy="792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0" name="Google Shape;380;p34"/>
          <p:cNvSpPr txBox="1"/>
          <p:nvPr/>
        </p:nvSpPr>
        <p:spPr>
          <a:xfrm>
            <a:off x="6174164" y="1467933"/>
            <a:ext cx="2684400" cy="7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POST /tickets</a:t>
            </a:r>
            <a:br>
              <a:rPr lang="en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" sz="950">
                <a:solidFill>
                  <a:srgbClr val="1B2B34"/>
                </a:solidFill>
              </a:rPr>
              <a:t>Classifies one narrative via Ollama, stores it, returns the category.</a:t>
            </a:r>
            <a:endParaRPr sz="950">
              <a:solidFill>
                <a:srgbClr val="1B2B34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1" name="Google Shape;381;p34"/>
          <p:cNvSpPr/>
          <p:nvPr/>
        </p:nvSpPr>
        <p:spPr>
          <a:xfrm>
            <a:off x="6082751" y="2395755"/>
            <a:ext cx="2879100" cy="792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2" name="Google Shape;382;p34"/>
          <p:cNvSpPr txBox="1"/>
          <p:nvPr/>
        </p:nvSpPr>
        <p:spPr>
          <a:xfrm>
            <a:off x="6174157" y="2386746"/>
            <a:ext cx="2684400" cy="7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GET /search?q=</a:t>
            </a:r>
            <a:br>
              <a:rPr lang="en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" sz="950">
                <a:solidFill>
                  <a:srgbClr val="1B2B34"/>
                </a:solidFill>
              </a:rPr>
              <a:t>Returns stored tickets whose narrative contains the text (max 100).</a:t>
            </a:r>
            <a:endParaRPr sz="950">
              <a:solidFill>
                <a:srgbClr val="1B2B34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3" name="Google Shape;383;p34"/>
          <p:cNvSpPr/>
          <p:nvPr/>
        </p:nvSpPr>
        <p:spPr>
          <a:xfrm>
            <a:off x="6082763" y="3285975"/>
            <a:ext cx="2879100" cy="792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4" name="Google Shape;384;p34"/>
          <p:cNvSpPr/>
          <p:nvPr/>
        </p:nvSpPr>
        <p:spPr>
          <a:xfrm>
            <a:off x="6839478" y="4312646"/>
            <a:ext cx="2112600" cy="700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B4F6C"/>
                </a:solidFill>
              </a:rPr>
              <a:t>Every request logged</a:t>
            </a:r>
            <a:endParaRPr sz="1200" b="1">
              <a:solidFill>
                <a:srgbClr val="0B4F6C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B6770"/>
                </a:solidFill>
              </a:rPr>
              <a:t>reconciles with JMeter .jtl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5" name="Google Shape;385;p34"/>
          <p:cNvSpPr txBox="1"/>
          <p:nvPr/>
        </p:nvSpPr>
        <p:spPr>
          <a:xfrm>
            <a:off x="6180107" y="3285971"/>
            <a:ext cx="2684400" cy="7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GET /stats</a:t>
            </a:r>
            <a:br>
              <a:rPr lang="en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" sz="1050">
                <a:solidFill>
                  <a:srgbClr val="1B2B34"/>
                </a:solidFill>
              </a:rPr>
              <a:t>Returns the count of stored tickets per category.</a:t>
            </a:r>
            <a:endParaRPr sz="1050">
              <a:solidFill>
                <a:srgbClr val="1B2B34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>
              <a:solidFill>
                <a:srgbClr val="1B2B34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6" name="Google Shape;386;p34"/>
          <p:cNvSpPr/>
          <p:nvPr/>
        </p:nvSpPr>
        <p:spPr>
          <a:xfrm>
            <a:off x="152400" y="4312646"/>
            <a:ext cx="2112600" cy="700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B4F6C"/>
                </a:solidFill>
              </a:rPr>
              <a:t>Synchronous</a:t>
            </a:r>
            <a:endParaRPr sz="1200" b="1">
              <a:solidFill>
                <a:srgbClr val="0B4F6C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B6770"/>
                </a:solidFill>
              </a:rPr>
              <a:t>POST waits for the model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7" name="Google Shape;387;p34"/>
          <p:cNvSpPr/>
          <p:nvPr/>
        </p:nvSpPr>
        <p:spPr>
          <a:xfrm>
            <a:off x="2372000" y="4303494"/>
            <a:ext cx="2112600" cy="700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B4F6C"/>
                </a:solidFill>
              </a:rPr>
              <a:t>No caching</a:t>
            </a:r>
            <a:endParaRPr sz="1200" b="1">
              <a:solidFill>
                <a:srgbClr val="0B4F6C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B6770"/>
                </a:solidFill>
              </a:rPr>
              <a:t>every ticket goes to Ollama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8" name="Google Shape;388;p34"/>
          <p:cNvSpPr/>
          <p:nvPr/>
        </p:nvSpPr>
        <p:spPr>
          <a:xfrm>
            <a:off x="4591600" y="4312659"/>
            <a:ext cx="2112600" cy="700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B4F6C"/>
                </a:solidFill>
              </a:rPr>
              <a:t>No app queue</a:t>
            </a:r>
            <a:endParaRPr sz="1200" b="1">
              <a:solidFill>
                <a:srgbClr val="0B4F6C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B6770"/>
                </a:solidFill>
              </a:rPr>
              <a:t>waiting happens inside Ollama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5"/>
          <p:cNvSpPr txBox="1">
            <a:spLocks noGrp="1"/>
          </p:cNvSpPr>
          <p:nvPr>
            <p:ph type="title"/>
          </p:nvPr>
        </p:nvSpPr>
        <p:spPr>
          <a:xfrm>
            <a:off x="720000" y="26517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Workload Model </a:t>
            </a:r>
            <a:endParaRPr/>
          </a:p>
        </p:txBody>
      </p:sp>
      <p:sp>
        <p:nvSpPr>
          <p:cNvPr id="394" name="Google Shape;394;p35"/>
          <p:cNvSpPr txBox="1">
            <a:spLocks noGrp="1"/>
          </p:cNvSpPr>
          <p:nvPr>
            <p:ph type="subTitle" idx="1"/>
          </p:nvPr>
        </p:nvSpPr>
        <p:spPr>
          <a:xfrm>
            <a:off x="1142950" y="2219063"/>
            <a:ext cx="3251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84655"/>
                </a:solidFill>
                <a:latin typeface="DM Sans" pitchFamily="2" charset="0"/>
              </a:rPr>
              <a:t>7,860 tickets / year
10x mean CFPB company volume</a:t>
            </a:r>
            <a:endParaRPr>
              <a:solidFill>
                <a:srgbClr val="384655"/>
              </a:solidFill>
              <a:latin typeface="DM Sans" pitchFamily="2" charset="0"/>
            </a:endParaRPr>
          </a:p>
        </p:txBody>
      </p:sp>
      <p:sp>
        <p:nvSpPr>
          <p:cNvPr id="395" name="Google Shape;395;p35"/>
          <p:cNvSpPr txBox="1">
            <a:spLocks noGrp="1"/>
          </p:cNvSpPr>
          <p:nvPr>
            <p:ph type="subTitle" idx="2"/>
          </p:nvPr>
        </p:nvSpPr>
        <p:spPr>
          <a:xfrm>
            <a:off x="4749341" y="2219063"/>
            <a:ext cx="3251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84655"/>
                </a:solidFill>
                <a:latin typeface="DM Sans" pitchFamily="2" charset="0"/>
              </a:rPr>
              <a:t>2 searches / hour at peak
1 search per 5 tickets</a:t>
            </a:r>
            <a:endParaRPr>
              <a:solidFill>
                <a:srgbClr val="384655"/>
              </a:solidFill>
              <a:latin typeface="DM Sans" pitchFamily="2" charset="0"/>
            </a:endParaRPr>
          </a:p>
        </p:txBody>
      </p:sp>
      <p:sp>
        <p:nvSpPr>
          <p:cNvPr id="396" name="Google Shape;396;p35"/>
          <p:cNvSpPr txBox="1">
            <a:spLocks noGrp="1"/>
          </p:cNvSpPr>
          <p:nvPr>
            <p:ph type="subTitle" idx="3"/>
          </p:nvPr>
        </p:nvSpPr>
        <p:spPr>
          <a:xfrm>
            <a:off x="1142950" y="4010313"/>
            <a:ext cx="3251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84655"/>
                </a:solidFill>
                <a:latin typeface="DM Sans" pitchFamily="2" charset="0"/>
              </a:rPr>
              <a:t>3 normal / 9 peak
tickets per business hour</a:t>
            </a:r>
            <a:endParaRPr>
              <a:solidFill>
                <a:srgbClr val="384655"/>
              </a:solidFill>
              <a:latin typeface="DM Sans" pitchFamily="2" charset="0"/>
            </a:endParaRPr>
          </a:p>
        </p:txBody>
      </p:sp>
      <p:sp>
        <p:nvSpPr>
          <p:cNvPr id="397" name="Google Shape;397;p35"/>
          <p:cNvSpPr txBox="1">
            <a:spLocks noGrp="1"/>
          </p:cNvSpPr>
          <p:nvPr>
            <p:ph type="subTitle" idx="4"/>
          </p:nvPr>
        </p:nvSpPr>
        <p:spPr>
          <a:xfrm>
            <a:off x="4749341" y="4010313"/>
            <a:ext cx="3251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84655"/>
                </a:solidFill>
                <a:latin typeface="DM Sans" pitchFamily="2" charset="0"/>
              </a:rPr>
              <a:t>Median 795 characters
p95 1,750 characters</a:t>
            </a:r>
            <a:endParaRPr>
              <a:solidFill>
                <a:srgbClr val="384655"/>
              </a:solidFill>
              <a:latin typeface="DM Sans" pitchFamily="2" charset="0"/>
            </a:endParaRPr>
          </a:p>
        </p:txBody>
      </p:sp>
      <p:sp>
        <p:nvSpPr>
          <p:cNvPr id="398" name="Google Shape;398;p35"/>
          <p:cNvSpPr txBox="1">
            <a:spLocks noGrp="1"/>
          </p:cNvSpPr>
          <p:nvPr>
            <p:ph type="subTitle" idx="5"/>
          </p:nvPr>
        </p:nvSpPr>
        <p:spPr>
          <a:xfrm>
            <a:off x="1142950" y="1504133"/>
            <a:ext cx="3251700" cy="8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EXPECTED TICKET VOLUME</a:t>
            </a:r>
            <a:endParaRPr sz="2000"/>
          </a:p>
        </p:txBody>
      </p:sp>
      <p:sp>
        <p:nvSpPr>
          <p:cNvPr id="399" name="Google Shape;399;p35"/>
          <p:cNvSpPr txBox="1">
            <a:spLocks noGrp="1"/>
          </p:cNvSpPr>
          <p:nvPr>
            <p:ph type="subTitle" idx="6"/>
          </p:nvPr>
        </p:nvSpPr>
        <p:spPr>
          <a:xfrm>
            <a:off x="1142962" y="3651938"/>
            <a:ext cx="32517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PEAK VS NON-PEAK</a:t>
            </a:r>
            <a:endParaRPr/>
          </a:p>
        </p:txBody>
      </p:sp>
      <p:sp>
        <p:nvSpPr>
          <p:cNvPr id="400" name="Google Shape;400;p35"/>
          <p:cNvSpPr txBox="1">
            <a:spLocks noGrp="1"/>
          </p:cNvSpPr>
          <p:nvPr>
            <p:ph type="subTitle" idx="7"/>
          </p:nvPr>
        </p:nvSpPr>
        <p:spPr>
          <a:xfrm>
            <a:off x="4698413" y="1682313"/>
            <a:ext cx="32517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 ACTIVITY</a:t>
            </a:r>
            <a:endParaRPr/>
          </a:p>
        </p:txBody>
      </p:sp>
      <p:sp>
        <p:nvSpPr>
          <p:cNvPr id="401" name="Google Shape;401;p35"/>
          <p:cNvSpPr txBox="1">
            <a:spLocks noGrp="1"/>
          </p:cNvSpPr>
          <p:nvPr>
            <p:ph type="subTitle" idx="8"/>
          </p:nvPr>
        </p:nvSpPr>
        <p:spPr>
          <a:xfrm>
            <a:off x="4749338" y="3651938"/>
            <a:ext cx="32517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TICKET LENGTH</a:t>
            </a:r>
            <a:endParaRPr/>
          </a:p>
        </p:txBody>
      </p:sp>
      <p:grpSp>
        <p:nvGrpSpPr>
          <p:cNvPr id="402" name="Google Shape;402;p35"/>
          <p:cNvGrpSpPr/>
          <p:nvPr/>
        </p:nvGrpSpPr>
        <p:grpSpPr>
          <a:xfrm>
            <a:off x="3748650" y="1642603"/>
            <a:ext cx="391048" cy="391048"/>
            <a:chOff x="3288275" y="2636227"/>
            <a:chExt cx="391048" cy="391048"/>
          </a:xfrm>
        </p:grpSpPr>
        <p:sp>
          <p:nvSpPr>
            <p:cNvPr id="403" name="Google Shape;403;p35"/>
            <p:cNvSpPr/>
            <p:nvPr/>
          </p:nvSpPr>
          <p:spPr>
            <a:xfrm>
              <a:off x="3334288" y="2681133"/>
              <a:ext cx="152279" cy="69020"/>
            </a:xfrm>
            <a:custGeom>
              <a:avLst/>
              <a:gdLst/>
              <a:ahLst/>
              <a:cxnLst/>
              <a:rect l="l" t="t" r="r" b="b"/>
              <a:pathLst>
                <a:path w="6738" h="3054" extrusionOk="0">
                  <a:moveTo>
                    <a:pt x="5719" y="1018"/>
                  </a:moveTo>
                  <a:lnTo>
                    <a:pt x="5719" y="2036"/>
                  </a:lnTo>
                  <a:lnTo>
                    <a:pt x="1018" y="2036"/>
                  </a:lnTo>
                  <a:lnTo>
                    <a:pt x="1018" y="1018"/>
                  </a:lnTo>
                  <a:close/>
                  <a:moveTo>
                    <a:pt x="485" y="0"/>
                  </a:moveTo>
                  <a:lnTo>
                    <a:pt x="291" y="49"/>
                  </a:lnTo>
                  <a:lnTo>
                    <a:pt x="146" y="194"/>
                  </a:lnTo>
                  <a:lnTo>
                    <a:pt x="0" y="339"/>
                  </a:lnTo>
                  <a:lnTo>
                    <a:pt x="0" y="533"/>
                  </a:lnTo>
                  <a:lnTo>
                    <a:pt x="0" y="2569"/>
                  </a:lnTo>
                  <a:lnTo>
                    <a:pt x="0" y="2763"/>
                  </a:lnTo>
                  <a:lnTo>
                    <a:pt x="146" y="2908"/>
                  </a:lnTo>
                  <a:lnTo>
                    <a:pt x="291" y="3053"/>
                  </a:lnTo>
                  <a:lnTo>
                    <a:pt x="6446" y="3053"/>
                  </a:lnTo>
                  <a:lnTo>
                    <a:pt x="6592" y="2908"/>
                  </a:lnTo>
                  <a:lnTo>
                    <a:pt x="6689" y="2763"/>
                  </a:lnTo>
                  <a:lnTo>
                    <a:pt x="6737" y="2569"/>
                  </a:lnTo>
                  <a:lnTo>
                    <a:pt x="6737" y="533"/>
                  </a:lnTo>
                  <a:lnTo>
                    <a:pt x="6689" y="339"/>
                  </a:lnTo>
                  <a:lnTo>
                    <a:pt x="6592" y="194"/>
                  </a:lnTo>
                  <a:lnTo>
                    <a:pt x="6446" y="49"/>
                  </a:lnTo>
                  <a:lnTo>
                    <a:pt x="62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35"/>
            <p:cNvSpPr/>
            <p:nvPr/>
          </p:nvSpPr>
          <p:spPr>
            <a:xfrm>
              <a:off x="3334288" y="2773138"/>
              <a:ext cx="102988" cy="23007"/>
            </a:xfrm>
            <a:custGeom>
              <a:avLst/>
              <a:gdLst/>
              <a:ahLst/>
              <a:cxnLst/>
              <a:rect l="l" t="t" r="r" b="b"/>
              <a:pathLst>
                <a:path w="4557" h="1018" extrusionOk="0">
                  <a:moveTo>
                    <a:pt x="485" y="0"/>
                  </a:moveTo>
                  <a:lnTo>
                    <a:pt x="291" y="49"/>
                  </a:lnTo>
                  <a:lnTo>
                    <a:pt x="146" y="146"/>
                  </a:lnTo>
                  <a:lnTo>
                    <a:pt x="0" y="339"/>
                  </a:lnTo>
                  <a:lnTo>
                    <a:pt x="0" y="533"/>
                  </a:lnTo>
                  <a:lnTo>
                    <a:pt x="0" y="727"/>
                  </a:lnTo>
                  <a:lnTo>
                    <a:pt x="146" y="873"/>
                  </a:lnTo>
                  <a:lnTo>
                    <a:pt x="291" y="970"/>
                  </a:lnTo>
                  <a:lnTo>
                    <a:pt x="485" y="1018"/>
                  </a:lnTo>
                  <a:lnTo>
                    <a:pt x="4023" y="1018"/>
                  </a:lnTo>
                  <a:lnTo>
                    <a:pt x="4217" y="970"/>
                  </a:lnTo>
                  <a:lnTo>
                    <a:pt x="4411" y="873"/>
                  </a:lnTo>
                  <a:lnTo>
                    <a:pt x="4508" y="727"/>
                  </a:lnTo>
                  <a:lnTo>
                    <a:pt x="4556" y="533"/>
                  </a:lnTo>
                  <a:lnTo>
                    <a:pt x="4508" y="339"/>
                  </a:lnTo>
                  <a:lnTo>
                    <a:pt x="4411" y="146"/>
                  </a:lnTo>
                  <a:lnTo>
                    <a:pt x="4217" y="49"/>
                  </a:lnTo>
                  <a:lnTo>
                    <a:pt x="40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5"/>
            <p:cNvSpPr/>
            <p:nvPr/>
          </p:nvSpPr>
          <p:spPr>
            <a:xfrm>
              <a:off x="3334288" y="2819129"/>
              <a:ext cx="75597" cy="23029"/>
            </a:xfrm>
            <a:custGeom>
              <a:avLst/>
              <a:gdLst/>
              <a:ahLst/>
              <a:cxnLst/>
              <a:rect l="l" t="t" r="r" b="b"/>
              <a:pathLst>
                <a:path w="3345" h="1019" extrusionOk="0">
                  <a:moveTo>
                    <a:pt x="485" y="1"/>
                  </a:moveTo>
                  <a:lnTo>
                    <a:pt x="291" y="49"/>
                  </a:lnTo>
                  <a:lnTo>
                    <a:pt x="146" y="146"/>
                  </a:lnTo>
                  <a:lnTo>
                    <a:pt x="0" y="340"/>
                  </a:lnTo>
                  <a:lnTo>
                    <a:pt x="0" y="534"/>
                  </a:lnTo>
                  <a:lnTo>
                    <a:pt x="0" y="728"/>
                  </a:lnTo>
                  <a:lnTo>
                    <a:pt x="146" y="873"/>
                  </a:lnTo>
                  <a:lnTo>
                    <a:pt x="291" y="970"/>
                  </a:lnTo>
                  <a:lnTo>
                    <a:pt x="485" y="1018"/>
                  </a:lnTo>
                  <a:lnTo>
                    <a:pt x="2860" y="1018"/>
                  </a:lnTo>
                  <a:lnTo>
                    <a:pt x="3054" y="970"/>
                  </a:lnTo>
                  <a:lnTo>
                    <a:pt x="3199" y="873"/>
                  </a:lnTo>
                  <a:lnTo>
                    <a:pt x="3345" y="728"/>
                  </a:lnTo>
                  <a:lnTo>
                    <a:pt x="3345" y="534"/>
                  </a:lnTo>
                  <a:lnTo>
                    <a:pt x="3345" y="340"/>
                  </a:lnTo>
                  <a:lnTo>
                    <a:pt x="3199" y="146"/>
                  </a:lnTo>
                  <a:lnTo>
                    <a:pt x="3054" y="49"/>
                  </a:lnTo>
                  <a:lnTo>
                    <a:pt x="286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5"/>
            <p:cNvSpPr/>
            <p:nvPr/>
          </p:nvSpPr>
          <p:spPr>
            <a:xfrm>
              <a:off x="3288275" y="2636227"/>
              <a:ext cx="391048" cy="391048"/>
            </a:xfrm>
            <a:custGeom>
              <a:avLst/>
              <a:gdLst/>
              <a:ahLst/>
              <a:cxnLst/>
              <a:rect l="l" t="t" r="r" b="b"/>
              <a:pathLst>
                <a:path w="17303" h="17303" extrusionOk="0">
                  <a:moveTo>
                    <a:pt x="13862" y="969"/>
                  </a:moveTo>
                  <a:lnTo>
                    <a:pt x="13862" y="7706"/>
                  </a:lnTo>
                  <a:lnTo>
                    <a:pt x="13571" y="7415"/>
                  </a:lnTo>
                  <a:lnTo>
                    <a:pt x="13280" y="7076"/>
                  </a:lnTo>
                  <a:lnTo>
                    <a:pt x="12893" y="6834"/>
                  </a:lnTo>
                  <a:lnTo>
                    <a:pt x="12553" y="6591"/>
                  </a:lnTo>
                  <a:lnTo>
                    <a:pt x="12166" y="6446"/>
                  </a:lnTo>
                  <a:lnTo>
                    <a:pt x="11729" y="6301"/>
                  </a:lnTo>
                  <a:lnTo>
                    <a:pt x="11342" y="6204"/>
                  </a:lnTo>
                  <a:lnTo>
                    <a:pt x="10906" y="6155"/>
                  </a:lnTo>
                  <a:lnTo>
                    <a:pt x="10518" y="6107"/>
                  </a:lnTo>
                  <a:lnTo>
                    <a:pt x="10082" y="6155"/>
                  </a:lnTo>
                  <a:lnTo>
                    <a:pt x="9645" y="6204"/>
                  </a:lnTo>
                  <a:lnTo>
                    <a:pt x="9258" y="6301"/>
                  </a:lnTo>
                  <a:lnTo>
                    <a:pt x="8822" y="6446"/>
                  </a:lnTo>
                  <a:lnTo>
                    <a:pt x="8434" y="6591"/>
                  </a:lnTo>
                  <a:lnTo>
                    <a:pt x="8095" y="6834"/>
                  </a:lnTo>
                  <a:lnTo>
                    <a:pt x="7707" y="7076"/>
                  </a:lnTo>
                  <a:lnTo>
                    <a:pt x="7416" y="7415"/>
                  </a:lnTo>
                  <a:lnTo>
                    <a:pt x="7125" y="7706"/>
                  </a:lnTo>
                  <a:lnTo>
                    <a:pt x="6883" y="7997"/>
                  </a:lnTo>
                  <a:lnTo>
                    <a:pt x="6689" y="8336"/>
                  </a:lnTo>
                  <a:lnTo>
                    <a:pt x="6495" y="8675"/>
                  </a:lnTo>
                  <a:lnTo>
                    <a:pt x="6350" y="9063"/>
                  </a:lnTo>
                  <a:lnTo>
                    <a:pt x="6253" y="9402"/>
                  </a:lnTo>
                  <a:lnTo>
                    <a:pt x="6156" y="9790"/>
                  </a:lnTo>
                  <a:lnTo>
                    <a:pt x="6108" y="10178"/>
                  </a:lnTo>
                  <a:lnTo>
                    <a:pt x="1019" y="10178"/>
                  </a:lnTo>
                  <a:lnTo>
                    <a:pt x="1019" y="969"/>
                  </a:lnTo>
                  <a:close/>
                  <a:moveTo>
                    <a:pt x="10809" y="7124"/>
                  </a:moveTo>
                  <a:lnTo>
                    <a:pt x="11148" y="7173"/>
                  </a:lnTo>
                  <a:lnTo>
                    <a:pt x="11439" y="7270"/>
                  </a:lnTo>
                  <a:lnTo>
                    <a:pt x="11778" y="7367"/>
                  </a:lnTo>
                  <a:lnTo>
                    <a:pt x="12069" y="7512"/>
                  </a:lnTo>
                  <a:lnTo>
                    <a:pt x="12360" y="7658"/>
                  </a:lnTo>
                  <a:lnTo>
                    <a:pt x="12602" y="7900"/>
                  </a:lnTo>
                  <a:lnTo>
                    <a:pt x="12893" y="8094"/>
                  </a:lnTo>
                  <a:lnTo>
                    <a:pt x="13087" y="8385"/>
                  </a:lnTo>
                  <a:lnTo>
                    <a:pt x="13280" y="8627"/>
                  </a:lnTo>
                  <a:lnTo>
                    <a:pt x="13474" y="8918"/>
                  </a:lnTo>
                  <a:lnTo>
                    <a:pt x="13620" y="9208"/>
                  </a:lnTo>
                  <a:lnTo>
                    <a:pt x="13717" y="9548"/>
                  </a:lnTo>
                  <a:lnTo>
                    <a:pt x="13813" y="9838"/>
                  </a:lnTo>
                  <a:lnTo>
                    <a:pt x="13862" y="10178"/>
                  </a:lnTo>
                  <a:lnTo>
                    <a:pt x="13862" y="10469"/>
                  </a:lnTo>
                  <a:lnTo>
                    <a:pt x="13862" y="10808"/>
                  </a:lnTo>
                  <a:lnTo>
                    <a:pt x="13813" y="11147"/>
                  </a:lnTo>
                  <a:lnTo>
                    <a:pt x="13717" y="11438"/>
                  </a:lnTo>
                  <a:lnTo>
                    <a:pt x="13620" y="11777"/>
                  </a:lnTo>
                  <a:lnTo>
                    <a:pt x="13474" y="12068"/>
                  </a:lnTo>
                  <a:lnTo>
                    <a:pt x="13280" y="12359"/>
                  </a:lnTo>
                  <a:lnTo>
                    <a:pt x="13087" y="12601"/>
                  </a:lnTo>
                  <a:lnTo>
                    <a:pt x="12893" y="12843"/>
                  </a:lnTo>
                  <a:lnTo>
                    <a:pt x="12602" y="13086"/>
                  </a:lnTo>
                  <a:lnTo>
                    <a:pt x="12360" y="13279"/>
                  </a:lnTo>
                  <a:lnTo>
                    <a:pt x="12069" y="13473"/>
                  </a:lnTo>
                  <a:lnTo>
                    <a:pt x="11778" y="13619"/>
                  </a:lnTo>
                  <a:lnTo>
                    <a:pt x="11439" y="13716"/>
                  </a:lnTo>
                  <a:lnTo>
                    <a:pt x="11148" y="13813"/>
                  </a:lnTo>
                  <a:lnTo>
                    <a:pt x="10809" y="13813"/>
                  </a:lnTo>
                  <a:lnTo>
                    <a:pt x="10518" y="13861"/>
                  </a:lnTo>
                  <a:lnTo>
                    <a:pt x="10179" y="13813"/>
                  </a:lnTo>
                  <a:lnTo>
                    <a:pt x="9839" y="13813"/>
                  </a:lnTo>
                  <a:lnTo>
                    <a:pt x="9549" y="13716"/>
                  </a:lnTo>
                  <a:lnTo>
                    <a:pt x="9209" y="13619"/>
                  </a:lnTo>
                  <a:lnTo>
                    <a:pt x="8919" y="13473"/>
                  </a:lnTo>
                  <a:lnTo>
                    <a:pt x="8628" y="13279"/>
                  </a:lnTo>
                  <a:lnTo>
                    <a:pt x="8385" y="13086"/>
                  </a:lnTo>
                  <a:lnTo>
                    <a:pt x="8095" y="12843"/>
                  </a:lnTo>
                  <a:lnTo>
                    <a:pt x="7901" y="12601"/>
                  </a:lnTo>
                  <a:lnTo>
                    <a:pt x="7707" y="12359"/>
                  </a:lnTo>
                  <a:lnTo>
                    <a:pt x="7513" y="12068"/>
                  </a:lnTo>
                  <a:lnTo>
                    <a:pt x="7368" y="11777"/>
                  </a:lnTo>
                  <a:lnTo>
                    <a:pt x="7271" y="11438"/>
                  </a:lnTo>
                  <a:lnTo>
                    <a:pt x="7174" y="11147"/>
                  </a:lnTo>
                  <a:lnTo>
                    <a:pt x="7125" y="10808"/>
                  </a:lnTo>
                  <a:lnTo>
                    <a:pt x="7125" y="10469"/>
                  </a:lnTo>
                  <a:lnTo>
                    <a:pt x="7125" y="10178"/>
                  </a:lnTo>
                  <a:lnTo>
                    <a:pt x="7174" y="9838"/>
                  </a:lnTo>
                  <a:lnTo>
                    <a:pt x="7271" y="9548"/>
                  </a:lnTo>
                  <a:lnTo>
                    <a:pt x="7368" y="9208"/>
                  </a:lnTo>
                  <a:lnTo>
                    <a:pt x="7513" y="8918"/>
                  </a:lnTo>
                  <a:lnTo>
                    <a:pt x="7707" y="8627"/>
                  </a:lnTo>
                  <a:lnTo>
                    <a:pt x="7901" y="8385"/>
                  </a:lnTo>
                  <a:lnTo>
                    <a:pt x="8095" y="8094"/>
                  </a:lnTo>
                  <a:lnTo>
                    <a:pt x="8385" y="7900"/>
                  </a:lnTo>
                  <a:lnTo>
                    <a:pt x="8628" y="7658"/>
                  </a:lnTo>
                  <a:lnTo>
                    <a:pt x="8919" y="7512"/>
                  </a:lnTo>
                  <a:lnTo>
                    <a:pt x="9209" y="7367"/>
                  </a:lnTo>
                  <a:lnTo>
                    <a:pt x="9549" y="7270"/>
                  </a:lnTo>
                  <a:lnTo>
                    <a:pt x="9839" y="7173"/>
                  </a:lnTo>
                  <a:lnTo>
                    <a:pt x="10179" y="7124"/>
                  </a:lnTo>
                  <a:close/>
                  <a:moveTo>
                    <a:pt x="13910" y="13183"/>
                  </a:moveTo>
                  <a:lnTo>
                    <a:pt x="16140" y="15412"/>
                  </a:lnTo>
                  <a:lnTo>
                    <a:pt x="16285" y="15606"/>
                  </a:lnTo>
                  <a:lnTo>
                    <a:pt x="16285" y="15800"/>
                  </a:lnTo>
                  <a:lnTo>
                    <a:pt x="16285" y="15993"/>
                  </a:lnTo>
                  <a:lnTo>
                    <a:pt x="16140" y="16139"/>
                  </a:lnTo>
                  <a:lnTo>
                    <a:pt x="15994" y="16284"/>
                  </a:lnTo>
                  <a:lnTo>
                    <a:pt x="15607" y="16284"/>
                  </a:lnTo>
                  <a:lnTo>
                    <a:pt x="15461" y="16139"/>
                  </a:lnTo>
                  <a:lnTo>
                    <a:pt x="13232" y="13910"/>
                  </a:lnTo>
                  <a:lnTo>
                    <a:pt x="13571" y="13570"/>
                  </a:lnTo>
                  <a:lnTo>
                    <a:pt x="13910" y="13183"/>
                  </a:lnTo>
                  <a:close/>
                  <a:moveTo>
                    <a:pt x="292" y="0"/>
                  </a:moveTo>
                  <a:lnTo>
                    <a:pt x="146" y="146"/>
                  </a:lnTo>
                  <a:lnTo>
                    <a:pt x="1" y="291"/>
                  </a:lnTo>
                  <a:lnTo>
                    <a:pt x="1" y="485"/>
                  </a:lnTo>
                  <a:lnTo>
                    <a:pt x="1" y="10662"/>
                  </a:lnTo>
                  <a:lnTo>
                    <a:pt x="1" y="10856"/>
                  </a:lnTo>
                  <a:lnTo>
                    <a:pt x="146" y="11050"/>
                  </a:lnTo>
                  <a:lnTo>
                    <a:pt x="292" y="11147"/>
                  </a:lnTo>
                  <a:lnTo>
                    <a:pt x="486" y="11195"/>
                  </a:lnTo>
                  <a:lnTo>
                    <a:pt x="6156" y="11195"/>
                  </a:lnTo>
                  <a:lnTo>
                    <a:pt x="6350" y="11826"/>
                  </a:lnTo>
                  <a:lnTo>
                    <a:pt x="6592" y="12456"/>
                  </a:lnTo>
                  <a:lnTo>
                    <a:pt x="6931" y="13037"/>
                  </a:lnTo>
                  <a:lnTo>
                    <a:pt x="7416" y="13570"/>
                  </a:lnTo>
                  <a:lnTo>
                    <a:pt x="7707" y="13910"/>
                  </a:lnTo>
                  <a:lnTo>
                    <a:pt x="8095" y="14152"/>
                  </a:lnTo>
                  <a:lnTo>
                    <a:pt x="8434" y="14346"/>
                  </a:lnTo>
                  <a:lnTo>
                    <a:pt x="8822" y="14540"/>
                  </a:lnTo>
                  <a:lnTo>
                    <a:pt x="9258" y="14685"/>
                  </a:lnTo>
                  <a:lnTo>
                    <a:pt x="9645" y="14782"/>
                  </a:lnTo>
                  <a:lnTo>
                    <a:pt x="10082" y="14830"/>
                  </a:lnTo>
                  <a:lnTo>
                    <a:pt x="10518" y="14879"/>
                  </a:lnTo>
                  <a:lnTo>
                    <a:pt x="10954" y="14830"/>
                  </a:lnTo>
                  <a:lnTo>
                    <a:pt x="11439" y="14782"/>
                  </a:lnTo>
                  <a:lnTo>
                    <a:pt x="11875" y="14636"/>
                  </a:lnTo>
                  <a:lnTo>
                    <a:pt x="12311" y="14491"/>
                  </a:lnTo>
                  <a:lnTo>
                    <a:pt x="14734" y="16866"/>
                  </a:lnTo>
                  <a:lnTo>
                    <a:pt x="14977" y="17060"/>
                  </a:lnTo>
                  <a:lnTo>
                    <a:pt x="15219" y="17205"/>
                  </a:lnTo>
                  <a:lnTo>
                    <a:pt x="15510" y="17302"/>
                  </a:lnTo>
                  <a:lnTo>
                    <a:pt x="16091" y="17302"/>
                  </a:lnTo>
                  <a:lnTo>
                    <a:pt x="16382" y="17205"/>
                  </a:lnTo>
                  <a:lnTo>
                    <a:pt x="16624" y="17060"/>
                  </a:lnTo>
                  <a:lnTo>
                    <a:pt x="16867" y="16866"/>
                  </a:lnTo>
                  <a:lnTo>
                    <a:pt x="17061" y="16624"/>
                  </a:lnTo>
                  <a:lnTo>
                    <a:pt x="17206" y="16381"/>
                  </a:lnTo>
                  <a:lnTo>
                    <a:pt x="17303" y="16090"/>
                  </a:lnTo>
                  <a:lnTo>
                    <a:pt x="17303" y="15800"/>
                  </a:lnTo>
                  <a:lnTo>
                    <a:pt x="17303" y="15509"/>
                  </a:lnTo>
                  <a:lnTo>
                    <a:pt x="17206" y="15218"/>
                  </a:lnTo>
                  <a:lnTo>
                    <a:pt x="17061" y="14976"/>
                  </a:lnTo>
                  <a:lnTo>
                    <a:pt x="16867" y="14733"/>
                  </a:lnTo>
                  <a:lnTo>
                    <a:pt x="14492" y="12310"/>
                  </a:lnTo>
                  <a:lnTo>
                    <a:pt x="14637" y="11874"/>
                  </a:lnTo>
                  <a:lnTo>
                    <a:pt x="14783" y="11389"/>
                  </a:lnTo>
                  <a:lnTo>
                    <a:pt x="14831" y="10953"/>
                  </a:lnTo>
                  <a:lnTo>
                    <a:pt x="14880" y="10469"/>
                  </a:lnTo>
                  <a:lnTo>
                    <a:pt x="14880" y="485"/>
                  </a:lnTo>
                  <a:lnTo>
                    <a:pt x="14831" y="291"/>
                  </a:lnTo>
                  <a:lnTo>
                    <a:pt x="14734" y="146"/>
                  </a:lnTo>
                  <a:lnTo>
                    <a:pt x="145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5"/>
            <p:cNvSpPr/>
            <p:nvPr/>
          </p:nvSpPr>
          <p:spPr>
            <a:xfrm>
              <a:off x="3470114" y="2861843"/>
              <a:ext cx="23007" cy="23029"/>
            </a:xfrm>
            <a:custGeom>
              <a:avLst/>
              <a:gdLst/>
              <a:ahLst/>
              <a:cxnLst/>
              <a:rect l="l" t="t" r="r" b="b"/>
              <a:pathLst>
                <a:path w="1018" h="1019" extrusionOk="0">
                  <a:moveTo>
                    <a:pt x="485" y="1"/>
                  </a:moveTo>
                  <a:lnTo>
                    <a:pt x="291" y="49"/>
                  </a:lnTo>
                  <a:lnTo>
                    <a:pt x="146" y="146"/>
                  </a:lnTo>
                  <a:lnTo>
                    <a:pt x="49" y="292"/>
                  </a:lnTo>
                  <a:lnTo>
                    <a:pt x="0" y="486"/>
                  </a:lnTo>
                  <a:lnTo>
                    <a:pt x="49" y="679"/>
                  </a:lnTo>
                  <a:lnTo>
                    <a:pt x="146" y="873"/>
                  </a:lnTo>
                  <a:lnTo>
                    <a:pt x="291" y="970"/>
                  </a:lnTo>
                  <a:lnTo>
                    <a:pt x="485" y="1019"/>
                  </a:lnTo>
                  <a:lnTo>
                    <a:pt x="727" y="970"/>
                  </a:lnTo>
                  <a:lnTo>
                    <a:pt x="873" y="873"/>
                  </a:lnTo>
                  <a:lnTo>
                    <a:pt x="969" y="679"/>
                  </a:lnTo>
                  <a:lnTo>
                    <a:pt x="1018" y="486"/>
                  </a:lnTo>
                  <a:lnTo>
                    <a:pt x="969" y="292"/>
                  </a:lnTo>
                  <a:lnTo>
                    <a:pt x="873" y="146"/>
                  </a:lnTo>
                  <a:lnTo>
                    <a:pt x="727" y="49"/>
                  </a:lnTo>
                  <a:lnTo>
                    <a:pt x="48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5"/>
            <p:cNvSpPr/>
            <p:nvPr/>
          </p:nvSpPr>
          <p:spPr>
            <a:xfrm>
              <a:off x="3513913" y="2861843"/>
              <a:ext cx="23029" cy="23029"/>
            </a:xfrm>
            <a:custGeom>
              <a:avLst/>
              <a:gdLst/>
              <a:ahLst/>
              <a:cxnLst/>
              <a:rect l="l" t="t" r="r" b="b"/>
              <a:pathLst>
                <a:path w="1019" h="1019" extrusionOk="0">
                  <a:moveTo>
                    <a:pt x="485" y="1"/>
                  </a:moveTo>
                  <a:lnTo>
                    <a:pt x="292" y="49"/>
                  </a:lnTo>
                  <a:lnTo>
                    <a:pt x="146" y="146"/>
                  </a:lnTo>
                  <a:lnTo>
                    <a:pt x="49" y="292"/>
                  </a:lnTo>
                  <a:lnTo>
                    <a:pt x="1" y="486"/>
                  </a:lnTo>
                  <a:lnTo>
                    <a:pt x="49" y="679"/>
                  </a:lnTo>
                  <a:lnTo>
                    <a:pt x="146" y="873"/>
                  </a:lnTo>
                  <a:lnTo>
                    <a:pt x="292" y="970"/>
                  </a:lnTo>
                  <a:lnTo>
                    <a:pt x="485" y="1019"/>
                  </a:lnTo>
                  <a:lnTo>
                    <a:pt x="679" y="970"/>
                  </a:lnTo>
                  <a:lnTo>
                    <a:pt x="873" y="873"/>
                  </a:lnTo>
                  <a:lnTo>
                    <a:pt x="970" y="679"/>
                  </a:lnTo>
                  <a:lnTo>
                    <a:pt x="1019" y="486"/>
                  </a:lnTo>
                  <a:lnTo>
                    <a:pt x="970" y="292"/>
                  </a:lnTo>
                  <a:lnTo>
                    <a:pt x="873" y="146"/>
                  </a:lnTo>
                  <a:lnTo>
                    <a:pt x="679" y="49"/>
                  </a:lnTo>
                  <a:lnTo>
                    <a:pt x="48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5"/>
            <p:cNvSpPr/>
            <p:nvPr/>
          </p:nvSpPr>
          <p:spPr>
            <a:xfrm>
              <a:off x="3557735" y="2861843"/>
              <a:ext cx="23029" cy="23029"/>
            </a:xfrm>
            <a:custGeom>
              <a:avLst/>
              <a:gdLst/>
              <a:ahLst/>
              <a:cxnLst/>
              <a:rect l="l" t="t" r="r" b="b"/>
              <a:pathLst>
                <a:path w="1019" h="1019" extrusionOk="0">
                  <a:moveTo>
                    <a:pt x="533" y="1"/>
                  </a:moveTo>
                  <a:lnTo>
                    <a:pt x="340" y="49"/>
                  </a:lnTo>
                  <a:lnTo>
                    <a:pt x="146" y="146"/>
                  </a:lnTo>
                  <a:lnTo>
                    <a:pt x="49" y="292"/>
                  </a:lnTo>
                  <a:lnTo>
                    <a:pt x="0" y="486"/>
                  </a:lnTo>
                  <a:lnTo>
                    <a:pt x="49" y="679"/>
                  </a:lnTo>
                  <a:lnTo>
                    <a:pt x="146" y="873"/>
                  </a:lnTo>
                  <a:lnTo>
                    <a:pt x="340" y="970"/>
                  </a:lnTo>
                  <a:lnTo>
                    <a:pt x="533" y="1019"/>
                  </a:lnTo>
                  <a:lnTo>
                    <a:pt x="727" y="970"/>
                  </a:lnTo>
                  <a:lnTo>
                    <a:pt x="873" y="873"/>
                  </a:lnTo>
                  <a:lnTo>
                    <a:pt x="970" y="679"/>
                  </a:lnTo>
                  <a:lnTo>
                    <a:pt x="1018" y="486"/>
                  </a:lnTo>
                  <a:lnTo>
                    <a:pt x="970" y="292"/>
                  </a:lnTo>
                  <a:lnTo>
                    <a:pt x="873" y="146"/>
                  </a:lnTo>
                  <a:lnTo>
                    <a:pt x="727" y="49"/>
                  </a:lnTo>
                  <a:lnTo>
                    <a:pt x="5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5"/>
            <p:cNvSpPr/>
            <p:nvPr/>
          </p:nvSpPr>
          <p:spPr>
            <a:xfrm>
              <a:off x="3509529" y="2681133"/>
              <a:ext cx="23029" cy="23007"/>
            </a:xfrm>
            <a:custGeom>
              <a:avLst/>
              <a:gdLst/>
              <a:ahLst/>
              <a:cxnLst/>
              <a:rect l="l" t="t" r="r" b="b"/>
              <a:pathLst>
                <a:path w="1019" h="1018" extrusionOk="0">
                  <a:moveTo>
                    <a:pt x="534" y="0"/>
                  </a:moveTo>
                  <a:lnTo>
                    <a:pt x="340" y="49"/>
                  </a:lnTo>
                  <a:lnTo>
                    <a:pt x="146" y="194"/>
                  </a:lnTo>
                  <a:lnTo>
                    <a:pt x="49" y="339"/>
                  </a:lnTo>
                  <a:lnTo>
                    <a:pt x="1" y="533"/>
                  </a:lnTo>
                  <a:lnTo>
                    <a:pt x="49" y="727"/>
                  </a:lnTo>
                  <a:lnTo>
                    <a:pt x="146" y="873"/>
                  </a:lnTo>
                  <a:lnTo>
                    <a:pt x="340" y="1018"/>
                  </a:lnTo>
                  <a:lnTo>
                    <a:pt x="728" y="1018"/>
                  </a:lnTo>
                  <a:lnTo>
                    <a:pt x="873" y="873"/>
                  </a:lnTo>
                  <a:lnTo>
                    <a:pt x="970" y="727"/>
                  </a:lnTo>
                  <a:lnTo>
                    <a:pt x="1019" y="533"/>
                  </a:lnTo>
                  <a:lnTo>
                    <a:pt x="970" y="339"/>
                  </a:lnTo>
                  <a:lnTo>
                    <a:pt x="873" y="194"/>
                  </a:lnTo>
                  <a:lnTo>
                    <a:pt x="728" y="49"/>
                  </a:lnTo>
                  <a:lnTo>
                    <a:pt x="5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5"/>
            <p:cNvSpPr/>
            <p:nvPr/>
          </p:nvSpPr>
          <p:spPr>
            <a:xfrm>
              <a:off x="3555542" y="2681133"/>
              <a:ext cx="23029" cy="23007"/>
            </a:xfrm>
            <a:custGeom>
              <a:avLst/>
              <a:gdLst/>
              <a:ahLst/>
              <a:cxnLst/>
              <a:rect l="l" t="t" r="r" b="b"/>
              <a:pathLst>
                <a:path w="1019" h="1018" extrusionOk="0">
                  <a:moveTo>
                    <a:pt x="534" y="0"/>
                  </a:moveTo>
                  <a:lnTo>
                    <a:pt x="340" y="49"/>
                  </a:lnTo>
                  <a:lnTo>
                    <a:pt x="146" y="194"/>
                  </a:lnTo>
                  <a:lnTo>
                    <a:pt x="49" y="339"/>
                  </a:lnTo>
                  <a:lnTo>
                    <a:pt x="0" y="533"/>
                  </a:lnTo>
                  <a:lnTo>
                    <a:pt x="49" y="727"/>
                  </a:lnTo>
                  <a:lnTo>
                    <a:pt x="146" y="873"/>
                  </a:lnTo>
                  <a:lnTo>
                    <a:pt x="340" y="1018"/>
                  </a:lnTo>
                  <a:lnTo>
                    <a:pt x="727" y="1018"/>
                  </a:lnTo>
                  <a:lnTo>
                    <a:pt x="873" y="873"/>
                  </a:lnTo>
                  <a:lnTo>
                    <a:pt x="970" y="727"/>
                  </a:lnTo>
                  <a:lnTo>
                    <a:pt x="1018" y="533"/>
                  </a:lnTo>
                  <a:lnTo>
                    <a:pt x="970" y="339"/>
                  </a:lnTo>
                  <a:lnTo>
                    <a:pt x="873" y="194"/>
                  </a:lnTo>
                  <a:lnTo>
                    <a:pt x="727" y="49"/>
                  </a:lnTo>
                  <a:lnTo>
                    <a:pt x="5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2479930" y="3205534"/>
            <a:ext cx="391048" cy="391048"/>
            <a:chOff x="3968467" y="2636227"/>
            <a:chExt cx="391048" cy="391048"/>
          </a:xfrm>
        </p:grpSpPr>
        <p:sp>
          <p:nvSpPr>
            <p:cNvPr id="413" name="Google Shape;413;p35"/>
            <p:cNvSpPr/>
            <p:nvPr/>
          </p:nvSpPr>
          <p:spPr>
            <a:xfrm>
              <a:off x="3968467" y="2636227"/>
              <a:ext cx="113949" cy="391048"/>
            </a:xfrm>
            <a:custGeom>
              <a:avLst/>
              <a:gdLst/>
              <a:ahLst/>
              <a:cxnLst/>
              <a:rect l="l" t="t" r="r" b="b"/>
              <a:pathLst>
                <a:path w="5042" h="17303" extrusionOk="0">
                  <a:moveTo>
                    <a:pt x="3539" y="969"/>
                  </a:moveTo>
                  <a:lnTo>
                    <a:pt x="3733" y="1018"/>
                  </a:lnTo>
                  <a:lnTo>
                    <a:pt x="3878" y="1115"/>
                  </a:lnTo>
                  <a:lnTo>
                    <a:pt x="4023" y="1309"/>
                  </a:lnTo>
                  <a:lnTo>
                    <a:pt x="4023" y="1503"/>
                  </a:lnTo>
                  <a:lnTo>
                    <a:pt x="4023" y="2326"/>
                  </a:lnTo>
                  <a:lnTo>
                    <a:pt x="1019" y="2326"/>
                  </a:lnTo>
                  <a:lnTo>
                    <a:pt x="1019" y="1503"/>
                  </a:lnTo>
                  <a:lnTo>
                    <a:pt x="1019" y="1309"/>
                  </a:lnTo>
                  <a:lnTo>
                    <a:pt x="1115" y="1115"/>
                  </a:lnTo>
                  <a:lnTo>
                    <a:pt x="1309" y="1018"/>
                  </a:lnTo>
                  <a:lnTo>
                    <a:pt x="1503" y="969"/>
                  </a:lnTo>
                  <a:close/>
                  <a:moveTo>
                    <a:pt x="2036" y="3344"/>
                  </a:moveTo>
                  <a:lnTo>
                    <a:pt x="2036" y="12552"/>
                  </a:lnTo>
                  <a:lnTo>
                    <a:pt x="1019" y="12552"/>
                  </a:lnTo>
                  <a:lnTo>
                    <a:pt x="1019" y="3344"/>
                  </a:lnTo>
                  <a:close/>
                  <a:moveTo>
                    <a:pt x="4023" y="3344"/>
                  </a:moveTo>
                  <a:lnTo>
                    <a:pt x="4023" y="12552"/>
                  </a:lnTo>
                  <a:lnTo>
                    <a:pt x="3054" y="12552"/>
                  </a:lnTo>
                  <a:lnTo>
                    <a:pt x="3054" y="3344"/>
                  </a:lnTo>
                  <a:close/>
                  <a:moveTo>
                    <a:pt x="3684" y="13570"/>
                  </a:moveTo>
                  <a:lnTo>
                    <a:pt x="2569" y="15751"/>
                  </a:lnTo>
                  <a:lnTo>
                    <a:pt x="1358" y="13570"/>
                  </a:lnTo>
                  <a:close/>
                  <a:moveTo>
                    <a:pt x="1164" y="0"/>
                  </a:moveTo>
                  <a:lnTo>
                    <a:pt x="922" y="97"/>
                  </a:lnTo>
                  <a:lnTo>
                    <a:pt x="631" y="242"/>
                  </a:lnTo>
                  <a:lnTo>
                    <a:pt x="437" y="436"/>
                  </a:lnTo>
                  <a:lnTo>
                    <a:pt x="243" y="630"/>
                  </a:lnTo>
                  <a:lnTo>
                    <a:pt x="98" y="872"/>
                  </a:lnTo>
                  <a:lnTo>
                    <a:pt x="1" y="1163"/>
                  </a:lnTo>
                  <a:lnTo>
                    <a:pt x="1" y="1503"/>
                  </a:lnTo>
                  <a:lnTo>
                    <a:pt x="1" y="13086"/>
                  </a:lnTo>
                  <a:lnTo>
                    <a:pt x="1" y="13231"/>
                  </a:lnTo>
                  <a:lnTo>
                    <a:pt x="49" y="13328"/>
                  </a:lnTo>
                  <a:lnTo>
                    <a:pt x="2133" y="17060"/>
                  </a:lnTo>
                  <a:lnTo>
                    <a:pt x="2182" y="17157"/>
                  </a:lnTo>
                  <a:lnTo>
                    <a:pt x="2279" y="17254"/>
                  </a:lnTo>
                  <a:lnTo>
                    <a:pt x="2424" y="17302"/>
                  </a:lnTo>
                  <a:lnTo>
                    <a:pt x="2715" y="17302"/>
                  </a:lnTo>
                  <a:lnTo>
                    <a:pt x="2812" y="17254"/>
                  </a:lnTo>
                  <a:lnTo>
                    <a:pt x="2909" y="17157"/>
                  </a:lnTo>
                  <a:lnTo>
                    <a:pt x="3006" y="17060"/>
                  </a:lnTo>
                  <a:lnTo>
                    <a:pt x="4993" y="13328"/>
                  </a:lnTo>
                  <a:lnTo>
                    <a:pt x="5041" y="13231"/>
                  </a:lnTo>
                  <a:lnTo>
                    <a:pt x="5041" y="13086"/>
                  </a:lnTo>
                  <a:lnTo>
                    <a:pt x="5041" y="1503"/>
                  </a:lnTo>
                  <a:lnTo>
                    <a:pt x="5041" y="1163"/>
                  </a:lnTo>
                  <a:lnTo>
                    <a:pt x="4944" y="872"/>
                  </a:lnTo>
                  <a:lnTo>
                    <a:pt x="4799" y="630"/>
                  </a:lnTo>
                  <a:lnTo>
                    <a:pt x="4605" y="436"/>
                  </a:lnTo>
                  <a:lnTo>
                    <a:pt x="4411" y="242"/>
                  </a:lnTo>
                  <a:lnTo>
                    <a:pt x="4120" y="97"/>
                  </a:lnTo>
                  <a:lnTo>
                    <a:pt x="38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5"/>
            <p:cNvSpPr/>
            <p:nvPr/>
          </p:nvSpPr>
          <p:spPr>
            <a:xfrm>
              <a:off x="4105378" y="2636227"/>
              <a:ext cx="254137" cy="391048"/>
            </a:xfrm>
            <a:custGeom>
              <a:avLst/>
              <a:gdLst/>
              <a:ahLst/>
              <a:cxnLst/>
              <a:rect l="l" t="t" r="r" b="b"/>
              <a:pathLst>
                <a:path w="11245" h="17303" extrusionOk="0">
                  <a:moveTo>
                    <a:pt x="2957" y="14346"/>
                  </a:moveTo>
                  <a:lnTo>
                    <a:pt x="2957" y="15606"/>
                  </a:lnTo>
                  <a:lnTo>
                    <a:pt x="1746" y="14346"/>
                  </a:lnTo>
                  <a:close/>
                  <a:moveTo>
                    <a:pt x="10227" y="969"/>
                  </a:moveTo>
                  <a:lnTo>
                    <a:pt x="10227" y="16284"/>
                  </a:lnTo>
                  <a:lnTo>
                    <a:pt x="3975" y="16284"/>
                  </a:lnTo>
                  <a:lnTo>
                    <a:pt x="3975" y="13861"/>
                  </a:lnTo>
                  <a:lnTo>
                    <a:pt x="3975" y="13667"/>
                  </a:lnTo>
                  <a:lnTo>
                    <a:pt x="3830" y="13473"/>
                  </a:lnTo>
                  <a:lnTo>
                    <a:pt x="3684" y="13376"/>
                  </a:lnTo>
                  <a:lnTo>
                    <a:pt x="3490" y="13328"/>
                  </a:lnTo>
                  <a:lnTo>
                    <a:pt x="1019" y="13328"/>
                  </a:lnTo>
                  <a:lnTo>
                    <a:pt x="1019" y="969"/>
                  </a:lnTo>
                  <a:close/>
                  <a:moveTo>
                    <a:pt x="340" y="0"/>
                  </a:moveTo>
                  <a:lnTo>
                    <a:pt x="146" y="146"/>
                  </a:lnTo>
                  <a:lnTo>
                    <a:pt x="49" y="291"/>
                  </a:lnTo>
                  <a:lnTo>
                    <a:pt x="1" y="485"/>
                  </a:lnTo>
                  <a:lnTo>
                    <a:pt x="1" y="13861"/>
                  </a:lnTo>
                  <a:lnTo>
                    <a:pt x="49" y="14055"/>
                  </a:lnTo>
                  <a:lnTo>
                    <a:pt x="146" y="14200"/>
                  </a:lnTo>
                  <a:lnTo>
                    <a:pt x="3151" y="17157"/>
                  </a:lnTo>
                  <a:lnTo>
                    <a:pt x="3297" y="17302"/>
                  </a:lnTo>
                  <a:lnTo>
                    <a:pt x="10954" y="17302"/>
                  </a:lnTo>
                  <a:lnTo>
                    <a:pt x="11099" y="17157"/>
                  </a:lnTo>
                  <a:lnTo>
                    <a:pt x="11245" y="17011"/>
                  </a:lnTo>
                  <a:lnTo>
                    <a:pt x="11245" y="16817"/>
                  </a:lnTo>
                  <a:lnTo>
                    <a:pt x="11245" y="485"/>
                  </a:lnTo>
                  <a:lnTo>
                    <a:pt x="11245" y="291"/>
                  </a:lnTo>
                  <a:lnTo>
                    <a:pt x="11099" y="146"/>
                  </a:lnTo>
                  <a:lnTo>
                    <a:pt x="1095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5"/>
            <p:cNvSpPr/>
            <p:nvPr/>
          </p:nvSpPr>
          <p:spPr>
            <a:xfrm>
              <a:off x="4151391" y="2845413"/>
              <a:ext cx="162132" cy="69043"/>
            </a:xfrm>
            <a:custGeom>
              <a:avLst/>
              <a:gdLst/>
              <a:ahLst/>
              <a:cxnLst/>
              <a:rect l="l" t="t" r="r" b="b"/>
              <a:pathLst>
                <a:path w="7174" h="3055" extrusionOk="0">
                  <a:moveTo>
                    <a:pt x="6155" y="1019"/>
                  </a:moveTo>
                  <a:lnTo>
                    <a:pt x="6155" y="2036"/>
                  </a:lnTo>
                  <a:lnTo>
                    <a:pt x="1018" y="2036"/>
                  </a:lnTo>
                  <a:lnTo>
                    <a:pt x="1018" y="1019"/>
                  </a:lnTo>
                  <a:close/>
                  <a:moveTo>
                    <a:pt x="340" y="1"/>
                  </a:moveTo>
                  <a:lnTo>
                    <a:pt x="146" y="146"/>
                  </a:lnTo>
                  <a:lnTo>
                    <a:pt x="49" y="292"/>
                  </a:lnTo>
                  <a:lnTo>
                    <a:pt x="0" y="486"/>
                  </a:lnTo>
                  <a:lnTo>
                    <a:pt x="0" y="2521"/>
                  </a:lnTo>
                  <a:lnTo>
                    <a:pt x="49" y="2715"/>
                  </a:lnTo>
                  <a:lnTo>
                    <a:pt x="146" y="2860"/>
                  </a:lnTo>
                  <a:lnTo>
                    <a:pt x="340" y="3006"/>
                  </a:lnTo>
                  <a:lnTo>
                    <a:pt x="534" y="3054"/>
                  </a:lnTo>
                  <a:lnTo>
                    <a:pt x="6689" y="3054"/>
                  </a:lnTo>
                  <a:lnTo>
                    <a:pt x="6882" y="3006"/>
                  </a:lnTo>
                  <a:lnTo>
                    <a:pt x="7028" y="2860"/>
                  </a:lnTo>
                  <a:lnTo>
                    <a:pt x="7173" y="2715"/>
                  </a:lnTo>
                  <a:lnTo>
                    <a:pt x="7173" y="2521"/>
                  </a:lnTo>
                  <a:lnTo>
                    <a:pt x="7173" y="486"/>
                  </a:lnTo>
                  <a:lnTo>
                    <a:pt x="7173" y="292"/>
                  </a:lnTo>
                  <a:lnTo>
                    <a:pt x="7028" y="146"/>
                  </a:lnTo>
                  <a:lnTo>
                    <a:pt x="68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5"/>
            <p:cNvSpPr/>
            <p:nvPr/>
          </p:nvSpPr>
          <p:spPr>
            <a:xfrm>
              <a:off x="4244481" y="2781884"/>
              <a:ext cx="69043" cy="23029"/>
            </a:xfrm>
            <a:custGeom>
              <a:avLst/>
              <a:gdLst/>
              <a:ahLst/>
              <a:cxnLst/>
              <a:rect l="l" t="t" r="r" b="b"/>
              <a:pathLst>
                <a:path w="3055" h="1019" extrusionOk="0">
                  <a:moveTo>
                    <a:pt x="486" y="1"/>
                  </a:moveTo>
                  <a:lnTo>
                    <a:pt x="292" y="49"/>
                  </a:lnTo>
                  <a:lnTo>
                    <a:pt x="146" y="146"/>
                  </a:lnTo>
                  <a:lnTo>
                    <a:pt x="49" y="292"/>
                  </a:lnTo>
                  <a:lnTo>
                    <a:pt x="1" y="486"/>
                  </a:lnTo>
                  <a:lnTo>
                    <a:pt x="49" y="728"/>
                  </a:lnTo>
                  <a:lnTo>
                    <a:pt x="146" y="873"/>
                  </a:lnTo>
                  <a:lnTo>
                    <a:pt x="292" y="970"/>
                  </a:lnTo>
                  <a:lnTo>
                    <a:pt x="486" y="1019"/>
                  </a:lnTo>
                  <a:lnTo>
                    <a:pt x="2570" y="1019"/>
                  </a:lnTo>
                  <a:lnTo>
                    <a:pt x="2763" y="970"/>
                  </a:lnTo>
                  <a:lnTo>
                    <a:pt x="2909" y="873"/>
                  </a:lnTo>
                  <a:lnTo>
                    <a:pt x="3054" y="728"/>
                  </a:lnTo>
                  <a:lnTo>
                    <a:pt x="3054" y="486"/>
                  </a:lnTo>
                  <a:lnTo>
                    <a:pt x="3054" y="292"/>
                  </a:lnTo>
                  <a:lnTo>
                    <a:pt x="2909" y="146"/>
                  </a:lnTo>
                  <a:lnTo>
                    <a:pt x="2763" y="49"/>
                  </a:lnTo>
                  <a:lnTo>
                    <a:pt x="25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5"/>
            <p:cNvSpPr/>
            <p:nvPr/>
          </p:nvSpPr>
          <p:spPr>
            <a:xfrm>
              <a:off x="4244481" y="2731509"/>
              <a:ext cx="69043" cy="23029"/>
            </a:xfrm>
            <a:custGeom>
              <a:avLst/>
              <a:gdLst/>
              <a:ahLst/>
              <a:cxnLst/>
              <a:rect l="l" t="t" r="r" b="b"/>
              <a:pathLst>
                <a:path w="3055" h="1019" extrusionOk="0">
                  <a:moveTo>
                    <a:pt x="486" y="1"/>
                  </a:moveTo>
                  <a:lnTo>
                    <a:pt x="292" y="49"/>
                  </a:lnTo>
                  <a:lnTo>
                    <a:pt x="146" y="146"/>
                  </a:lnTo>
                  <a:lnTo>
                    <a:pt x="49" y="340"/>
                  </a:lnTo>
                  <a:lnTo>
                    <a:pt x="1" y="534"/>
                  </a:lnTo>
                  <a:lnTo>
                    <a:pt x="49" y="728"/>
                  </a:lnTo>
                  <a:lnTo>
                    <a:pt x="146" y="873"/>
                  </a:lnTo>
                  <a:lnTo>
                    <a:pt x="292" y="970"/>
                  </a:lnTo>
                  <a:lnTo>
                    <a:pt x="486" y="1018"/>
                  </a:lnTo>
                  <a:lnTo>
                    <a:pt x="2570" y="1018"/>
                  </a:lnTo>
                  <a:lnTo>
                    <a:pt x="2763" y="970"/>
                  </a:lnTo>
                  <a:lnTo>
                    <a:pt x="2909" y="873"/>
                  </a:lnTo>
                  <a:lnTo>
                    <a:pt x="3054" y="728"/>
                  </a:lnTo>
                  <a:lnTo>
                    <a:pt x="3054" y="534"/>
                  </a:lnTo>
                  <a:lnTo>
                    <a:pt x="3054" y="340"/>
                  </a:lnTo>
                  <a:lnTo>
                    <a:pt x="2909" y="146"/>
                  </a:lnTo>
                  <a:lnTo>
                    <a:pt x="2763" y="49"/>
                  </a:lnTo>
                  <a:lnTo>
                    <a:pt x="25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5"/>
            <p:cNvSpPr/>
            <p:nvPr/>
          </p:nvSpPr>
          <p:spPr>
            <a:xfrm>
              <a:off x="4244481" y="2681133"/>
              <a:ext cx="69043" cy="23007"/>
            </a:xfrm>
            <a:custGeom>
              <a:avLst/>
              <a:gdLst/>
              <a:ahLst/>
              <a:cxnLst/>
              <a:rect l="l" t="t" r="r" b="b"/>
              <a:pathLst>
                <a:path w="3055" h="1018" extrusionOk="0">
                  <a:moveTo>
                    <a:pt x="486" y="0"/>
                  </a:moveTo>
                  <a:lnTo>
                    <a:pt x="292" y="49"/>
                  </a:lnTo>
                  <a:lnTo>
                    <a:pt x="146" y="194"/>
                  </a:lnTo>
                  <a:lnTo>
                    <a:pt x="49" y="339"/>
                  </a:lnTo>
                  <a:lnTo>
                    <a:pt x="1" y="533"/>
                  </a:lnTo>
                  <a:lnTo>
                    <a:pt x="49" y="727"/>
                  </a:lnTo>
                  <a:lnTo>
                    <a:pt x="146" y="873"/>
                  </a:lnTo>
                  <a:lnTo>
                    <a:pt x="292" y="1018"/>
                  </a:lnTo>
                  <a:lnTo>
                    <a:pt x="2763" y="1018"/>
                  </a:lnTo>
                  <a:lnTo>
                    <a:pt x="2909" y="873"/>
                  </a:lnTo>
                  <a:lnTo>
                    <a:pt x="3054" y="727"/>
                  </a:lnTo>
                  <a:lnTo>
                    <a:pt x="3054" y="533"/>
                  </a:lnTo>
                  <a:lnTo>
                    <a:pt x="3054" y="339"/>
                  </a:lnTo>
                  <a:lnTo>
                    <a:pt x="2909" y="194"/>
                  </a:lnTo>
                  <a:lnTo>
                    <a:pt x="2763" y="49"/>
                  </a:lnTo>
                  <a:lnTo>
                    <a:pt x="25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5"/>
            <p:cNvSpPr/>
            <p:nvPr/>
          </p:nvSpPr>
          <p:spPr>
            <a:xfrm>
              <a:off x="4151391" y="2681133"/>
              <a:ext cx="73405" cy="54782"/>
            </a:xfrm>
            <a:custGeom>
              <a:avLst/>
              <a:gdLst/>
              <a:ahLst/>
              <a:cxnLst/>
              <a:rect l="l" t="t" r="r" b="b"/>
              <a:pathLst>
                <a:path w="3248" h="2424" extrusionOk="0">
                  <a:moveTo>
                    <a:pt x="2714" y="0"/>
                  </a:moveTo>
                  <a:lnTo>
                    <a:pt x="2521" y="49"/>
                  </a:lnTo>
                  <a:lnTo>
                    <a:pt x="2375" y="194"/>
                  </a:lnTo>
                  <a:lnTo>
                    <a:pt x="1357" y="1212"/>
                  </a:lnTo>
                  <a:lnTo>
                    <a:pt x="873" y="727"/>
                  </a:lnTo>
                  <a:lnTo>
                    <a:pt x="727" y="630"/>
                  </a:lnTo>
                  <a:lnTo>
                    <a:pt x="534" y="582"/>
                  </a:lnTo>
                  <a:lnTo>
                    <a:pt x="340" y="630"/>
                  </a:lnTo>
                  <a:lnTo>
                    <a:pt x="146" y="727"/>
                  </a:lnTo>
                  <a:lnTo>
                    <a:pt x="49" y="921"/>
                  </a:lnTo>
                  <a:lnTo>
                    <a:pt x="0" y="1115"/>
                  </a:lnTo>
                  <a:lnTo>
                    <a:pt x="49" y="1309"/>
                  </a:lnTo>
                  <a:lnTo>
                    <a:pt x="146" y="1454"/>
                  </a:lnTo>
                  <a:lnTo>
                    <a:pt x="970" y="2278"/>
                  </a:lnTo>
                  <a:lnTo>
                    <a:pt x="1164" y="2375"/>
                  </a:lnTo>
                  <a:lnTo>
                    <a:pt x="1357" y="2423"/>
                  </a:lnTo>
                  <a:lnTo>
                    <a:pt x="1503" y="2375"/>
                  </a:lnTo>
                  <a:lnTo>
                    <a:pt x="1697" y="2278"/>
                  </a:lnTo>
                  <a:lnTo>
                    <a:pt x="3102" y="873"/>
                  </a:lnTo>
                  <a:lnTo>
                    <a:pt x="3199" y="727"/>
                  </a:lnTo>
                  <a:lnTo>
                    <a:pt x="3248" y="533"/>
                  </a:lnTo>
                  <a:lnTo>
                    <a:pt x="3199" y="339"/>
                  </a:lnTo>
                  <a:lnTo>
                    <a:pt x="3102" y="194"/>
                  </a:lnTo>
                  <a:lnTo>
                    <a:pt x="2908" y="49"/>
                  </a:lnTo>
                  <a:lnTo>
                    <a:pt x="27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5"/>
            <p:cNvSpPr/>
            <p:nvPr/>
          </p:nvSpPr>
          <p:spPr>
            <a:xfrm>
              <a:off x="4151391" y="2750131"/>
              <a:ext cx="73405" cy="54782"/>
            </a:xfrm>
            <a:custGeom>
              <a:avLst/>
              <a:gdLst/>
              <a:ahLst/>
              <a:cxnLst/>
              <a:rect l="l" t="t" r="r" b="b"/>
              <a:pathLst>
                <a:path w="3248" h="2424" extrusionOk="0">
                  <a:moveTo>
                    <a:pt x="2714" y="0"/>
                  </a:moveTo>
                  <a:lnTo>
                    <a:pt x="2521" y="49"/>
                  </a:lnTo>
                  <a:lnTo>
                    <a:pt x="2375" y="146"/>
                  </a:lnTo>
                  <a:lnTo>
                    <a:pt x="1357" y="1212"/>
                  </a:lnTo>
                  <a:lnTo>
                    <a:pt x="873" y="727"/>
                  </a:lnTo>
                  <a:lnTo>
                    <a:pt x="727" y="630"/>
                  </a:lnTo>
                  <a:lnTo>
                    <a:pt x="534" y="582"/>
                  </a:lnTo>
                  <a:lnTo>
                    <a:pt x="340" y="630"/>
                  </a:lnTo>
                  <a:lnTo>
                    <a:pt x="146" y="727"/>
                  </a:lnTo>
                  <a:lnTo>
                    <a:pt x="49" y="921"/>
                  </a:lnTo>
                  <a:lnTo>
                    <a:pt x="0" y="1115"/>
                  </a:lnTo>
                  <a:lnTo>
                    <a:pt x="49" y="1309"/>
                  </a:lnTo>
                  <a:lnTo>
                    <a:pt x="146" y="1454"/>
                  </a:lnTo>
                  <a:lnTo>
                    <a:pt x="970" y="2278"/>
                  </a:lnTo>
                  <a:lnTo>
                    <a:pt x="1164" y="2375"/>
                  </a:lnTo>
                  <a:lnTo>
                    <a:pt x="1357" y="2424"/>
                  </a:lnTo>
                  <a:lnTo>
                    <a:pt x="1503" y="2375"/>
                  </a:lnTo>
                  <a:lnTo>
                    <a:pt x="1697" y="2278"/>
                  </a:lnTo>
                  <a:lnTo>
                    <a:pt x="3102" y="873"/>
                  </a:lnTo>
                  <a:lnTo>
                    <a:pt x="3199" y="727"/>
                  </a:lnTo>
                  <a:lnTo>
                    <a:pt x="3248" y="534"/>
                  </a:lnTo>
                  <a:lnTo>
                    <a:pt x="3199" y="340"/>
                  </a:lnTo>
                  <a:lnTo>
                    <a:pt x="3102" y="146"/>
                  </a:lnTo>
                  <a:lnTo>
                    <a:pt x="2908" y="49"/>
                  </a:lnTo>
                  <a:lnTo>
                    <a:pt x="27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1" name="Google Shape;421;p35"/>
          <p:cNvGrpSpPr/>
          <p:nvPr/>
        </p:nvGrpSpPr>
        <p:grpSpPr>
          <a:xfrm>
            <a:off x="7868181" y="1642050"/>
            <a:ext cx="392133" cy="392155"/>
            <a:chOff x="6018897" y="2635120"/>
            <a:chExt cx="392133" cy="392155"/>
          </a:xfrm>
        </p:grpSpPr>
        <p:sp>
          <p:nvSpPr>
            <p:cNvPr id="422" name="Google Shape;422;p35"/>
            <p:cNvSpPr/>
            <p:nvPr/>
          </p:nvSpPr>
          <p:spPr>
            <a:xfrm>
              <a:off x="6181007" y="2797229"/>
              <a:ext cx="69020" cy="69020"/>
            </a:xfrm>
            <a:custGeom>
              <a:avLst/>
              <a:gdLst/>
              <a:ahLst/>
              <a:cxnLst/>
              <a:rect l="l" t="t" r="r" b="b"/>
              <a:pathLst>
                <a:path w="3054" h="3054" extrusionOk="0">
                  <a:moveTo>
                    <a:pt x="1503" y="1018"/>
                  </a:moveTo>
                  <a:lnTo>
                    <a:pt x="1696" y="1067"/>
                  </a:lnTo>
                  <a:lnTo>
                    <a:pt x="1890" y="1164"/>
                  </a:lnTo>
                  <a:lnTo>
                    <a:pt x="1987" y="1309"/>
                  </a:lnTo>
                  <a:lnTo>
                    <a:pt x="2036" y="1503"/>
                  </a:lnTo>
                  <a:lnTo>
                    <a:pt x="1987" y="1697"/>
                  </a:lnTo>
                  <a:lnTo>
                    <a:pt x="1890" y="1891"/>
                  </a:lnTo>
                  <a:lnTo>
                    <a:pt x="1696" y="1987"/>
                  </a:lnTo>
                  <a:lnTo>
                    <a:pt x="1503" y="2036"/>
                  </a:lnTo>
                  <a:lnTo>
                    <a:pt x="1309" y="1987"/>
                  </a:lnTo>
                  <a:lnTo>
                    <a:pt x="1163" y="1891"/>
                  </a:lnTo>
                  <a:lnTo>
                    <a:pt x="1066" y="1697"/>
                  </a:lnTo>
                  <a:lnTo>
                    <a:pt x="1018" y="1503"/>
                  </a:lnTo>
                  <a:lnTo>
                    <a:pt x="1066" y="1309"/>
                  </a:lnTo>
                  <a:lnTo>
                    <a:pt x="1163" y="1164"/>
                  </a:lnTo>
                  <a:lnTo>
                    <a:pt x="1309" y="1067"/>
                  </a:lnTo>
                  <a:lnTo>
                    <a:pt x="1503" y="1018"/>
                  </a:lnTo>
                  <a:close/>
                  <a:moveTo>
                    <a:pt x="1212" y="0"/>
                  </a:moveTo>
                  <a:lnTo>
                    <a:pt x="921" y="97"/>
                  </a:lnTo>
                  <a:lnTo>
                    <a:pt x="679" y="243"/>
                  </a:lnTo>
                  <a:lnTo>
                    <a:pt x="436" y="437"/>
                  </a:lnTo>
                  <a:lnTo>
                    <a:pt x="243" y="679"/>
                  </a:lnTo>
                  <a:lnTo>
                    <a:pt x="97" y="921"/>
                  </a:lnTo>
                  <a:lnTo>
                    <a:pt x="49" y="1212"/>
                  </a:lnTo>
                  <a:lnTo>
                    <a:pt x="0" y="1503"/>
                  </a:lnTo>
                  <a:lnTo>
                    <a:pt x="49" y="1842"/>
                  </a:lnTo>
                  <a:lnTo>
                    <a:pt x="97" y="2084"/>
                  </a:lnTo>
                  <a:lnTo>
                    <a:pt x="243" y="2375"/>
                  </a:lnTo>
                  <a:lnTo>
                    <a:pt x="436" y="2569"/>
                  </a:lnTo>
                  <a:lnTo>
                    <a:pt x="679" y="2763"/>
                  </a:lnTo>
                  <a:lnTo>
                    <a:pt x="921" y="2908"/>
                  </a:lnTo>
                  <a:lnTo>
                    <a:pt x="1212" y="3005"/>
                  </a:lnTo>
                  <a:lnTo>
                    <a:pt x="1503" y="3054"/>
                  </a:lnTo>
                  <a:lnTo>
                    <a:pt x="1842" y="3005"/>
                  </a:lnTo>
                  <a:lnTo>
                    <a:pt x="2133" y="2908"/>
                  </a:lnTo>
                  <a:lnTo>
                    <a:pt x="2375" y="2763"/>
                  </a:lnTo>
                  <a:lnTo>
                    <a:pt x="2617" y="2569"/>
                  </a:lnTo>
                  <a:lnTo>
                    <a:pt x="2763" y="2375"/>
                  </a:lnTo>
                  <a:lnTo>
                    <a:pt x="2908" y="2084"/>
                  </a:lnTo>
                  <a:lnTo>
                    <a:pt x="3005" y="1842"/>
                  </a:lnTo>
                  <a:lnTo>
                    <a:pt x="3053" y="1503"/>
                  </a:lnTo>
                  <a:lnTo>
                    <a:pt x="3005" y="1212"/>
                  </a:lnTo>
                  <a:lnTo>
                    <a:pt x="2908" y="921"/>
                  </a:lnTo>
                  <a:lnTo>
                    <a:pt x="2763" y="679"/>
                  </a:lnTo>
                  <a:lnTo>
                    <a:pt x="2617" y="437"/>
                  </a:lnTo>
                  <a:lnTo>
                    <a:pt x="2375" y="243"/>
                  </a:lnTo>
                  <a:lnTo>
                    <a:pt x="2133" y="97"/>
                  </a:lnTo>
                  <a:lnTo>
                    <a:pt x="18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5"/>
            <p:cNvSpPr/>
            <p:nvPr/>
          </p:nvSpPr>
          <p:spPr>
            <a:xfrm>
              <a:off x="6018897" y="2635120"/>
              <a:ext cx="392133" cy="392155"/>
            </a:xfrm>
            <a:custGeom>
              <a:avLst/>
              <a:gdLst/>
              <a:ahLst/>
              <a:cxnLst/>
              <a:rect l="l" t="t" r="r" b="b"/>
              <a:pathLst>
                <a:path w="17351" h="17352" extrusionOk="0">
                  <a:moveTo>
                    <a:pt x="15848" y="4993"/>
                  </a:moveTo>
                  <a:lnTo>
                    <a:pt x="16042" y="5041"/>
                  </a:lnTo>
                  <a:lnTo>
                    <a:pt x="16188" y="5138"/>
                  </a:lnTo>
                  <a:lnTo>
                    <a:pt x="16285" y="5332"/>
                  </a:lnTo>
                  <a:lnTo>
                    <a:pt x="16333" y="5526"/>
                  </a:lnTo>
                  <a:lnTo>
                    <a:pt x="16285" y="5719"/>
                  </a:lnTo>
                  <a:lnTo>
                    <a:pt x="16188" y="5865"/>
                  </a:lnTo>
                  <a:lnTo>
                    <a:pt x="16042" y="5962"/>
                  </a:lnTo>
                  <a:lnTo>
                    <a:pt x="15848" y="6010"/>
                  </a:lnTo>
                  <a:lnTo>
                    <a:pt x="15655" y="5962"/>
                  </a:lnTo>
                  <a:lnTo>
                    <a:pt x="15461" y="5865"/>
                  </a:lnTo>
                  <a:lnTo>
                    <a:pt x="15364" y="5719"/>
                  </a:lnTo>
                  <a:lnTo>
                    <a:pt x="15315" y="5526"/>
                  </a:lnTo>
                  <a:lnTo>
                    <a:pt x="15364" y="5332"/>
                  </a:lnTo>
                  <a:lnTo>
                    <a:pt x="15461" y="5138"/>
                  </a:lnTo>
                  <a:lnTo>
                    <a:pt x="15655" y="5041"/>
                  </a:lnTo>
                  <a:lnTo>
                    <a:pt x="15848" y="4993"/>
                  </a:lnTo>
                  <a:close/>
                  <a:moveTo>
                    <a:pt x="2278" y="1018"/>
                  </a:moveTo>
                  <a:lnTo>
                    <a:pt x="2714" y="1067"/>
                  </a:lnTo>
                  <a:lnTo>
                    <a:pt x="3199" y="1164"/>
                  </a:lnTo>
                  <a:lnTo>
                    <a:pt x="3732" y="1309"/>
                  </a:lnTo>
                  <a:lnTo>
                    <a:pt x="4314" y="1503"/>
                  </a:lnTo>
                  <a:lnTo>
                    <a:pt x="4944" y="1794"/>
                  </a:lnTo>
                  <a:lnTo>
                    <a:pt x="5622" y="2182"/>
                  </a:lnTo>
                  <a:lnTo>
                    <a:pt x="6349" y="2618"/>
                  </a:lnTo>
                  <a:lnTo>
                    <a:pt x="7125" y="3102"/>
                  </a:lnTo>
                  <a:lnTo>
                    <a:pt x="7852" y="3636"/>
                  </a:lnTo>
                  <a:lnTo>
                    <a:pt x="6737" y="4605"/>
                  </a:lnTo>
                  <a:lnTo>
                    <a:pt x="5671" y="5623"/>
                  </a:lnTo>
                  <a:lnTo>
                    <a:pt x="4605" y="6737"/>
                  </a:lnTo>
                  <a:lnTo>
                    <a:pt x="3635" y="7852"/>
                  </a:lnTo>
                  <a:lnTo>
                    <a:pt x="3102" y="7125"/>
                  </a:lnTo>
                  <a:lnTo>
                    <a:pt x="2617" y="6350"/>
                  </a:lnTo>
                  <a:lnTo>
                    <a:pt x="2181" y="5623"/>
                  </a:lnTo>
                  <a:lnTo>
                    <a:pt x="1794" y="4896"/>
                  </a:lnTo>
                  <a:lnTo>
                    <a:pt x="1503" y="4314"/>
                  </a:lnTo>
                  <a:lnTo>
                    <a:pt x="1309" y="3732"/>
                  </a:lnTo>
                  <a:lnTo>
                    <a:pt x="1164" y="3199"/>
                  </a:lnTo>
                  <a:lnTo>
                    <a:pt x="1067" y="2715"/>
                  </a:lnTo>
                  <a:lnTo>
                    <a:pt x="1018" y="2278"/>
                  </a:lnTo>
                  <a:lnTo>
                    <a:pt x="1067" y="1891"/>
                  </a:lnTo>
                  <a:lnTo>
                    <a:pt x="1164" y="1600"/>
                  </a:lnTo>
                  <a:lnTo>
                    <a:pt x="1357" y="1358"/>
                  </a:lnTo>
                  <a:lnTo>
                    <a:pt x="1600" y="1164"/>
                  </a:lnTo>
                  <a:lnTo>
                    <a:pt x="1890" y="1067"/>
                  </a:lnTo>
                  <a:lnTo>
                    <a:pt x="2278" y="1018"/>
                  </a:lnTo>
                  <a:close/>
                  <a:moveTo>
                    <a:pt x="15073" y="1018"/>
                  </a:moveTo>
                  <a:lnTo>
                    <a:pt x="15364" y="1067"/>
                  </a:lnTo>
                  <a:lnTo>
                    <a:pt x="15655" y="1115"/>
                  </a:lnTo>
                  <a:lnTo>
                    <a:pt x="15848" y="1212"/>
                  </a:lnTo>
                  <a:lnTo>
                    <a:pt x="16042" y="1358"/>
                  </a:lnTo>
                  <a:lnTo>
                    <a:pt x="16188" y="1552"/>
                  </a:lnTo>
                  <a:lnTo>
                    <a:pt x="16285" y="1745"/>
                  </a:lnTo>
                  <a:lnTo>
                    <a:pt x="16333" y="2036"/>
                  </a:lnTo>
                  <a:lnTo>
                    <a:pt x="16333" y="2375"/>
                  </a:lnTo>
                  <a:lnTo>
                    <a:pt x="16333" y="2715"/>
                  </a:lnTo>
                  <a:lnTo>
                    <a:pt x="16236" y="3102"/>
                  </a:lnTo>
                  <a:lnTo>
                    <a:pt x="16139" y="3539"/>
                  </a:lnTo>
                  <a:lnTo>
                    <a:pt x="15994" y="3975"/>
                  </a:lnTo>
                  <a:lnTo>
                    <a:pt x="15848" y="3975"/>
                  </a:lnTo>
                  <a:lnTo>
                    <a:pt x="15558" y="4023"/>
                  </a:lnTo>
                  <a:lnTo>
                    <a:pt x="15267" y="4120"/>
                  </a:lnTo>
                  <a:lnTo>
                    <a:pt x="14976" y="4266"/>
                  </a:lnTo>
                  <a:lnTo>
                    <a:pt x="14782" y="4411"/>
                  </a:lnTo>
                  <a:lnTo>
                    <a:pt x="14588" y="4653"/>
                  </a:lnTo>
                  <a:lnTo>
                    <a:pt x="14443" y="4896"/>
                  </a:lnTo>
                  <a:lnTo>
                    <a:pt x="14346" y="5186"/>
                  </a:lnTo>
                  <a:lnTo>
                    <a:pt x="14298" y="5526"/>
                  </a:lnTo>
                  <a:lnTo>
                    <a:pt x="14346" y="5768"/>
                  </a:lnTo>
                  <a:lnTo>
                    <a:pt x="14394" y="6059"/>
                  </a:lnTo>
                  <a:lnTo>
                    <a:pt x="14540" y="6301"/>
                  </a:lnTo>
                  <a:lnTo>
                    <a:pt x="14685" y="6495"/>
                  </a:lnTo>
                  <a:lnTo>
                    <a:pt x="14249" y="7173"/>
                  </a:lnTo>
                  <a:lnTo>
                    <a:pt x="13764" y="7852"/>
                  </a:lnTo>
                  <a:lnTo>
                    <a:pt x="12795" y="6737"/>
                  </a:lnTo>
                  <a:lnTo>
                    <a:pt x="11729" y="5623"/>
                  </a:lnTo>
                  <a:lnTo>
                    <a:pt x="10614" y="4605"/>
                  </a:lnTo>
                  <a:lnTo>
                    <a:pt x="9500" y="3636"/>
                  </a:lnTo>
                  <a:lnTo>
                    <a:pt x="10566" y="2860"/>
                  </a:lnTo>
                  <a:lnTo>
                    <a:pt x="11632" y="2230"/>
                  </a:lnTo>
                  <a:lnTo>
                    <a:pt x="12601" y="1745"/>
                  </a:lnTo>
                  <a:lnTo>
                    <a:pt x="13522" y="1358"/>
                  </a:lnTo>
                  <a:lnTo>
                    <a:pt x="13958" y="1212"/>
                  </a:lnTo>
                  <a:lnTo>
                    <a:pt x="14394" y="1115"/>
                  </a:lnTo>
                  <a:lnTo>
                    <a:pt x="14734" y="1067"/>
                  </a:lnTo>
                  <a:lnTo>
                    <a:pt x="15073" y="1018"/>
                  </a:lnTo>
                  <a:close/>
                  <a:moveTo>
                    <a:pt x="1745" y="11341"/>
                  </a:moveTo>
                  <a:lnTo>
                    <a:pt x="1890" y="11487"/>
                  </a:lnTo>
                  <a:lnTo>
                    <a:pt x="2036" y="11632"/>
                  </a:lnTo>
                  <a:lnTo>
                    <a:pt x="2036" y="11826"/>
                  </a:lnTo>
                  <a:lnTo>
                    <a:pt x="2036" y="12020"/>
                  </a:lnTo>
                  <a:lnTo>
                    <a:pt x="1890" y="12214"/>
                  </a:lnTo>
                  <a:lnTo>
                    <a:pt x="1745" y="12311"/>
                  </a:lnTo>
                  <a:lnTo>
                    <a:pt x="1551" y="12359"/>
                  </a:lnTo>
                  <a:lnTo>
                    <a:pt x="1357" y="12311"/>
                  </a:lnTo>
                  <a:lnTo>
                    <a:pt x="1212" y="12214"/>
                  </a:lnTo>
                  <a:lnTo>
                    <a:pt x="1067" y="12020"/>
                  </a:lnTo>
                  <a:lnTo>
                    <a:pt x="1018" y="11826"/>
                  </a:lnTo>
                  <a:lnTo>
                    <a:pt x="1067" y="11632"/>
                  </a:lnTo>
                  <a:lnTo>
                    <a:pt x="1212" y="11487"/>
                  </a:lnTo>
                  <a:lnTo>
                    <a:pt x="1357" y="11341"/>
                  </a:lnTo>
                  <a:close/>
                  <a:moveTo>
                    <a:pt x="8676" y="4266"/>
                  </a:moveTo>
                  <a:lnTo>
                    <a:pt x="9887" y="5235"/>
                  </a:lnTo>
                  <a:lnTo>
                    <a:pt x="11002" y="6350"/>
                  </a:lnTo>
                  <a:lnTo>
                    <a:pt x="12117" y="7513"/>
                  </a:lnTo>
                  <a:lnTo>
                    <a:pt x="13134" y="8676"/>
                  </a:lnTo>
                  <a:lnTo>
                    <a:pt x="12117" y="9839"/>
                  </a:lnTo>
                  <a:lnTo>
                    <a:pt x="11002" y="11002"/>
                  </a:lnTo>
                  <a:lnTo>
                    <a:pt x="9887" y="12117"/>
                  </a:lnTo>
                  <a:lnTo>
                    <a:pt x="8676" y="13135"/>
                  </a:lnTo>
                  <a:lnTo>
                    <a:pt x="7512" y="12117"/>
                  </a:lnTo>
                  <a:lnTo>
                    <a:pt x="6349" y="11002"/>
                  </a:lnTo>
                  <a:lnTo>
                    <a:pt x="5283" y="9839"/>
                  </a:lnTo>
                  <a:lnTo>
                    <a:pt x="4265" y="8676"/>
                  </a:lnTo>
                  <a:lnTo>
                    <a:pt x="5283" y="7513"/>
                  </a:lnTo>
                  <a:lnTo>
                    <a:pt x="6349" y="6350"/>
                  </a:lnTo>
                  <a:lnTo>
                    <a:pt x="7512" y="5283"/>
                  </a:lnTo>
                  <a:lnTo>
                    <a:pt x="8676" y="4266"/>
                  </a:lnTo>
                  <a:close/>
                  <a:moveTo>
                    <a:pt x="3635" y="9500"/>
                  </a:moveTo>
                  <a:lnTo>
                    <a:pt x="4605" y="10614"/>
                  </a:lnTo>
                  <a:lnTo>
                    <a:pt x="5671" y="11729"/>
                  </a:lnTo>
                  <a:lnTo>
                    <a:pt x="6737" y="12795"/>
                  </a:lnTo>
                  <a:lnTo>
                    <a:pt x="7852" y="13765"/>
                  </a:lnTo>
                  <a:lnTo>
                    <a:pt x="6785" y="14492"/>
                  </a:lnTo>
                  <a:lnTo>
                    <a:pt x="5768" y="15122"/>
                  </a:lnTo>
                  <a:lnTo>
                    <a:pt x="4750" y="15655"/>
                  </a:lnTo>
                  <a:lnTo>
                    <a:pt x="3829" y="16042"/>
                  </a:lnTo>
                  <a:lnTo>
                    <a:pt x="3393" y="16188"/>
                  </a:lnTo>
                  <a:lnTo>
                    <a:pt x="3005" y="16285"/>
                  </a:lnTo>
                  <a:lnTo>
                    <a:pt x="2617" y="16333"/>
                  </a:lnTo>
                  <a:lnTo>
                    <a:pt x="1987" y="16333"/>
                  </a:lnTo>
                  <a:lnTo>
                    <a:pt x="1745" y="16285"/>
                  </a:lnTo>
                  <a:lnTo>
                    <a:pt x="1503" y="16188"/>
                  </a:lnTo>
                  <a:lnTo>
                    <a:pt x="1357" y="16042"/>
                  </a:lnTo>
                  <a:lnTo>
                    <a:pt x="1212" y="15849"/>
                  </a:lnTo>
                  <a:lnTo>
                    <a:pt x="1115" y="15606"/>
                  </a:lnTo>
                  <a:lnTo>
                    <a:pt x="1067" y="15316"/>
                  </a:lnTo>
                  <a:lnTo>
                    <a:pt x="1018" y="15025"/>
                  </a:lnTo>
                  <a:lnTo>
                    <a:pt x="1067" y="14637"/>
                  </a:lnTo>
                  <a:lnTo>
                    <a:pt x="1164" y="14249"/>
                  </a:lnTo>
                  <a:lnTo>
                    <a:pt x="1260" y="13813"/>
                  </a:lnTo>
                  <a:lnTo>
                    <a:pt x="1406" y="13328"/>
                  </a:lnTo>
                  <a:lnTo>
                    <a:pt x="1551" y="13377"/>
                  </a:lnTo>
                  <a:lnTo>
                    <a:pt x="1842" y="13328"/>
                  </a:lnTo>
                  <a:lnTo>
                    <a:pt x="2133" y="13232"/>
                  </a:lnTo>
                  <a:lnTo>
                    <a:pt x="2424" y="13086"/>
                  </a:lnTo>
                  <a:lnTo>
                    <a:pt x="2617" y="12892"/>
                  </a:lnTo>
                  <a:lnTo>
                    <a:pt x="2811" y="12698"/>
                  </a:lnTo>
                  <a:lnTo>
                    <a:pt x="2957" y="12408"/>
                  </a:lnTo>
                  <a:lnTo>
                    <a:pt x="3054" y="12117"/>
                  </a:lnTo>
                  <a:lnTo>
                    <a:pt x="3054" y="11826"/>
                  </a:lnTo>
                  <a:lnTo>
                    <a:pt x="3054" y="11535"/>
                  </a:lnTo>
                  <a:lnTo>
                    <a:pt x="2957" y="11293"/>
                  </a:lnTo>
                  <a:lnTo>
                    <a:pt x="2860" y="11051"/>
                  </a:lnTo>
                  <a:lnTo>
                    <a:pt x="2714" y="10857"/>
                  </a:lnTo>
                  <a:lnTo>
                    <a:pt x="3151" y="10178"/>
                  </a:lnTo>
                  <a:lnTo>
                    <a:pt x="3635" y="9500"/>
                  </a:lnTo>
                  <a:close/>
                  <a:moveTo>
                    <a:pt x="13764" y="9500"/>
                  </a:moveTo>
                  <a:lnTo>
                    <a:pt x="14298" y="10275"/>
                  </a:lnTo>
                  <a:lnTo>
                    <a:pt x="14782" y="11002"/>
                  </a:lnTo>
                  <a:lnTo>
                    <a:pt x="15218" y="11729"/>
                  </a:lnTo>
                  <a:lnTo>
                    <a:pt x="15606" y="12456"/>
                  </a:lnTo>
                  <a:lnTo>
                    <a:pt x="15848" y="13086"/>
                  </a:lnTo>
                  <a:lnTo>
                    <a:pt x="16091" y="13668"/>
                  </a:lnTo>
                  <a:lnTo>
                    <a:pt x="16236" y="14201"/>
                  </a:lnTo>
                  <a:lnTo>
                    <a:pt x="16333" y="14685"/>
                  </a:lnTo>
                  <a:lnTo>
                    <a:pt x="16333" y="15122"/>
                  </a:lnTo>
                  <a:lnTo>
                    <a:pt x="16333" y="15461"/>
                  </a:lnTo>
                  <a:lnTo>
                    <a:pt x="16188" y="15800"/>
                  </a:lnTo>
                  <a:lnTo>
                    <a:pt x="16042" y="16042"/>
                  </a:lnTo>
                  <a:lnTo>
                    <a:pt x="15800" y="16188"/>
                  </a:lnTo>
                  <a:lnTo>
                    <a:pt x="15509" y="16285"/>
                  </a:lnTo>
                  <a:lnTo>
                    <a:pt x="15121" y="16333"/>
                  </a:lnTo>
                  <a:lnTo>
                    <a:pt x="14685" y="16333"/>
                  </a:lnTo>
                  <a:lnTo>
                    <a:pt x="14201" y="16236"/>
                  </a:lnTo>
                  <a:lnTo>
                    <a:pt x="13668" y="16091"/>
                  </a:lnTo>
                  <a:lnTo>
                    <a:pt x="13086" y="15849"/>
                  </a:lnTo>
                  <a:lnTo>
                    <a:pt x="12456" y="15558"/>
                  </a:lnTo>
                  <a:lnTo>
                    <a:pt x="11729" y="15219"/>
                  </a:lnTo>
                  <a:lnTo>
                    <a:pt x="11002" y="14782"/>
                  </a:lnTo>
                  <a:lnTo>
                    <a:pt x="10275" y="14298"/>
                  </a:lnTo>
                  <a:lnTo>
                    <a:pt x="9500" y="13765"/>
                  </a:lnTo>
                  <a:lnTo>
                    <a:pt x="10663" y="12795"/>
                  </a:lnTo>
                  <a:lnTo>
                    <a:pt x="11729" y="11729"/>
                  </a:lnTo>
                  <a:lnTo>
                    <a:pt x="12795" y="10614"/>
                  </a:lnTo>
                  <a:lnTo>
                    <a:pt x="13764" y="9500"/>
                  </a:lnTo>
                  <a:close/>
                  <a:moveTo>
                    <a:pt x="2036" y="1"/>
                  </a:moveTo>
                  <a:lnTo>
                    <a:pt x="1794" y="49"/>
                  </a:lnTo>
                  <a:lnTo>
                    <a:pt x="1503" y="98"/>
                  </a:lnTo>
                  <a:lnTo>
                    <a:pt x="1260" y="195"/>
                  </a:lnTo>
                  <a:lnTo>
                    <a:pt x="1018" y="340"/>
                  </a:lnTo>
                  <a:lnTo>
                    <a:pt x="824" y="437"/>
                  </a:lnTo>
                  <a:lnTo>
                    <a:pt x="630" y="631"/>
                  </a:lnTo>
                  <a:lnTo>
                    <a:pt x="485" y="825"/>
                  </a:lnTo>
                  <a:lnTo>
                    <a:pt x="340" y="1018"/>
                  </a:lnTo>
                  <a:lnTo>
                    <a:pt x="194" y="1261"/>
                  </a:lnTo>
                  <a:lnTo>
                    <a:pt x="146" y="1503"/>
                  </a:lnTo>
                  <a:lnTo>
                    <a:pt x="49" y="1745"/>
                  </a:lnTo>
                  <a:lnTo>
                    <a:pt x="49" y="2036"/>
                  </a:lnTo>
                  <a:lnTo>
                    <a:pt x="49" y="2666"/>
                  </a:lnTo>
                  <a:lnTo>
                    <a:pt x="146" y="3296"/>
                  </a:lnTo>
                  <a:lnTo>
                    <a:pt x="291" y="3926"/>
                  </a:lnTo>
                  <a:lnTo>
                    <a:pt x="582" y="4605"/>
                  </a:lnTo>
                  <a:lnTo>
                    <a:pt x="873" y="5380"/>
                  </a:lnTo>
                  <a:lnTo>
                    <a:pt x="1309" y="6156"/>
                  </a:lnTo>
                  <a:lnTo>
                    <a:pt x="1794" y="6980"/>
                  </a:lnTo>
                  <a:lnTo>
                    <a:pt x="2375" y="7852"/>
                  </a:lnTo>
                  <a:lnTo>
                    <a:pt x="2957" y="8676"/>
                  </a:lnTo>
                  <a:lnTo>
                    <a:pt x="2375" y="9500"/>
                  </a:lnTo>
                  <a:lnTo>
                    <a:pt x="1842" y="10324"/>
                  </a:lnTo>
                  <a:lnTo>
                    <a:pt x="1260" y="10324"/>
                  </a:lnTo>
                  <a:lnTo>
                    <a:pt x="970" y="10421"/>
                  </a:lnTo>
                  <a:lnTo>
                    <a:pt x="679" y="10566"/>
                  </a:lnTo>
                  <a:lnTo>
                    <a:pt x="485" y="10760"/>
                  </a:lnTo>
                  <a:lnTo>
                    <a:pt x="291" y="11002"/>
                  </a:lnTo>
                  <a:lnTo>
                    <a:pt x="146" y="11244"/>
                  </a:lnTo>
                  <a:lnTo>
                    <a:pt x="49" y="11535"/>
                  </a:lnTo>
                  <a:lnTo>
                    <a:pt x="0" y="11826"/>
                  </a:lnTo>
                  <a:lnTo>
                    <a:pt x="49" y="12165"/>
                  </a:lnTo>
                  <a:lnTo>
                    <a:pt x="146" y="12456"/>
                  </a:lnTo>
                  <a:lnTo>
                    <a:pt x="291" y="12698"/>
                  </a:lnTo>
                  <a:lnTo>
                    <a:pt x="485" y="12941"/>
                  </a:lnTo>
                  <a:lnTo>
                    <a:pt x="243" y="13716"/>
                  </a:lnTo>
                  <a:lnTo>
                    <a:pt x="97" y="14395"/>
                  </a:lnTo>
                  <a:lnTo>
                    <a:pt x="0" y="14976"/>
                  </a:lnTo>
                  <a:lnTo>
                    <a:pt x="49" y="15461"/>
                  </a:lnTo>
                  <a:lnTo>
                    <a:pt x="146" y="15897"/>
                  </a:lnTo>
                  <a:lnTo>
                    <a:pt x="243" y="16236"/>
                  </a:lnTo>
                  <a:lnTo>
                    <a:pt x="437" y="16527"/>
                  </a:lnTo>
                  <a:lnTo>
                    <a:pt x="630" y="16769"/>
                  </a:lnTo>
                  <a:lnTo>
                    <a:pt x="970" y="17012"/>
                  </a:lnTo>
                  <a:lnTo>
                    <a:pt x="1406" y="17206"/>
                  </a:lnTo>
                  <a:lnTo>
                    <a:pt x="1842" y="17303"/>
                  </a:lnTo>
                  <a:lnTo>
                    <a:pt x="2278" y="17351"/>
                  </a:lnTo>
                  <a:lnTo>
                    <a:pt x="2763" y="17303"/>
                  </a:lnTo>
                  <a:lnTo>
                    <a:pt x="3248" y="17254"/>
                  </a:lnTo>
                  <a:lnTo>
                    <a:pt x="3732" y="17109"/>
                  </a:lnTo>
                  <a:lnTo>
                    <a:pt x="4168" y="16963"/>
                  </a:lnTo>
                  <a:lnTo>
                    <a:pt x="5235" y="16576"/>
                  </a:lnTo>
                  <a:lnTo>
                    <a:pt x="6349" y="15994"/>
                  </a:lnTo>
                  <a:lnTo>
                    <a:pt x="7512" y="15267"/>
                  </a:lnTo>
                  <a:lnTo>
                    <a:pt x="8676" y="14395"/>
                  </a:lnTo>
                  <a:lnTo>
                    <a:pt x="9548" y="15025"/>
                  </a:lnTo>
                  <a:lnTo>
                    <a:pt x="10372" y="15558"/>
                  </a:lnTo>
                  <a:lnTo>
                    <a:pt x="11196" y="16091"/>
                  </a:lnTo>
                  <a:lnTo>
                    <a:pt x="12020" y="16479"/>
                  </a:lnTo>
                  <a:lnTo>
                    <a:pt x="12747" y="16818"/>
                  </a:lnTo>
                  <a:lnTo>
                    <a:pt x="13474" y="17060"/>
                  </a:lnTo>
                  <a:lnTo>
                    <a:pt x="14104" y="17254"/>
                  </a:lnTo>
                  <a:lnTo>
                    <a:pt x="14685" y="17351"/>
                  </a:lnTo>
                  <a:lnTo>
                    <a:pt x="15073" y="17351"/>
                  </a:lnTo>
                  <a:lnTo>
                    <a:pt x="15606" y="17303"/>
                  </a:lnTo>
                  <a:lnTo>
                    <a:pt x="16042" y="17206"/>
                  </a:lnTo>
                  <a:lnTo>
                    <a:pt x="16430" y="17012"/>
                  </a:lnTo>
                  <a:lnTo>
                    <a:pt x="16769" y="16769"/>
                  </a:lnTo>
                  <a:lnTo>
                    <a:pt x="16915" y="16576"/>
                  </a:lnTo>
                  <a:lnTo>
                    <a:pt x="17060" y="16333"/>
                  </a:lnTo>
                  <a:lnTo>
                    <a:pt x="17157" y="16139"/>
                  </a:lnTo>
                  <a:lnTo>
                    <a:pt x="17254" y="15897"/>
                  </a:lnTo>
                  <a:lnTo>
                    <a:pt x="17302" y="15606"/>
                  </a:lnTo>
                  <a:lnTo>
                    <a:pt x="17351" y="15316"/>
                  </a:lnTo>
                  <a:lnTo>
                    <a:pt x="17351" y="14685"/>
                  </a:lnTo>
                  <a:lnTo>
                    <a:pt x="17254" y="14104"/>
                  </a:lnTo>
                  <a:lnTo>
                    <a:pt x="17060" y="13425"/>
                  </a:lnTo>
                  <a:lnTo>
                    <a:pt x="16818" y="12747"/>
                  </a:lnTo>
                  <a:lnTo>
                    <a:pt x="16478" y="12020"/>
                  </a:lnTo>
                  <a:lnTo>
                    <a:pt x="16091" y="11196"/>
                  </a:lnTo>
                  <a:lnTo>
                    <a:pt x="15606" y="10372"/>
                  </a:lnTo>
                  <a:lnTo>
                    <a:pt x="15025" y="9548"/>
                  </a:lnTo>
                  <a:lnTo>
                    <a:pt x="14394" y="8676"/>
                  </a:lnTo>
                  <a:lnTo>
                    <a:pt x="15025" y="7852"/>
                  </a:lnTo>
                  <a:lnTo>
                    <a:pt x="15558" y="7028"/>
                  </a:lnTo>
                  <a:lnTo>
                    <a:pt x="16139" y="7028"/>
                  </a:lnTo>
                  <a:lnTo>
                    <a:pt x="16430" y="6931"/>
                  </a:lnTo>
                  <a:lnTo>
                    <a:pt x="16672" y="6786"/>
                  </a:lnTo>
                  <a:lnTo>
                    <a:pt x="16915" y="6592"/>
                  </a:lnTo>
                  <a:lnTo>
                    <a:pt x="17109" y="6350"/>
                  </a:lnTo>
                  <a:lnTo>
                    <a:pt x="17254" y="6107"/>
                  </a:lnTo>
                  <a:lnTo>
                    <a:pt x="17351" y="5816"/>
                  </a:lnTo>
                  <a:lnTo>
                    <a:pt x="17351" y="5526"/>
                  </a:lnTo>
                  <a:lnTo>
                    <a:pt x="17351" y="5186"/>
                  </a:lnTo>
                  <a:lnTo>
                    <a:pt x="17254" y="4896"/>
                  </a:lnTo>
                  <a:lnTo>
                    <a:pt x="17109" y="4653"/>
                  </a:lnTo>
                  <a:lnTo>
                    <a:pt x="16915" y="4411"/>
                  </a:lnTo>
                  <a:lnTo>
                    <a:pt x="17157" y="3636"/>
                  </a:lnTo>
                  <a:lnTo>
                    <a:pt x="17302" y="3005"/>
                  </a:lnTo>
                  <a:lnTo>
                    <a:pt x="17351" y="2424"/>
                  </a:lnTo>
                  <a:lnTo>
                    <a:pt x="17351" y="1891"/>
                  </a:lnTo>
                  <a:lnTo>
                    <a:pt x="17254" y="1503"/>
                  </a:lnTo>
                  <a:lnTo>
                    <a:pt x="17109" y="1115"/>
                  </a:lnTo>
                  <a:lnTo>
                    <a:pt x="16963" y="873"/>
                  </a:lnTo>
                  <a:lnTo>
                    <a:pt x="16769" y="631"/>
                  </a:lnTo>
                  <a:lnTo>
                    <a:pt x="16575" y="485"/>
                  </a:lnTo>
                  <a:lnTo>
                    <a:pt x="16382" y="340"/>
                  </a:lnTo>
                  <a:lnTo>
                    <a:pt x="15994" y="146"/>
                  </a:lnTo>
                  <a:lnTo>
                    <a:pt x="15509" y="49"/>
                  </a:lnTo>
                  <a:lnTo>
                    <a:pt x="15073" y="1"/>
                  </a:lnTo>
                  <a:lnTo>
                    <a:pt x="14588" y="49"/>
                  </a:lnTo>
                  <a:lnTo>
                    <a:pt x="14104" y="146"/>
                  </a:lnTo>
                  <a:lnTo>
                    <a:pt x="13619" y="243"/>
                  </a:lnTo>
                  <a:lnTo>
                    <a:pt x="13183" y="388"/>
                  </a:lnTo>
                  <a:lnTo>
                    <a:pt x="12165" y="825"/>
                  </a:lnTo>
                  <a:lnTo>
                    <a:pt x="11050" y="1406"/>
                  </a:lnTo>
                  <a:lnTo>
                    <a:pt x="9887" y="2133"/>
                  </a:lnTo>
                  <a:lnTo>
                    <a:pt x="8676" y="2957"/>
                  </a:lnTo>
                  <a:lnTo>
                    <a:pt x="7852" y="2327"/>
                  </a:lnTo>
                  <a:lnTo>
                    <a:pt x="6979" y="1794"/>
                  </a:lnTo>
                  <a:lnTo>
                    <a:pt x="6155" y="1309"/>
                  </a:lnTo>
                  <a:lnTo>
                    <a:pt x="5380" y="873"/>
                  </a:lnTo>
                  <a:lnTo>
                    <a:pt x="4653" y="534"/>
                  </a:lnTo>
                  <a:lnTo>
                    <a:pt x="3926" y="291"/>
                  </a:lnTo>
                  <a:lnTo>
                    <a:pt x="3296" y="146"/>
                  </a:lnTo>
                  <a:lnTo>
                    <a:pt x="2666" y="49"/>
                  </a:lnTo>
                  <a:lnTo>
                    <a:pt x="20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5"/>
            <p:cNvSpPr/>
            <p:nvPr/>
          </p:nvSpPr>
          <p:spPr>
            <a:xfrm>
              <a:off x="6203991" y="2635120"/>
              <a:ext cx="23029" cy="23029"/>
            </a:xfrm>
            <a:custGeom>
              <a:avLst/>
              <a:gdLst/>
              <a:ahLst/>
              <a:cxnLst/>
              <a:rect l="l" t="t" r="r" b="b"/>
              <a:pathLst>
                <a:path w="1019" h="1019" extrusionOk="0">
                  <a:moveTo>
                    <a:pt x="486" y="1"/>
                  </a:moveTo>
                  <a:lnTo>
                    <a:pt x="292" y="49"/>
                  </a:lnTo>
                  <a:lnTo>
                    <a:pt x="146" y="146"/>
                  </a:lnTo>
                  <a:lnTo>
                    <a:pt x="49" y="340"/>
                  </a:lnTo>
                  <a:lnTo>
                    <a:pt x="1" y="534"/>
                  </a:lnTo>
                  <a:lnTo>
                    <a:pt x="49" y="728"/>
                  </a:lnTo>
                  <a:lnTo>
                    <a:pt x="146" y="873"/>
                  </a:lnTo>
                  <a:lnTo>
                    <a:pt x="292" y="970"/>
                  </a:lnTo>
                  <a:lnTo>
                    <a:pt x="486" y="1018"/>
                  </a:lnTo>
                  <a:lnTo>
                    <a:pt x="679" y="970"/>
                  </a:lnTo>
                  <a:lnTo>
                    <a:pt x="873" y="873"/>
                  </a:lnTo>
                  <a:lnTo>
                    <a:pt x="970" y="728"/>
                  </a:lnTo>
                  <a:lnTo>
                    <a:pt x="1019" y="534"/>
                  </a:lnTo>
                  <a:lnTo>
                    <a:pt x="970" y="340"/>
                  </a:lnTo>
                  <a:lnTo>
                    <a:pt x="873" y="146"/>
                  </a:lnTo>
                  <a:lnTo>
                    <a:pt x="679" y="49"/>
                  </a:lnTo>
                  <a:lnTo>
                    <a:pt x="4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5"/>
            <p:cNvSpPr/>
            <p:nvPr/>
          </p:nvSpPr>
          <p:spPr>
            <a:xfrm>
              <a:off x="6203991" y="3004245"/>
              <a:ext cx="23029" cy="23029"/>
            </a:xfrm>
            <a:custGeom>
              <a:avLst/>
              <a:gdLst/>
              <a:ahLst/>
              <a:cxnLst/>
              <a:rect l="l" t="t" r="r" b="b"/>
              <a:pathLst>
                <a:path w="1019" h="1019" extrusionOk="0">
                  <a:moveTo>
                    <a:pt x="486" y="0"/>
                  </a:moveTo>
                  <a:lnTo>
                    <a:pt x="292" y="49"/>
                  </a:lnTo>
                  <a:lnTo>
                    <a:pt x="146" y="146"/>
                  </a:lnTo>
                  <a:lnTo>
                    <a:pt x="49" y="340"/>
                  </a:lnTo>
                  <a:lnTo>
                    <a:pt x="1" y="533"/>
                  </a:lnTo>
                  <a:lnTo>
                    <a:pt x="49" y="727"/>
                  </a:lnTo>
                  <a:lnTo>
                    <a:pt x="146" y="873"/>
                  </a:lnTo>
                  <a:lnTo>
                    <a:pt x="292" y="970"/>
                  </a:lnTo>
                  <a:lnTo>
                    <a:pt x="486" y="1018"/>
                  </a:lnTo>
                  <a:lnTo>
                    <a:pt x="679" y="970"/>
                  </a:lnTo>
                  <a:lnTo>
                    <a:pt x="873" y="873"/>
                  </a:lnTo>
                  <a:lnTo>
                    <a:pt x="970" y="727"/>
                  </a:lnTo>
                  <a:lnTo>
                    <a:pt x="1019" y="533"/>
                  </a:lnTo>
                  <a:lnTo>
                    <a:pt x="970" y="340"/>
                  </a:lnTo>
                  <a:lnTo>
                    <a:pt x="873" y="146"/>
                  </a:lnTo>
                  <a:lnTo>
                    <a:pt x="679" y="49"/>
                  </a:lnTo>
                  <a:lnTo>
                    <a:pt x="4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6" name="Google Shape;426;p35"/>
          <p:cNvGrpSpPr/>
          <p:nvPr/>
        </p:nvGrpSpPr>
        <p:grpSpPr>
          <a:xfrm>
            <a:off x="7608896" y="3560524"/>
            <a:ext cx="392155" cy="392133"/>
            <a:chOff x="1971712" y="3315312"/>
            <a:chExt cx="392155" cy="392133"/>
          </a:xfrm>
        </p:grpSpPr>
        <p:sp>
          <p:nvSpPr>
            <p:cNvPr id="427" name="Google Shape;427;p35"/>
            <p:cNvSpPr/>
            <p:nvPr/>
          </p:nvSpPr>
          <p:spPr>
            <a:xfrm>
              <a:off x="2050586" y="3424831"/>
              <a:ext cx="234407" cy="173093"/>
            </a:xfrm>
            <a:custGeom>
              <a:avLst/>
              <a:gdLst/>
              <a:ahLst/>
              <a:cxnLst/>
              <a:rect l="l" t="t" r="r" b="b"/>
              <a:pathLst>
                <a:path w="10372" h="7659" extrusionOk="0">
                  <a:moveTo>
                    <a:pt x="5186" y="1019"/>
                  </a:moveTo>
                  <a:lnTo>
                    <a:pt x="5525" y="1067"/>
                  </a:lnTo>
                  <a:lnTo>
                    <a:pt x="5865" y="1115"/>
                  </a:lnTo>
                  <a:lnTo>
                    <a:pt x="6204" y="1212"/>
                  </a:lnTo>
                  <a:lnTo>
                    <a:pt x="6543" y="1358"/>
                  </a:lnTo>
                  <a:lnTo>
                    <a:pt x="7173" y="1697"/>
                  </a:lnTo>
                  <a:lnTo>
                    <a:pt x="7706" y="2133"/>
                  </a:lnTo>
                  <a:lnTo>
                    <a:pt x="8239" y="2618"/>
                  </a:lnTo>
                  <a:lnTo>
                    <a:pt x="8627" y="3103"/>
                  </a:lnTo>
                  <a:lnTo>
                    <a:pt x="9257" y="3829"/>
                  </a:lnTo>
                  <a:lnTo>
                    <a:pt x="8821" y="4411"/>
                  </a:lnTo>
                  <a:lnTo>
                    <a:pt x="8143" y="5138"/>
                  </a:lnTo>
                  <a:lnTo>
                    <a:pt x="7658" y="5574"/>
                  </a:lnTo>
                  <a:lnTo>
                    <a:pt x="7222" y="5913"/>
                  </a:lnTo>
                  <a:lnTo>
                    <a:pt x="6786" y="6156"/>
                  </a:lnTo>
                  <a:lnTo>
                    <a:pt x="6446" y="6350"/>
                  </a:lnTo>
                  <a:lnTo>
                    <a:pt x="6059" y="6495"/>
                  </a:lnTo>
                  <a:lnTo>
                    <a:pt x="5768" y="6592"/>
                  </a:lnTo>
                  <a:lnTo>
                    <a:pt x="5429" y="6640"/>
                  </a:lnTo>
                  <a:lnTo>
                    <a:pt x="4847" y="6640"/>
                  </a:lnTo>
                  <a:lnTo>
                    <a:pt x="4508" y="6544"/>
                  </a:lnTo>
                  <a:lnTo>
                    <a:pt x="4168" y="6447"/>
                  </a:lnTo>
                  <a:lnTo>
                    <a:pt x="3878" y="6301"/>
                  </a:lnTo>
                  <a:lnTo>
                    <a:pt x="3248" y="5962"/>
                  </a:lnTo>
                  <a:lnTo>
                    <a:pt x="2666" y="5526"/>
                  </a:lnTo>
                  <a:lnTo>
                    <a:pt x="2181" y="5041"/>
                  </a:lnTo>
                  <a:lnTo>
                    <a:pt x="1745" y="4605"/>
                  </a:lnTo>
                  <a:lnTo>
                    <a:pt x="1164" y="3829"/>
                  </a:lnTo>
                  <a:lnTo>
                    <a:pt x="1600" y="3248"/>
                  </a:lnTo>
                  <a:lnTo>
                    <a:pt x="2278" y="2521"/>
                  </a:lnTo>
                  <a:lnTo>
                    <a:pt x="2714" y="2085"/>
                  </a:lnTo>
                  <a:lnTo>
                    <a:pt x="3151" y="1746"/>
                  </a:lnTo>
                  <a:lnTo>
                    <a:pt x="3587" y="1503"/>
                  </a:lnTo>
                  <a:lnTo>
                    <a:pt x="3975" y="1309"/>
                  </a:lnTo>
                  <a:lnTo>
                    <a:pt x="4314" y="1164"/>
                  </a:lnTo>
                  <a:lnTo>
                    <a:pt x="4653" y="1067"/>
                  </a:lnTo>
                  <a:lnTo>
                    <a:pt x="4944" y="1019"/>
                  </a:lnTo>
                  <a:close/>
                  <a:moveTo>
                    <a:pt x="5186" y="1"/>
                  </a:moveTo>
                  <a:lnTo>
                    <a:pt x="4653" y="49"/>
                  </a:lnTo>
                  <a:lnTo>
                    <a:pt x="4168" y="146"/>
                  </a:lnTo>
                  <a:lnTo>
                    <a:pt x="3684" y="340"/>
                  </a:lnTo>
                  <a:lnTo>
                    <a:pt x="3199" y="534"/>
                  </a:lnTo>
                  <a:lnTo>
                    <a:pt x="2763" y="825"/>
                  </a:lnTo>
                  <a:lnTo>
                    <a:pt x="2375" y="1115"/>
                  </a:lnTo>
                  <a:lnTo>
                    <a:pt x="1987" y="1406"/>
                  </a:lnTo>
                  <a:lnTo>
                    <a:pt x="1600" y="1746"/>
                  </a:lnTo>
                  <a:lnTo>
                    <a:pt x="1018" y="2376"/>
                  </a:lnTo>
                  <a:lnTo>
                    <a:pt x="534" y="2957"/>
                  </a:lnTo>
                  <a:lnTo>
                    <a:pt x="97" y="3587"/>
                  </a:lnTo>
                  <a:lnTo>
                    <a:pt x="49" y="3684"/>
                  </a:lnTo>
                  <a:lnTo>
                    <a:pt x="0" y="3829"/>
                  </a:lnTo>
                  <a:lnTo>
                    <a:pt x="49" y="3975"/>
                  </a:lnTo>
                  <a:lnTo>
                    <a:pt x="97" y="4120"/>
                  </a:lnTo>
                  <a:lnTo>
                    <a:pt x="534" y="4702"/>
                  </a:lnTo>
                  <a:lnTo>
                    <a:pt x="1018" y="5283"/>
                  </a:lnTo>
                  <a:lnTo>
                    <a:pt x="1600" y="5962"/>
                  </a:lnTo>
                  <a:lnTo>
                    <a:pt x="1987" y="6253"/>
                  </a:lnTo>
                  <a:lnTo>
                    <a:pt x="2375" y="6592"/>
                  </a:lnTo>
                  <a:lnTo>
                    <a:pt x="2763" y="6883"/>
                  </a:lnTo>
                  <a:lnTo>
                    <a:pt x="3199" y="7125"/>
                  </a:lnTo>
                  <a:lnTo>
                    <a:pt x="3684" y="7367"/>
                  </a:lnTo>
                  <a:lnTo>
                    <a:pt x="4168" y="7513"/>
                  </a:lnTo>
                  <a:lnTo>
                    <a:pt x="4653" y="7610"/>
                  </a:lnTo>
                  <a:lnTo>
                    <a:pt x="5186" y="7658"/>
                  </a:lnTo>
                  <a:lnTo>
                    <a:pt x="5719" y="7610"/>
                  </a:lnTo>
                  <a:lnTo>
                    <a:pt x="6204" y="7513"/>
                  </a:lnTo>
                  <a:lnTo>
                    <a:pt x="6689" y="7367"/>
                  </a:lnTo>
                  <a:lnTo>
                    <a:pt x="7173" y="7125"/>
                  </a:lnTo>
                  <a:lnTo>
                    <a:pt x="7609" y="6883"/>
                  </a:lnTo>
                  <a:lnTo>
                    <a:pt x="8046" y="6592"/>
                  </a:lnTo>
                  <a:lnTo>
                    <a:pt x="8433" y="6253"/>
                  </a:lnTo>
                  <a:lnTo>
                    <a:pt x="8773" y="5962"/>
                  </a:lnTo>
                  <a:lnTo>
                    <a:pt x="9403" y="5283"/>
                  </a:lnTo>
                  <a:lnTo>
                    <a:pt x="9839" y="4702"/>
                  </a:lnTo>
                  <a:lnTo>
                    <a:pt x="10275" y="4120"/>
                  </a:lnTo>
                  <a:lnTo>
                    <a:pt x="10372" y="3975"/>
                  </a:lnTo>
                  <a:lnTo>
                    <a:pt x="10372" y="3829"/>
                  </a:lnTo>
                  <a:lnTo>
                    <a:pt x="10372" y="3684"/>
                  </a:lnTo>
                  <a:lnTo>
                    <a:pt x="10275" y="3587"/>
                  </a:lnTo>
                  <a:lnTo>
                    <a:pt x="9839" y="2957"/>
                  </a:lnTo>
                  <a:lnTo>
                    <a:pt x="9403" y="2376"/>
                  </a:lnTo>
                  <a:lnTo>
                    <a:pt x="8773" y="1746"/>
                  </a:lnTo>
                  <a:lnTo>
                    <a:pt x="8433" y="1406"/>
                  </a:lnTo>
                  <a:lnTo>
                    <a:pt x="8046" y="1115"/>
                  </a:lnTo>
                  <a:lnTo>
                    <a:pt x="7609" y="825"/>
                  </a:lnTo>
                  <a:lnTo>
                    <a:pt x="7173" y="534"/>
                  </a:lnTo>
                  <a:lnTo>
                    <a:pt x="6689" y="340"/>
                  </a:lnTo>
                  <a:lnTo>
                    <a:pt x="6204" y="146"/>
                  </a:lnTo>
                  <a:lnTo>
                    <a:pt x="5719" y="49"/>
                  </a:lnTo>
                  <a:lnTo>
                    <a:pt x="51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5"/>
            <p:cNvSpPr/>
            <p:nvPr/>
          </p:nvSpPr>
          <p:spPr>
            <a:xfrm>
              <a:off x="2128352" y="3470845"/>
              <a:ext cx="79981" cy="81066"/>
            </a:xfrm>
            <a:custGeom>
              <a:avLst/>
              <a:gdLst/>
              <a:ahLst/>
              <a:cxnLst/>
              <a:rect l="l" t="t" r="r" b="b"/>
              <a:pathLst>
                <a:path w="3539" h="3587" extrusionOk="0">
                  <a:moveTo>
                    <a:pt x="1745" y="1018"/>
                  </a:moveTo>
                  <a:lnTo>
                    <a:pt x="1891" y="1067"/>
                  </a:lnTo>
                  <a:lnTo>
                    <a:pt x="2036" y="1115"/>
                  </a:lnTo>
                  <a:lnTo>
                    <a:pt x="2278" y="1260"/>
                  </a:lnTo>
                  <a:lnTo>
                    <a:pt x="2472" y="1503"/>
                  </a:lnTo>
                  <a:lnTo>
                    <a:pt x="2521" y="1648"/>
                  </a:lnTo>
                  <a:lnTo>
                    <a:pt x="2521" y="1793"/>
                  </a:lnTo>
                  <a:lnTo>
                    <a:pt x="2521" y="1939"/>
                  </a:lnTo>
                  <a:lnTo>
                    <a:pt x="2472" y="2084"/>
                  </a:lnTo>
                  <a:lnTo>
                    <a:pt x="2278" y="2327"/>
                  </a:lnTo>
                  <a:lnTo>
                    <a:pt x="2036" y="2520"/>
                  </a:lnTo>
                  <a:lnTo>
                    <a:pt x="1891" y="2569"/>
                  </a:lnTo>
                  <a:lnTo>
                    <a:pt x="1600" y="2569"/>
                  </a:lnTo>
                  <a:lnTo>
                    <a:pt x="1454" y="2520"/>
                  </a:lnTo>
                  <a:lnTo>
                    <a:pt x="1212" y="2327"/>
                  </a:lnTo>
                  <a:lnTo>
                    <a:pt x="1067" y="2084"/>
                  </a:lnTo>
                  <a:lnTo>
                    <a:pt x="1018" y="1939"/>
                  </a:lnTo>
                  <a:lnTo>
                    <a:pt x="970" y="1793"/>
                  </a:lnTo>
                  <a:lnTo>
                    <a:pt x="1018" y="1648"/>
                  </a:lnTo>
                  <a:lnTo>
                    <a:pt x="1067" y="1503"/>
                  </a:lnTo>
                  <a:lnTo>
                    <a:pt x="1212" y="1260"/>
                  </a:lnTo>
                  <a:lnTo>
                    <a:pt x="1454" y="1115"/>
                  </a:lnTo>
                  <a:lnTo>
                    <a:pt x="1600" y="1067"/>
                  </a:lnTo>
                  <a:lnTo>
                    <a:pt x="1745" y="1018"/>
                  </a:lnTo>
                  <a:close/>
                  <a:moveTo>
                    <a:pt x="1745" y="0"/>
                  </a:moveTo>
                  <a:lnTo>
                    <a:pt x="1406" y="49"/>
                  </a:lnTo>
                  <a:lnTo>
                    <a:pt x="1067" y="146"/>
                  </a:lnTo>
                  <a:lnTo>
                    <a:pt x="776" y="340"/>
                  </a:lnTo>
                  <a:lnTo>
                    <a:pt x="485" y="533"/>
                  </a:lnTo>
                  <a:lnTo>
                    <a:pt x="291" y="824"/>
                  </a:lnTo>
                  <a:lnTo>
                    <a:pt x="97" y="1115"/>
                  </a:lnTo>
                  <a:lnTo>
                    <a:pt x="0" y="1454"/>
                  </a:lnTo>
                  <a:lnTo>
                    <a:pt x="0" y="1793"/>
                  </a:lnTo>
                  <a:lnTo>
                    <a:pt x="0" y="2181"/>
                  </a:lnTo>
                  <a:lnTo>
                    <a:pt x="97" y="2472"/>
                  </a:lnTo>
                  <a:lnTo>
                    <a:pt x="291" y="2811"/>
                  </a:lnTo>
                  <a:lnTo>
                    <a:pt x="485" y="3054"/>
                  </a:lnTo>
                  <a:lnTo>
                    <a:pt x="776" y="3296"/>
                  </a:lnTo>
                  <a:lnTo>
                    <a:pt x="1067" y="3441"/>
                  </a:lnTo>
                  <a:lnTo>
                    <a:pt x="1406" y="3538"/>
                  </a:lnTo>
                  <a:lnTo>
                    <a:pt x="1745" y="3587"/>
                  </a:lnTo>
                  <a:lnTo>
                    <a:pt x="2133" y="3538"/>
                  </a:lnTo>
                  <a:lnTo>
                    <a:pt x="2424" y="3441"/>
                  </a:lnTo>
                  <a:lnTo>
                    <a:pt x="2763" y="3296"/>
                  </a:lnTo>
                  <a:lnTo>
                    <a:pt x="3005" y="3054"/>
                  </a:lnTo>
                  <a:lnTo>
                    <a:pt x="3248" y="2811"/>
                  </a:lnTo>
                  <a:lnTo>
                    <a:pt x="3393" y="2472"/>
                  </a:lnTo>
                  <a:lnTo>
                    <a:pt x="3490" y="2181"/>
                  </a:lnTo>
                  <a:lnTo>
                    <a:pt x="3538" y="1793"/>
                  </a:lnTo>
                  <a:lnTo>
                    <a:pt x="3490" y="1454"/>
                  </a:lnTo>
                  <a:lnTo>
                    <a:pt x="3393" y="1115"/>
                  </a:lnTo>
                  <a:lnTo>
                    <a:pt x="3248" y="824"/>
                  </a:lnTo>
                  <a:lnTo>
                    <a:pt x="3005" y="533"/>
                  </a:lnTo>
                  <a:lnTo>
                    <a:pt x="2763" y="340"/>
                  </a:lnTo>
                  <a:lnTo>
                    <a:pt x="2424" y="146"/>
                  </a:lnTo>
                  <a:lnTo>
                    <a:pt x="2133" y="49"/>
                  </a:lnTo>
                  <a:lnTo>
                    <a:pt x="17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5"/>
            <p:cNvSpPr/>
            <p:nvPr/>
          </p:nvSpPr>
          <p:spPr>
            <a:xfrm>
              <a:off x="1971712" y="3315312"/>
              <a:ext cx="392155" cy="392133"/>
            </a:xfrm>
            <a:custGeom>
              <a:avLst/>
              <a:gdLst/>
              <a:ahLst/>
              <a:cxnLst/>
              <a:rect l="l" t="t" r="r" b="b"/>
              <a:pathLst>
                <a:path w="17352" h="17351" extrusionOk="0">
                  <a:moveTo>
                    <a:pt x="9209" y="1793"/>
                  </a:moveTo>
                  <a:lnTo>
                    <a:pt x="9839" y="1890"/>
                  </a:lnTo>
                  <a:lnTo>
                    <a:pt x="10421" y="1987"/>
                  </a:lnTo>
                  <a:lnTo>
                    <a:pt x="11003" y="2181"/>
                  </a:lnTo>
                  <a:lnTo>
                    <a:pt x="11584" y="2424"/>
                  </a:lnTo>
                  <a:lnTo>
                    <a:pt x="12117" y="2714"/>
                  </a:lnTo>
                  <a:lnTo>
                    <a:pt x="12650" y="3005"/>
                  </a:lnTo>
                  <a:lnTo>
                    <a:pt x="13135" y="3393"/>
                  </a:lnTo>
                  <a:lnTo>
                    <a:pt x="13571" y="3781"/>
                  </a:lnTo>
                  <a:lnTo>
                    <a:pt x="13959" y="4265"/>
                  </a:lnTo>
                  <a:lnTo>
                    <a:pt x="14347" y="4750"/>
                  </a:lnTo>
                  <a:lnTo>
                    <a:pt x="14686" y="5234"/>
                  </a:lnTo>
                  <a:lnTo>
                    <a:pt x="14928" y="5768"/>
                  </a:lnTo>
                  <a:lnTo>
                    <a:pt x="15171" y="6349"/>
                  </a:lnTo>
                  <a:lnTo>
                    <a:pt x="15364" y="6931"/>
                  </a:lnTo>
                  <a:lnTo>
                    <a:pt x="15510" y="7561"/>
                  </a:lnTo>
                  <a:lnTo>
                    <a:pt x="15558" y="8191"/>
                  </a:lnTo>
                  <a:lnTo>
                    <a:pt x="15267" y="8191"/>
                  </a:lnTo>
                  <a:lnTo>
                    <a:pt x="15074" y="8336"/>
                  </a:lnTo>
                  <a:lnTo>
                    <a:pt x="14977" y="8482"/>
                  </a:lnTo>
                  <a:lnTo>
                    <a:pt x="14928" y="8675"/>
                  </a:lnTo>
                  <a:lnTo>
                    <a:pt x="14977" y="8869"/>
                  </a:lnTo>
                  <a:lnTo>
                    <a:pt x="15074" y="9063"/>
                  </a:lnTo>
                  <a:lnTo>
                    <a:pt x="15267" y="9160"/>
                  </a:lnTo>
                  <a:lnTo>
                    <a:pt x="15461" y="9209"/>
                  </a:lnTo>
                  <a:lnTo>
                    <a:pt x="15558" y="9209"/>
                  </a:lnTo>
                  <a:lnTo>
                    <a:pt x="15510" y="9839"/>
                  </a:lnTo>
                  <a:lnTo>
                    <a:pt x="15364" y="10420"/>
                  </a:lnTo>
                  <a:lnTo>
                    <a:pt x="15171" y="11002"/>
                  </a:lnTo>
                  <a:lnTo>
                    <a:pt x="14928" y="11583"/>
                  </a:lnTo>
                  <a:lnTo>
                    <a:pt x="14686" y="12116"/>
                  </a:lnTo>
                  <a:lnTo>
                    <a:pt x="14347" y="12650"/>
                  </a:lnTo>
                  <a:lnTo>
                    <a:pt x="13959" y="13134"/>
                  </a:lnTo>
                  <a:lnTo>
                    <a:pt x="13571" y="13570"/>
                  </a:lnTo>
                  <a:lnTo>
                    <a:pt x="13135" y="13958"/>
                  </a:lnTo>
                  <a:lnTo>
                    <a:pt x="12650" y="14346"/>
                  </a:lnTo>
                  <a:lnTo>
                    <a:pt x="12117" y="14685"/>
                  </a:lnTo>
                  <a:lnTo>
                    <a:pt x="11584" y="14927"/>
                  </a:lnTo>
                  <a:lnTo>
                    <a:pt x="11003" y="15170"/>
                  </a:lnTo>
                  <a:lnTo>
                    <a:pt x="10421" y="15364"/>
                  </a:lnTo>
                  <a:lnTo>
                    <a:pt x="9839" y="15509"/>
                  </a:lnTo>
                  <a:lnTo>
                    <a:pt x="9209" y="15557"/>
                  </a:lnTo>
                  <a:lnTo>
                    <a:pt x="9209" y="15461"/>
                  </a:lnTo>
                  <a:lnTo>
                    <a:pt x="9161" y="15267"/>
                  </a:lnTo>
                  <a:lnTo>
                    <a:pt x="9064" y="15073"/>
                  </a:lnTo>
                  <a:lnTo>
                    <a:pt x="8870" y="14976"/>
                  </a:lnTo>
                  <a:lnTo>
                    <a:pt x="8676" y="14927"/>
                  </a:lnTo>
                  <a:lnTo>
                    <a:pt x="8482" y="14976"/>
                  </a:lnTo>
                  <a:lnTo>
                    <a:pt x="8337" y="15073"/>
                  </a:lnTo>
                  <a:lnTo>
                    <a:pt x="8240" y="15267"/>
                  </a:lnTo>
                  <a:lnTo>
                    <a:pt x="8192" y="15461"/>
                  </a:lnTo>
                  <a:lnTo>
                    <a:pt x="8192" y="15557"/>
                  </a:lnTo>
                  <a:lnTo>
                    <a:pt x="7561" y="15509"/>
                  </a:lnTo>
                  <a:lnTo>
                    <a:pt x="6931" y="15364"/>
                  </a:lnTo>
                  <a:lnTo>
                    <a:pt x="6350" y="15170"/>
                  </a:lnTo>
                  <a:lnTo>
                    <a:pt x="5768" y="14927"/>
                  </a:lnTo>
                  <a:lnTo>
                    <a:pt x="5235" y="14685"/>
                  </a:lnTo>
                  <a:lnTo>
                    <a:pt x="4751" y="14346"/>
                  </a:lnTo>
                  <a:lnTo>
                    <a:pt x="4266" y="13958"/>
                  </a:lnTo>
                  <a:lnTo>
                    <a:pt x="3830" y="13570"/>
                  </a:lnTo>
                  <a:lnTo>
                    <a:pt x="3394" y="13134"/>
                  </a:lnTo>
                  <a:lnTo>
                    <a:pt x="3054" y="12650"/>
                  </a:lnTo>
                  <a:lnTo>
                    <a:pt x="2715" y="12116"/>
                  </a:lnTo>
                  <a:lnTo>
                    <a:pt x="2424" y="11583"/>
                  </a:lnTo>
                  <a:lnTo>
                    <a:pt x="2182" y="11002"/>
                  </a:lnTo>
                  <a:lnTo>
                    <a:pt x="1988" y="10420"/>
                  </a:lnTo>
                  <a:lnTo>
                    <a:pt x="1891" y="9839"/>
                  </a:lnTo>
                  <a:lnTo>
                    <a:pt x="1794" y="9209"/>
                  </a:lnTo>
                  <a:lnTo>
                    <a:pt x="1940" y="9209"/>
                  </a:lnTo>
                  <a:lnTo>
                    <a:pt x="2133" y="9160"/>
                  </a:lnTo>
                  <a:lnTo>
                    <a:pt x="2279" y="9063"/>
                  </a:lnTo>
                  <a:lnTo>
                    <a:pt x="2376" y="8869"/>
                  </a:lnTo>
                  <a:lnTo>
                    <a:pt x="2424" y="8675"/>
                  </a:lnTo>
                  <a:lnTo>
                    <a:pt x="2376" y="8482"/>
                  </a:lnTo>
                  <a:lnTo>
                    <a:pt x="2279" y="8336"/>
                  </a:lnTo>
                  <a:lnTo>
                    <a:pt x="2133" y="8191"/>
                  </a:lnTo>
                  <a:lnTo>
                    <a:pt x="1794" y="8191"/>
                  </a:lnTo>
                  <a:lnTo>
                    <a:pt x="1891" y="7561"/>
                  </a:lnTo>
                  <a:lnTo>
                    <a:pt x="1988" y="6931"/>
                  </a:lnTo>
                  <a:lnTo>
                    <a:pt x="2182" y="6349"/>
                  </a:lnTo>
                  <a:lnTo>
                    <a:pt x="2424" y="5768"/>
                  </a:lnTo>
                  <a:lnTo>
                    <a:pt x="2715" y="5234"/>
                  </a:lnTo>
                  <a:lnTo>
                    <a:pt x="3054" y="4750"/>
                  </a:lnTo>
                  <a:lnTo>
                    <a:pt x="3394" y="4265"/>
                  </a:lnTo>
                  <a:lnTo>
                    <a:pt x="3830" y="3781"/>
                  </a:lnTo>
                  <a:lnTo>
                    <a:pt x="4266" y="3393"/>
                  </a:lnTo>
                  <a:lnTo>
                    <a:pt x="4751" y="3005"/>
                  </a:lnTo>
                  <a:lnTo>
                    <a:pt x="5235" y="2714"/>
                  </a:lnTo>
                  <a:lnTo>
                    <a:pt x="5768" y="2424"/>
                  </a:lnTo>
                  <a:lnTo>
                    <a:pt x="6350" y="2181"/>
                  </a:lnTo>
                  <a:lnTo>
                    <a:pt x="6931" y="1987"/>
                  </a:lnTo>
                  <a:lnTo>
                    <a:pt x="7561" y="1890"/>
                  </a:lnTo>
                  <a:lnTo>
                    <a:pt x="8192" y="1793"/>
                  </a:lnTo>
                  <a:lnTo>
                    <a:pt x="8192" y="1890"/>
                  </a:lnTo>
                  <a:lnTo>
                    <a:pt x="8240" y="2133"/>
                  </a:lnTo>
                  <a:lnTo>
                    <a:pt x="8337" y="2278"/>
                  </a:lnTo>
                  <a:lnTo>
                    <a:pt x="8482" y="2375"/>
                  </a:lnTo>
                  <a:lnTo>
                    <a:pt x="8676" y="2424"/>
                  </a:lnTo>
                  <a:lnTo>
                    <a:pt x="8870" y="2375"/>
                  </a:lnTo>
                  <a:lnTo>
                    <a:pt x="9064" y="2278"/>
                  </a:lnTo>
                  <a:lnTo>
                    <a:pt x="9161" y="2133"/>
                  </a:lnTo>
                  <a:lnTo>
                    <a:pt x="9209" y="1890"/>
                  </a:lnTo>
                  <a:lnTo>
                    <a:pt x="9209" y="1793"/>
                  </a:lnTo>
                  <a:close/>
                  <a:moveTo>
                    <a:pt x="8676" y="0"/>
                  </a:moveTo>
                  <a:lnTo>
                    <a:pt x="8482" y="49"/>
                  </a:lnTo>
                  <a:lnTo>
                    <a:pt x="8337" y="146"/>
                  </a:lnTo>
                  <a:lnTo>
                    <a:pt x="8240" y="340"/>
                  </a:lnTo>
                  <a:lnTo>
                    <a:pt x="8192" y="533"/>
                  </a:lnTo>
                  <a:lnTo>
                    <a:pt x="8192" y="776"/>
                  </a:lnTo>
                  <a:lnTo>
                    <a:pt x="7465" y="873"/>
                  </a:lnTo>
                  <a:lnTo>
                    <a:pt x="6786" y="1018"/>
                  </a:lnTo>
                  <a:lnTo>
                    <a:pt x="6108" y="1212"/>
                  </a:lnTo>
                  <a:lnTo>
                    <a:pt x="5429" y="1454"/>
                  </a:lnTo>
                  <a:lnTo>
                    <a:pt x="4799" y="1793"/>
                  </a:lnTo>
                  <a:lnTo>
                    <a:pt x="4169" y="2181"/>
                  </a:lnTo>
                  <a:lnTo>
                    <a:pt x="3636" y="2617"/>
                  </a:lnTo>
                  <a:lnTo>
                    <a:pt x="3103" y="3102"/>
                  </a:lnTo>
                  <a:lnTo>
                    <a:pt x="2618" y="3635"/>
                  </a:lnTo>
                  <a:lnTo>
                    <a:pt x="2182" y="4168"/>
                  </a:lnTo>
                  <a:lnTo>
                    <a:pt x="1794" y="4798"/>
                  </a:lnTo>
                  <a:lnTo>
                    <a:pt x="1455" y="5428"/>
                  </a:lnTo>
                  <a:lnTo>
                    <a:pt x="1213" y="6058"/>
                  </a:lnTo>
                  <a:lnTo>
                    <a:pt x="1019" y="6737"/>
                  </a:lnTo>
                  <a:lnTo>
                    <a:pt x="873" y="7464"/>
                  </a:lnTo>
                  <a:lnTo>
                    <a:pt x="776" y="8191"/>
                  </a:lnTo>
                  <a:lnTo>
                    <a:pt x="340" y="8191"/>
                  </a:lnTo>
                  <a:lnTo>
                    <a:pt x="146" y="8336"/>
                  </a:lnTo>
                  <a:lnTo>
                    <a:pt x="49" y="8482"/>
                  </a:lnTo>
                  <a:lnTo>
                    <a:pt x="1" y="8675"/>
                  </a:lnTo>
                  <a:lnTo>
                    <a:pt x="49" y="8869"/>
                  </a:lnTo>
                  <a:lnTo>
                    <a:pt x="146" y="9063"/>
                  </a:lnTo>
                  <a:lnTo>
                    <a:pt x="340" y="9160"/>
                  </a:lnTo>
                  <a:lnTo>
                    <a:pt x="534" y="9209"/>
                  </a:lnTo>
                  <a:lnTo>
                    <a:pt x="776" y="9209"/>
                  </a:lnTo>
                  <a:lnTo>
                    <a:pt x="873" y="9887"/>
                  </a:lnTo>
                  <a:lnTo>
                    <a:pt x="1019" y="10614"/>
                  </a:lnTo>
                  <a:lnTo>
                    <a:pt x="1213" y="11293"/>
                  </a:lnTo>
                  <a:lnTo>
                    <a:pt x="1455" y="11923"/>
                  </a:lnTo>
                  <a:lnTo>
                    <a:pt x="1794" y="12553"/>
                  </a:lnTo>
                  <a:lnTo>
                    <a:pt x="2182" y="13183"/>
                  </a:lnTo>
                  <a:lnTo>
                    <a:pt x="2618" y="13764"/>
                  </a:lnTo>
                  <a:lnTo>
                    <a:pt x="3103" y="14297"/>
                  </a:lnTo>
                  <a:lnTo>
                    <a:pt x="3636" y="14782"/>
                  </a:lnTo>
                  <a:lnTo>
                    <a:pt x="4169" y="15218"/>
                  </a:lnTo>
                  <a:lnTo>
                    <a:pt x="4799" y="15557"/>
                  </a:lnTo>
                  <a:lnTo>
                    <a:pt x="5429" y="15897"/>
                  </a:lnTo>
                  <a:lnTo>
                    <a:pt x="6108" y="16188"/>
                  </a:lnTo>
                  <a:lnTo>
                    <a:pt x="6786" y="16381"/>
                  </a:lnTo>
                  <a:lnTo>
                    <a:pt x="7465" y="16527"/>
                  </a:lnTo>
                  <a:lnTo>
                    <a:pt x="8192" y="16575"/>
                  </a:lnTo>
                  <a:lnTo>
                    <a:pt x="8192" y="16866"/>
                  </a:lnTo>
                  <a:lnTo>
                    <a:pt x="8240" y="17060"/>
                  </a:lnTo>
                  <a:lnTo>
                    <a:pt x="8337" y="17205"/>
                  </a:lnTo>
                  <a:lnTo>
                    <a:pt x="8482" y="17302"/>
                  </a:lnTo>
                  <a:lnTo>
                    <a:pt x="8676" y="17351"/>
                  </a:lnTo>
                  <a:lnTo>
                    <a:pt x="8870" y="17302"/>
                  </a:lnTo>
                  <a:lnTo>
                    <a:pt x="9064" y="17205"/>
                  </a:lnTo>
                  <a:lnTo>
                    <a:pt x="9161" y="17060"/>
                  </a:lnTo>
                  <a:lnTo>
                    <a:pt x="9209" y="16866"/>
                  </a:lnTo>
                  <a:lnTo>
                    <a:pt x="9209" y="16575"/>
                  </a:lnTo>
                  <a:lnTo>
                    <a:pt x="9888" y="16527"/>
                  </a:lnTo>
                  <a:lnTo>
                    <a:pt x="10615" y="16381"/>
                  </a:lnTo>
                  <a:lnTo>
                    <a:pt x="11293" y="16188"/>
                  </a:lnTo>
                  <a:lnTo>
                    <a:pt x="11923" y="15897"/>
                  </a:lnTo>
                  <a:lnTo>
                    <a:pt x="12553" y="15557"/>
                  </a:lnTo>
                  <a:lnTo>
                    <a:pt x="13183" y="15218"/>
                  </a:lnTo>
                  <a:lnTo>
                    <a:pt x="13765" y="14782"/>
                  </a:lnTo>
                  <a:lnTo>
                    <a:pt x="14298" y="14297"/>
                  </a:lnTo>
                  <a:lnTo>
                    <a:pt x="14783" y="13764"/>
                  </a:lnTo>
                  <a:lnTo>
                    <a:pt x="15219" y="13183"/>
                  </a:lnTo>
                  <a:lnTo>
                    <a:pt x="15607" y="12553"/>
                  </a:lnTo>
                  <a:lnTo>
                    <a:pt x="15897" y="11923"/>
                  </a:lnTo>
                  <a:lnTo>
                    <a:pt x="16188" y="11293"/>
                  </a:lnTo>
                  <a:lnTo>
                    <a:pt x="16382" y="10614"/>
                  </a:lnTo>
                  <a:lnTo>
                    <a:pt x="16528" y="9887"/>
                  </a:lnTo>
                  <a:lnTo>
                    <a:pt x="16576" y="9209"/>
                  </a:lnTo>
                  <a:lnTo>
                    <a:pt x="16867" y="9209"/>
                  </a:lnTo>
                  <a:lnTo>
                    <a:pt x="17061" y="9160"/>
                  </a:lnTo>
                  <a:lnTo>
                    <a:pt x="17206" y="9063"/>
                  </a:lnTo>
                  <a:lnTo>
                    <a:pt x="17303" y="8869"/>
                  </a:lnTo>
                  <a:lnTo>
                    <a:pt x="17351" y="8675"/>
                  </a:lnTo>
                  <a:lnTo>
                    <a:pt x="17303" y="8482"/>
                  </a:lnTo>
                  <a:lnTo>
                    <a:pt x="17206" y="8336"/>
                  </a:lnTo>
                  <a:lnTo>
                    <a:pt x="17061" y="8191"/>
                  </a:lnTo>
                  <a:lnTo>
                    <a:pt x="16576" y="8191"/>
                  </a:lnTo>
                  <a:lnTo>
                    <a:pt x="16528" y="7464"/>
                  </a:lnTo>
                  <a:lnTo>
                    <a:pt x="16382" y="6737"/>
                  </a:lnTo>
                  <a:lnTo>
                    <a:pt x="16188" y="6058"/>
                  </a:lnTo>
                  <a:lnTo>
                    <a:pt x="15897" y="5428"/>
                  </a:lnTo>
                  <a:lnTo>
                    <a:pt x="15607" y="4798"/>
                  </a:lnTo>
                  <a:lnTo>
                    <a:pt x="15219" y="4168"/>
                  </a:lnTo>
                  <a:lnTo>
                    <a:pt x="14783" y="3635"/>
                  </a:lnTo>
                  <a:lnTo>
                    <a:pt x="14298" y="3102"/>
                  </a:lnTo>
                  <a:lnTo>
                    <a:pt x="13765" y="2617"/>
                  </a:lnTo>
                  <a:lnTo>
                    <a:pt x="13183" y="2181"/>
                  </a:lnTo>
                  <a:lnTo>
                    <a:pt x="12553" y="1793"/>
                  </a:lnTo>
                  <a:lnTo>
                    <a:pt x="11923" y="1454"/>
                  </a:lnTo>
                  <a:lnTo>
                    <a:pt x="11293" y="1212"/>
                  </a:lnTo>
                  <a:lnTo>
                    <a:pt x="10615" y="1018"/>
                  </a:lnTo>
                  <a:lnTo>
                    <a:pt x="9888" y="873"/>
                  </a:lnTo>
                  <a:lnTo>
                    <a:pt x="9209" y="776"/>
                  </a:lnTo>
                  <a:lnTo>
                    <a:pt x="9209" y="533"/>
                  </a:lnTo>
                  <a:lnTo>
                    <a:pt x="9161" y="340"/>
                  </a:lnTo>
                  <a:lnTo>
                    <a:pt x="9064" y="146"/>
                  </a:lnTo>
                  <a:lnTo>
                    <a:pt x="8870" y="49"/>
                  </a:lnTo>
                  <a:lnTo>
                    <a:pt x="86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4AA738C-4136-81BF-B2CB-1C673A8BFB62}"/>
              </a:ext>
            </a:extLst>
          </p:cNvPr>
          <p:cNvSpPr txBox="1"/>
          <p:nvPr/>
        </p:nvSpPr>
        <p:spPr>
          <a:xfrm>
            <a:off x="1397000" y="4826000"/>
            <a:ext cx="6350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50">
                <a:solidFill>
                  <a:srgbClr val="5A6C7A"/>
                </a:solidFill>
                <a:latin typeface="DM Sans" pitchFamily="2" charset="0"/>
              </a:rPr>
              <a:t>Source: CFPB 2024 Consumer Response Annual Report. Client scale, business-hours share and peak multiplier are assumptions.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6"/>
          <p:cNvSpPr txBox="1">
            <a:spLocks noGrp="1"/>
          </p:cNvSpPr>
          <p:nvPr>
            <p:ph type="title"/>
          </p:nvPr>
        </p:nvSpPr>
        <p:spPr>
          <a:xfrm>
            <a:off x="720000" y="26517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Performance &amp; Accuracy Requirements</a:t>
            </a:r>
            <a:endParaRPr sz="30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D4A9C3-7EDA-5E59-26BA-9B9F297AAB69}"/>
              </a:ext>
            </a:extLst>
          </p:cNvPr>
          <p:cNvSpPr/>
          <p:nvPr/>
        </p:nvSpPr>
        <p:spPr>
          <a:xfrm>
            <a:off x="723900" y="1117600"/>
            <a:ext cx="495300" cy="355600"/>
          </a:xfrm>
          <a:prstGeom prst="rect">
            <a:avLst/>
          </a:prstGeom>
          <a:solidFill>
            <a:srgbClr val="CAF1FA"/>
          </a:solidFill>
          <a:ln w="7620">
            <a:solidFill>
              <a:srgbClr val="A1B9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25400" rtlCol="0" anchor="ctr"/>
          <a:lstStyle/>
          <a:p>
            <a:r>
              <a:rPr lang="en-US" sz="1250" b="1">
                <a:solidFill>
                  <a:srgbClr val="384655"/>
                </a:solidFill>
                <a:latin typeface="DM Sans" pitchFamily="2" charset="0"/>
              </a:rPr>
              <a:t>ID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60D1BA-0B3F-9085-05CA-7F17C672D8D2}"/>
              </a:ext>
            </a:extLst>
          </p:cNvPr>
          <p:cNvSpPr/>
          <p:nvPr/>
        </p:nvSpPr>
        <p:spPr>
          <a:xfrm>
            <a:off x="1219200" y="1117600"/>
            <a:ext cx="3302000" cy="355600"/>
          </a:xfrm>
          <a:prstGeom prst="rect">
            <a:avLst/>
          </a:prstGeom>
          <a:solidFill>
            <a:srgbClr val="CAF1FA"/>
          </a:solidFill>
          <a:ln w="7620">
            <a:solidFill>
              <a:srgbClr val="A1B9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25400" rtlCol="0" anchor="ctr"/>
          <a:lstStyle/>
          <a:p>
            <a:r>
              <a:rPr lang="en-US" sz="1250" b="1">
                <a:solidFill>
                  <a:srgbClr val="384655"/>
                </a:solidFill>
                <a:latin typeface="DM Sans" pitchFamily="2" charset="0"/>
              </a:rPr>
              <a:t>Requirement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6DAC00-5BE0-9E99-8CDB-792010AA6022}"/>
              </a:ext>
            </a:extLst>
          </p:cNvPr>
          <p:cNvSpPr/>
          <p:nvPr/>
        </p:nvSpPr>
        <p:spPr>
          <a:xfrm>
            <a:off x="4521200" y="1117600"/>
            <a:ext cx="1422400" cy="355600"/>
          </a:xfrm>
          <a:prstGeom prst="rect">
            <a:avLst/>
          </a:prstGeom>
          <a:solidFill>
            <a:srgbClr val="CAF1FA"/>
          </a:solidFill>
          <a:ln w="7620">
            <a:solidFill>
              <a:srgbClr val="A1B9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25400" rtlCol="0" anchor="ctr"/>
          <a:lstStyle/>
          <a:p>
            <a:r>
              <a:rPr lang="en-US" sz="1250" b="1">
                <a:solidFill>
                  <a:srgbClr val="384655"/>
                </a:solidFill>
                <a:latin typeface="DM Sans" pitchFamily="2" charset="0"/>
              </a:rPr>
              <a:t>Threshold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1D920E-4AC5-771D-D1F6-94DF3D189018}"/>
              </a:ext>
            </a:extLst>
          </p:cNvPr>
          <p:cNvSpPr/>
          <p:nvPr/>
        </p:nvSpPr>
        <p:spPr>
          <a:xfrm>
            <a:off x="5943600" y="1117600"/>
            <a:ext cx="2489200" cy="355600"/>
          </a:xfrm>
          <a:prstGeom prst="rect">
            <a:avLst/>
          </a:prstGeom>
          <a:solidFill>
            <a:srgbClr val="CAF1FA"/>
          </a:solidFill>
          <a:ln w="7620">
            <a:solidFill>
              <a:srgbClr val="A1B9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25400" rtlCol="0" anchor="ctr"/>
          <a:lstStyle/>
          <a:p>
            <a:r>
              <a:rPr lang="en-US" sz="1250" b="1">
                <a:solidFill>
                  <a:srgbClr val="384655"/>
                </a:solidFill>
                <a:latin typeface="DM Sans" pitchFamily="2" charset="0"/>
              </a:rPr>
              <a:t>Condition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B80BF0-EF03-95B9-82DD-7345CE8D0D88}"/>
              </a:ext>
            </a:extLst>
          </p:cNvPr>
          <p:cNvSpPr/>
          <p:nvPr/>
        </p:nvSpPr>
        <p:spPr>
          <a:xfrm>
            <a:off x="723900" y="1473200"/>
            <a:ext cx="495300" cy="558800"/>
          </a:xfrm>
          <a:prstGeom prst="rect">
            <a:avLst/>
          </a:prstGeom>
          <a:solidFill>
            <a:srgbClr val="FFFFFF"/>
          </a:solidFill>
          <a:ln w="7620">
            <a:solidFill>
              <a:srgbClr val="A1B9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25400" rtlCol="0" anchor="ctr"/>
          <a:lstStyle/>
          <a:p>
            <a:r>
              <a:rPr lang="en-US" sz="1150" b="1">
                <a:solidFill>
                  <a:srgbClr val="384655"/>
                </a:solidFill>
                <a:latin typeface="DM Sans" pitchFamily="2" charset="0"/>
              </a:rPr>
              <a:t>R1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C1F254-38AB-5D20-1604-7E2C0A072EE2}"/>
              </a:ext>
            </a:extLst>
          </p:cNvPr>
          <p:cNvSpPr/>
          <p:nvPr/>
        </p:nvSpPr>
        <p:spPr>
          <a:xfrm>
            <a:off x="1219200" y="1473200"/>
            <a:ext cx="3302000" cy="558800"/>
          </a:xfrm>
          <a:prstGeom prst="rect">
            <a:avLst/>
          </a:prstGeom>
          <a:solidFill>
            <a:srgbClr val="FFFFFF"/>
          </a:solidFill>
          <a:ln w="7620">
            <a:solidFill>
              <a:srgbClr val="A1B9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25400" rtlCol="0" anchor="ctr"/>
          <a:lstStyle/>
          <a:p>
            <a:r>
              <a:rPr lang="en-US" sz="1150">
                <a:solidFill>
                  <a:srgbClr val="384655"/>
                </a:solidFill>
                <a:latin typeface="DM Sans" pitchFamily="2" charset="0"/>
              </a:rPr>
              <a:t>POST /tickets p95 + error rate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BDA6C3-FD7C-CB38-5F42-0011085D61A9}"/>
              </a:ext>
            </a:extLst>
          </p:cNvPr>
          <p:cNvSpPr/>
          <p:nvPr/>
        </p:nvSpPr>
        <p:spPr>
          <a:xfrm>
            <a:off x="4521200" y="1473200"/>
            <a:ext cx="1422400" cy="558800"/>
          </a:xfrm>
          <a:prstGeom prst="rect">
            <a:avLst/>
          </a:prstGeom>
          <a:solidFill>
            <a:srgbClr val="FFFFFF"/>
          </a:solidFill>
          <a:ln w="7620">
            <a:solidFill>
              <a:srgbClr val="A1B9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25400" rtlCol="0" anchor="ctr"/>
          <a:lstStyle/>
          <a:p>
            <a:r>
              <a:rPr lang="en-US" sz="1150">
                <a:solidFill>
                  <a:srgbClr val="384655"/>
                </a:solidFill>
                <a:latin typeface="DM Sans" pitchFamily="2" charset="0"/>
              </a:rPr>
              <a:t>&lt;=60 s; &lt;=1%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579AFE-197C-EC34-C6DD-7873877EB7B4}"/>
              </a:ext>
            </a:extLst>
          </p:cNvPr>
          <p:cNvSpPr/>
          <p:nvPr/>
        </p:nvSpPr>
        <p:spPr>
          <a:xfrm>
            <a:off x="5943600" y="1473200"/>
            <a:ext cx="2489200" cy="558800"/>
          </a:xfrm>
          <a:prstGeom prst="rect">
            <a:avLst/>
          </a:prstGeom>
          <a:solidFill>
            <a:srgbClr val="FFFFFF"/>
          </a:solidFill>
          <a:ln w="7620">
            <a:solidFill>
              <a:srgbClr val="A1B9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25400" rtlCol="0" anchor="ctr"/>
          <a:lstStyle/>
          <a:p>
            <a:r>
              <a:rPr lang="en-US" sz="1150">
                <a:solidFill>
                  <a:srgbClr val="384655"/>
                </a:solidFill>
                <a:latin typeface="DM Sans" pitchFamily="2" charset="0"/>
              </a:rPr>
              <a:t>Peak: 9 tickets/hour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3C16FF-1D32-5FD5-23C8-D91BDCE54144}"/>
              </a:ext>
            </a:extLst>
          </p:cNvPr>
          <p:cNvSpPr/>
          <p:nvPr/>
        </p:nvSpPr>
        <p:spPr>
          <a:xfrm>
            <a:off x="723900" y="2032000"/>
            <a:ext cx="495300" cy="558800"/>
          </a:xfrm>
          <a:prstGeom prst="rect">
            <a:avLst/>
          </a:prstGeom>
          <a:solidFill>
            <a:srgbClr val="EFF9FC"/>
          </a:solidFill>
          <a:ln w="7620">
            <a:solidFill>
              <a:srgbClr val="A1B9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25400" rtlCol="0" anchor="ctr"/>
          <a:lstStyle/>
          <a:p>
            <a:r>
              <a:rPr lang="en-US" sz="1150" b="1">
                <a:solidFill>
                  <a:srgbClr val="384655"/>
                </a:solidFill>
                <a:latin typeface="DM Sans" pitchFamily="2" charset="0"/>
              </a:rPr>
              <a:t>R2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710F89-D05D-EB4D-CCA8-D32E6694CC99}"/>
              </a:ext>
            </a:extLst>
          </p:cNvPr>
          <p:cNvSpPr/>
          <p:nvPr/>
        </p:nvSpPr>
        <p:spPr>
          <a:xfrm>
            <a:off x="1219200" y="2032000"/>
            <a:ext cx="3302000" cy="558800"/>
          </a:xfrm>
          <a:prstGeom prst="rect">
            <a:avLst/>
          </a:prstGeom>
          <a:solidFill>
            <a:srgbClr val="EFF9FC"/>
          </a:solidFill>
          <a:ln w="7620">
            <a:solidFill>
              <a:srgbClr val="A1B9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25400" rtlCol="0" anchor="ctr"/>
          <a:lstStyle/>
          <a:p>
            <a:r>
              <a:rPr lang="en-US" sz="1150">
                <a:solidFill>
                  <a:srgbClr val="384655"/>
                </a:solidFill>
                <a:latin typeface="DM Sans" pitchFamily="2" charset="0"/>
              </a:rPr>
              <a:t>Sustained classified throughput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8A97CF-A38C-088F-C556-838D9E6339AE}"/>
              </a:ext>
            </a:extLst>
          </p:cNvPr>
          <p:cNvSpPr/>
          <p:nvPr/>
        </p:nvSpPr>
        <p:spPr>
          <a:xfrm>
            <a:off x="4521200" y="2032000"/>
            <a:ext cx="1422400" cy="558800"/>
          </a:xfrm>
          <a:prstGeom prst="rect">
            <a:avLst/>
          </a:prstGeom>
          <a:solidFill>
            <a:srgbClr val="EFF9FC"/>
          </a:solidFill>
          <a:ln w="7620">
            <a:solidFill>
              <a:srgbClr val="A1B9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25400" rtlCol="0" anchor="ctr"/>
          <a:lstStyle/>
          <a:p>
            <a:r>
              <a:rPr lang="en-US" sz="1150">
                <a:solidFill>
                  <a:srgbClr val="384655"/>
                </a:solidFill>
                <a:latin typeface="DM Sans" pitchFamily="2" charset="0"/>
              </a:rPr>
              <a:t>&gt;=9 tickets/h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6E5CCB-35EF-BC4A-43D1-47FE0B4861D1}"/>
              </a:ext>
            </a:extLst>
          </p:cNvPr>
          <p:cNvSpPr/>
          <p:nvPr/>
        </p:nvSpPr>
        <p:spPr>
          <a:xfrm>
            <a:off x="5943600" y="2032000"/>
            <a:ext cx="2489200" cy="558800"/>
          </a:xfrm>
          <a:prstGeom prst="rect">
            <a:avLst/>
          </a:prstGeom>
          <a:solidFill>
            <a:srgbClr val="EFF9FC"/>
          </a:solidFill>
          <a:ln w="7620">
            <a:solidFill>
              <a:srgbClr val="A1B9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25400" rtlCol="0" anchor="ctr"/>
          <a:lstStyle/>
          <a:p>
            <a:r>
              <a:rPr lang="en-US" sz="1150">
                <a:solidFill>
                  <a:srgbClr val="384655"/>
                </a:solidFill>
                <a:latin typeface="DM Sans" pitchFamily="2" charset="0"/>
              </a:rPr>
              <a:t>No growing backlog; &lt;=1% errors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3E48E7-C543-48F3-F9FC-5D8EE40CBDC4}"/>
              </a:ext>
            </a:extLst>
          </p:cNvPr>
          <p:cNvSpPr/>
          <p:nvPr/>
        </p:nvSpPr>
        <p:spPr>
          <a:xfrm>
            <a:off x="723900" y="2590800"/>
            <a:ext cx="495300" cy="558800"/>
          </a:xfrm>
          <a:prstGeom prst="rect">
            <a:avLst/>
          </a:prstGeom>
          <a:solidFill>
            <a:srgbClr val="FFFFFF"/>
          </a:solidFill>
          <a:ln w="7620">
            <a:solidFill>
              <a:srgbClr val="A1B9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25400" rtlCol="0" anchor="ctr"/>
          <a:lstStyle/>
          <a:p>
            <a:r>
              <a:rPr lang="en-US" sz="1150" b="1">
                <a:solidFill>
                  <a:srgbClr val="384655"/>
                </a:solidFill>
                <a:latin typeface="DM Sans" pitchFamily="2" charset="0"/>
              </a:rPr>
              <a:t>R3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6F13FC-923E-AB2E-A5EE-7B5B00DE109A}"/>
              </a:ext>
            </a:extLst>
          </p:cNvPr>
          <p:cNvSpPr/>
          <p:nvPr/>
        </p:nvSpPr>
        <p:spPr>
          <a:xfrm>
            <a:off x="1219200" y="2590800"/>
            <a:ext cx="3302000" cy="558800"/>
          </a:xfrm>
          <a:prstGeom prst="rect">
            <a:avLst/>
          </a:prstGeom>
          <a:solidFill>
            <a:srgbClr val="FFFFFF"/>
          </a:solidFill>
          <a:ln w="7620">
            <a:solidFill>
              <a:srgbClr val="A1B9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25400" rtlCol="0" anchor="ctr"/>
          <a:lstStyle/>
          <a:p>
            <a:r>
              <a:rPr lang="en-US" sz="1150">
                <a:solidFill>
                  <a:srgbClr val="384655"/>
                </a:solidFill>
                <a:latin typeface="DM Sans" pitchFamily="2" charset="0"/>
              </a:rPr>
              <a:t>GET /search p95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6A5CCD-2336-B40D-3C09-2318A9462D7E}"/>
              </a:ext>
            </a:extLst>
          </p:cNvPr>
          <p:cNvSpPr/>
          <p:nvPr/>
        </p:nvSpPr>
        <p:spPr>
          <a:xfrm>
            <a:off x="4521200" y="2590800"/>
            <a:ext cx="1422400" cy="558800"/>
          </a:xfrm>
          <a:prstGeom prst="rect">
            <a:avLst/>
          </a:prstGeom>
          <a:solidFill>
            <a:srgbClr val="FFFFFF"/>
          </a:solidFill>
          <a:ln w="7620">
            <a:solidFill>
              <a:srgbClr val="A1B9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25400" rtlCol="0" anchor="ctr"/>
          <a:lstStyle/>
          <a:p>
            <a:r>
              <a:rPr lang="en-US" sz="1150">
                <a:solidFill>
                  <a:srgbClr val="384655"/>
                </a:solidFill>
                <a:latin typeface="DM Sans" pitchFamily="2" charset="0"/>
              </a:rPr>
              <a:t>&lt;=2 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206E29-7847-DFD5-152F-1167DFB979FA}"/>
              </a:ext>
            </a:extLst>
          </p:cNvPr>
          <p:cNvSpPr/>
          <p:nvPr/>
        </p:nvSpPr>
        <p:spPr>
          <a:xfrm>
            <a:off x="5943600" y="2590800"/>
            <a:ext cx="2489200" cy="558800"/>
          </a:xfrm>
          <a:prstGeom prst="rect">
            <a:avLst/>
          </a:prstGeom>
          <a:solidFill>
            <a:srgbClr val="FFFFFF"/>
          </a:solidFill>
          <a:ln w="7620">
            <a:solidFill>
              <a:srgbClr val="A1B9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25400" rtlCol="0" anchor="ctr"/>
          <a:lstStyle/>
          <a:p>
            <a:r>
              <a:rPr lang="en-US" sz="1150">
                <a:solidFill>
                  <a:srgbClr val="384655"/>
                </a:solidFill>
                <a:latin typeface="DM Sans" pitchFamily="2" charset="0"/>
              </a:rPr>
              <a:t>9 POST/h + 2 searches/h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DE9A804-CA35-5E85-C47A-A785014D96E3}"/>
              </a:ext>
            </a:extLst>
          </p:cNvPr>
          <p:cNvSpPr/>
          <p:nvPr/>
        </p:nvSpPr>
        <p:spPr>
          <a:xfrm>
            <a:off x="723900" y="3149600"/>
            <a:ext cx="495300" cy="558800"/>
          </a:xfrm>
          <a:prstGeom prst="rect">
            <a:avLst/>
          </a:prstGeom>
          <a:solidFill>
            <a:srgbClr val="EFF9FC"/>
          </a:solidFill>
          <a:ln w="7620">
            <a:solidFill>
              <a:srgbClr val="A1B9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25400" rtlCol="0" anchor="ctr"/>
          <a:lstStyle/>
          <a:p>
            <a:r>
              <a:rPr lang="en-US" sz="1150" b="1">
                <a:solidFill>
                  <a:srgbClr val="384655"/>
                </a:solidFill>
                <a:latin typeface="DM Sans" pitchFamily="2" charset="0"/>
              </a:rPr>
              <a:t>R4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3AC248C-7ABB-5B32-7335-5C721AB5585D}"/>
              </a:ext>
            </a:extLst>
          </p:cNvPr>
          <p:cNvSpPr/>
          <p:nvPr/>
        </p:nvSpPr>
        <p:spPr>
          <a:xfrm>
            <a:off x="1219200" y="3149600"/>
            <a:ext cx="3302000" cy="558800"/>
          </a:xfrm>
          <a:prstGeom prst="rect">
            <a:avLst/>
          </a:prstGeom>
          <a:solidFill>
            <a:srgbClr val="EFF9FC"/>
          </a:solidFill>
          <a:ln w="7620">
            <a:solidFill>
              <a:srgbClr val="A1B9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25400" rtlCol="0" anchor="ctr"/>
          <a:lstStyle/>
          <a:p>
            <a:r>
              <a:rPr lang="en-US" sz="1150">
                <a:solidFill>
                  <a:srgbClr val="384655"/>
                </a:solidFill>
                <a:latin typeface="DM Sans" pitchFamily="2" charset="0"/>
              </a:rPr>
              <a:t>Overall end-to-end accuracy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456672-6CC3-4540-C07A-AD92C68114D7}"/>
              </a:ext>
            </a:extLst>
          </p:cNvPr>
          <p:cNvSpPr/>
          <p:nvPr/>
        </p:nvSpPr>
        <p:spPr>
          <a:xfrm>
            <a:off x="4521200" y="3149600"/>
            <a:ext cx="1422400" cy="558800"/>
          </a:xfrm>
          <a:prstGeom prst="rect">
            <a:avLst/>
          </a:prstGeom>
          <a:solidFill>
            <a:srgbClr val="EFF9FC"/>
          </a:solidFill>
          <a:ln w="7620">
            <a:solidFill>
              <a:srgbClr val="A1B9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25400" rtlCol="0" anchor="ctr"/>
          <a:lstStyle/>
          <a:p>
            <a:r>
              <a:rPr lang="en-US" sz="1150">
                <a:solidFill>
                  <a:srgbClr val="384655"/>
                </a:solidFill>
                <a:latin typeface="DM Sans" pitchFamily="2" charset="0"/>
              </a:rPr>
              <a:t>&gt;=75%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7A303E-07F6-F7BA-556F-C0A6D1F99CDC}"/>
              </a:ext>
            </a:extLst>
          </p:cNvPr>
          <p:cNvSpPr/>
          <p:nvPr/>
        </p:nvSpPr>
        <p:spPr>
          <a:xfrm>
            <a:off x="5943600" y="3149600"/>
            <a:ext cx="2489200" cy="558800"/>
          </a:xfrm>
          <a:prstGeom prst="rect">
            <a:avLst/>
          </a:prstGeom>
          <a:solidFill>
            <a:srgbClr val="EFF9FC"/>
          </a:solidFill>
          <a:ln w="7620">
            <a:solidFill>
              <a:srgbClr val="A1B9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25400" rtlCol="0" anchor="ctr"/>
          <a:lstStyle/>
          <a:p>
            <a:r>
              <a:rPr lang="en-US" sz="1150">
                <a:solidFill>
                  <a:srgbClr val="384655"/>
                </a:solidFill>
                <a:latin typeface="DM Sans" pitchFamily="2" charset="0"/>
              </a:rPr>
              <a:t>175 adjudicated tickets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D231D54-A613-ABD0-92EB-9EC1B10FEABC}"/>
              </a:ext>
            </a:extLst>
          </p:cNvPr>
          <p:cNvSpPr/>
          <p:nvPr/>
        </p:nvSpPr>
        <p:spPr>
          <a:xfrm>
            <a:off x="723900" y="3708400"/>
            <a:ext cx="495300" cy="558800"/>
          </a:xfrm>
          <a:prstGeom prst="rect">
            <a:avLst/>
          </a:prstGeom>
          <a:solidFill>
            <a:srgbClr val="FFFFFF"/>
          </a:solidFill>
          <a:ln w="7620">
            <a:solidFill>
              <a:srgbClr val="A1B9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25400" rtlCol="0" anchor="ctr"/>
          <a:lstStyle/>
          <a:p>
            <a:r>
              <a:rPr lang="en-US" sz="1150" b="1">
                <a:solidFill>
                  <a:srgbClr val="384655"/>
                </a:solidFill>
                <a:latin typeface="DM Sans" pitchFamily="2" charset="0"/>
              </a:rPr>
              <a:t>R5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FE47412-3F4C-3031-233D-A99325648D4F}"/>
              </a:ext>
            </a:extLst>
          </p:cNvPr>
          <p:cNvSpPr/>
          <p:nvPr/>
        </p:nvSpPr>
        <p:spPr>
          <a:xfrm>
            <a:off x="1219200" y="3708400"/>
            <a:ext cx="3302000" cy="558800"/>
          </a:xfrm>
          <a:prstGeom prst="rect">
            <a:avLst/>
          </a:prstGeom>
          <a:solidFill>
            <a:srgbClr val="FFFFFF"/>
          </a:solidFill>
          <a:ln w="7620">
            <a:solidFill>
              <a:srgbClr val="A1B9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25400" rtlCol="0" anchor="ctr"/>
          <a:lstStyle/>
          <a:p>
            <a:r>
              <a:rPr lang="en-US" sz="1150">
                <a:solidFill>
                  <a:srgbClr val="384655"/>
                </a:solidFill>
                <a:latin typeface="DM Sans" pitchFamily="2" charset="0"/>
              </a:rPr>
              <a:t>Per-category accuracy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3777752-E5FC-C9F1-1B09-009E7064AD96}"/>
              </a:ext>
            </a:extLst>
          </p:cNvPr>
          <p:cNvSpPr/>
          <p:nvPr/>
        </p:nvSpPr>
        <p:spPr>
          <a:xfrm>
            <a:off x="4521200" y="3708400"/>
            <a:ext cx="1422400" cy="558800"/>
          </a:xfrm>
          <a:prstGeom prst="rect">
            <a:avLst/>
          </a:prstGeom>
          <a:solidFill>
            <a:srgbClr val="FFFFFF"/>
          </a:solidFill>
          <a:ln w="7620">
            <a:solidFill>
              <a:srgbClr val="A1B9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25400" rtlCol="0" anchor="ctr"/>
          <a:lstStyle/>
          <a:p>
            <a:r>
              <a:rPr lang="en-US" sz="1150">
                <a:solidFill>
                  <a:srgbClr val="384655"/>
                </a:solidFill>
                <a:latin typeface="DM Sans" pitchFamily="2" charset="0"/>
              </a:rPr>
              <a:t>&gt;=60% or flag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BEB7946-CF5B-AE9E-7BE9-3E022B9A8255}"/>
              </a:ext>
            </a:extLst>
          </p:cNvPr>
          <p:cNvSpPr/>
          <p:nvPr/>
        </p:nvSpPr>
        <p:spPr>
          <a:xfrm>
            <a:off x="5943600" y="3708400"/>
            <a:ext cx="2489200" cy="558800"/>
          </a:xfrm>
          <a:prstGeom prst="rect">
            <a:avLst/>
          </a:prstGeom>
          <a:solidFill>
            <a:srgbClr val="FFFFFF"/>
          </a:solidFill>
          <a:ln w="7620">
            <a:solidFill>
              <a:srgbClr val="A1B9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25400" rtlCol="0" anchor="ctr"/>
          <a:lstStyle/>
          <a:p>
            <a:r>
              <a:rPr lang="en-US" sz="1150">
                <a:solidFill>
                  <a:srgbClr val="384655"/>
                </a:solidFill>
                <a:latin typeface="DM Sans" pitchFamily="2" charset="0"/>
              </a:rPr>
              <a:t>Each of 7 categories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71E3EB-C812-F876-2DC1-4CE273C59993}"/>
              </a:ext>
            </a:extLst>
          </p:cNvPr>
          <p:cNvSpPr txBox="1"/>
          <p:nvPr/>
        </p:nvSpPr>
        <p:spPr>
          <a:xfrm>
            <a:off x="749300" y="4419600"/>
            <a:ext cx="76327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5A6C7A"/>
                </a:solidFill>
                <a:latin typeface="DM Sans" pitchFamily="2" charset="0"/>
              </a:rPr>
              <a:t>Modelled client peak: 9/h. Measured load: 60/h and 180/h as headroom evidence, not a direct 9/h latency test.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7"/>
          <p:cNvSpPr txBox="1">
            <a:spLocks noGrp="1"/>
          </p:cNvSpPr>
          <p:nvPr>
            <p:ph type="title"/>
          </p:nvPr>
        </p:nvSpPr>
        <p:spPr>
          <a:xfrm>
            <a:off x="720000" y="26517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Candidate Models </a:t>
            </a:r>
            <a:endParaRPr/>
          </a:p>
        </p:txBody>
      </p:sp>
      <p:graphicFrame>
        <p:nvGraphicFramePr>
          <p:cNvPr id="443" name="Google Shape;443;p37"/>
          <p:cNvGraphicFramePr/>
          <p:nvPr/>
        </p:nvGraphicFramePr>
        <p:xfrm>
          <a:off x="1354550" y="1601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{1A484EB1-52C8-4F88-B49D-DAC7C477A5D6}</a:tableStyleId>
              </a:tblPr>
              <a:tblGrid>
                <a:gridCol w="118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7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6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78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1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Candidate</a:t>
                      </a:r>
                      <a:endParaRPr sz="1100" b="1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8DAF8">
                        <a:alpha val="34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Exact Ollama tag / digest</a:t>
                      </a:r>
                      <a:endParaRPr sz="1100" b="1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8DAF8">
                        <a:alpha val="34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Size class</a:t>
                      </a:r>
                      <a:endParaRPr sz="1100" b="1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8DAF8">
                        <a:alpha val="34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Why included</a:t>
                      </a:r>
                      <a:endParaRPr sz="1100" b="1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8DAF8">
                        <a:alpha val="3418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7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Llama 3.2 1B</a:t>
                      </a:r>
                      <a:endParaRPr sz="11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llama3.2:1b</a:t>
                      </a:r>
                      <a:endParaRPr sz="11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baf6a787fdff</a:t>
                      </a:r>
                      <a:endParaRPr sz="11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Small</a:t>
                      </a:r>
                      <a:endParaRPr sz="11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1.3 GB</a:t>
                      </a:r>
                      <a:endParaRPr sz="11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Fastest expected baseline; checks minimum CPU cost but likely weaker accuracy.</a:t>
                      </a:r>
                      <a:endParaRPr sz="11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7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Gemma 3 4B</a:t>
                      </a:r>
                      <a:endParaRPr sz="11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gemma3:4b</a:t>
                      </a:r>
                      <a:endParaRPr sz="11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a2af6cc3eb7f</a:t>
                      </a:r>
                      <a:endParaRPr sz="11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Medium</a:t>
                      </a:r>
                      <a:endParaRPr sz="11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3.3 GB</a:t>
                      </a:r>
                      <a:endParaRPr sz="11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Expected best balance of accuracy, latency and CPU memory use.</a:t>
                      </a:r>
                      <a:endParaRPr sz="11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7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Mistral 7B Instruct</a:t>
                      </a:r>
                      <a:endParaRPr sz="11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mistral:7b-instruct</a:t>
                      </a:r>
                      <a:endParaRPr sz="11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6577803aa9a0</a:t>
                      </a:r>
                      <a:endParaRPr sz="11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Large</a:t>
                      </a:r>
                      <a:endParaRPr sz="11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4.4 GB</a:t>
                      </a:r>
                      <a:endParaRPr sz="11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Tests upper accuracy potential, but may be slower and less stable on CPU.</a:t>
                      </a:r>
                      <a:endParaRPr sz="11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44" name="Google Shape;444;p37"/>
          <p:cNvSpPr txBox="1"/>
          <p:nvPr/>
        </p:nvSpPr>
        <p:spPr>
          <a:xfrm>
            <a:off x="67050" y="1056963"/>
            <a:ext cx="9009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F6973"/>
                </a:solidFill>
                <a:latin typeface="DM Sans"/>
                <a:ea typeface="DM Sans"/>
                <a:cs typeface="DM Sans"/>
                <a:sym typeface="DM Sans"/>
              </a:rPr>
              <a:t>Three CPU-only Ollama candidates span small, medium and larger local models; all are pinned by exact tag and digest.</a:t>
            </a:r>
            <a:endParaRPr sz="1200">
              <a:solidFill>
                <a:srgbClr val="5F697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45" name="Google Shape;445;p37"/>
          <p:cNvSpPr txBox="1"/>
          <p:nvPr/>
        </p:nvSpPr>
        <p:spPr>
          <a:xfrm>
            <a:off x="848925" y="4080550"/>
            <a:ext cx="7526100" cy="9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2F3D4C"/>
                </a:solidFill>
                <a:latin typeface="Outfit"/>
                <a:ea typeface="Outfit"/>
                <a:cs typeface="Outfit"/>
                <a:sym typeface="Outfit"/>
              </a:rPr>
              <a:t>Selection rationale</a:t>
            </a:r>
            <a:endParaRPr sz="1200" b="1">
              <a:solidFill>
                <a:srgbClr val="2F3D4C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1000"/>
              <a:buFont typeface="DM Sans"/>
              <a:buChar char="●"/>
            </a:pPr>
            <a:r>
              <a:rPr lang="en" sz="1000">
                <a:solidFill>
                  <a:srgbClr val="232D37"/>
                </a:solidFill>
                <a:latin typeface="DM Sans"/>
                <a:ea typeface="DM Sans"/>
                <a:cs typeface="DM Sans"/>
                <a:sym typeface="DM Sans"/>
              </a:rPr>
              <a:t>Spans at least two size classes as required: 1B, 4B and 7B candidates.</a:t>
            </a:r>
            <a:endParaRPr sz="1000">
              <a:solidFill>
                <a:srgbClr val="232D3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1000"/>
              <a:buFont typeface="DM Sans"/>
              <a:buChar char="●"/>
            </a:pPr>
            <a:r>
              <a:rPr lang="en" sz="1000">
                <a:solidFill>
                  <a:srgbClr val="232D37"/>
                </a:solidFill>
                <a:latin typeface="DM Sans"/>
                <a:ea typeface="DM Sans"/>
                <a:cs typeface="DM Sans"/>
                <a:sym typeface="DM Sans"/>
              </a:rPr>
              <a:t>All inference is local through Ollama 0.35.0, CPU-only, no public model API.</a:t>
            </a:r>
            <a:endParaRPr sz="1000">
              <a:solidFill>
                <a:srgbClr val="232D3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1000"/>
              <a:buFont typeface="DM Sans"/>
              <a:buChar char="●"/>
            </a:pPr>
            <a:r>
              <a:rPr lang="en" sz="1000">
                <a:solidFill>
                  <a:srgbClr val="232D37"/>
                </a:solidFill>
                <a:latin typeface="DM Sans"/>
                <a:ea typeface="DM Sans"/>
                <a:cs typeface="DM Sans"/>
                <a:sym typeface="DM Sans"/>
              </a:rPr>
              <a:t>Trade-off tested: smaller = faster/stabler; larger = potentially more accurate but less reliable under memory limits.</a:t>
            </a:r>
            <a:endParaRPr sz="1000">
              <a:solidFill>
                <a:srgbClr val="232D3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8"/>
          <p:cNvSpPr txBox="1">
            <a:spLocks noGrp="1"/>
          </p:cNvSpPr>
          <p:nvPr>
            <p:ph type="title"/>
          </p:nvPr>
        </p:nvSpPr>
        <p:spPr>
          <a:xfrm>
            <a:off x="720000" y="26517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Golden Test Set</a:t>
            </a:r>
            <a:endParaRPr/>
          </a:p>
        </p:txBody>
      </p:sp>
      <p:sp>
        <p:nvSpPr>
          <p:cNvPr id="451" name="Google Shape;451;p38"/>
          <p:cNvSpPr txBox="1"/>
          <p:nvPr/>
        </p:nvSpPr>
        <p:spPr>
          <a:xfrm>
            <a:off x="1528752" y="2355275"/>
            <a:ext cx="2980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Mars is actually a very cold place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52" name="Google Shape;452;p38"/>
          <p:cNvSpPr txBox="1"/>
          <p:nvPr/>
        </p:nvSpPr>
        <p:spPr>
          <a:xfrm>
            <a:off x="1527275" y="2078300"/>
            <a:ext cx="2980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Survey </a:t>
            </a:r>
            <a:endParaRPr sz="2400" b="1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53" name="Google Shape;453;p38"/>
          <p:cNvSpPr txBox="1"/>
          <p:nvPr/>
        </p:nvSpPr>
        <p:spPr>
          <a:xfrm>
            <a:off x="978425" y="1319625"/>
            <a:ext cx="3529200" cy="5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Data collection</a:t>
            </a:r>
            <a:endParaRPr sz="2400" b="1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54" name="Google Shape;454;p38"/>
          <p:cNvSpPr txBox="1"/>
          <p:nvPr/>
        </p:nvSpPr>
        <p:spPr>
          <a:xfrm>
            <a:off x="1528752" y="3291088"/>
            <a:ext cx="2980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Venus has high temperatures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55" name="Google Shape;455;p38"/>
          <p:cNvSpPr txBox="1"/>
          <p:nvPr/>
        </p:nvSpPr>
        <p:spPr>
          <a:xfrm>
            <a:off x="1527275" y="3014113"/>
            <a:ext cx="2980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Interview</a:t>
            </a:r>
            <a:endParaRPr sz="2400" b="1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56" name="Google Shape;456;p38"/>
          <p:cNvSpPr txBox="1"/>
          <p:nvPr/>
        </p:nvSpPr>
        <p:spPr>
          <a:xfrm>
            <a:off x="1528752" y="4226900"/>
            <a:ext cx="2980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Earth is the planet with life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57" name="Google Shape;457;p38"/>
          <p:cNvSpPr txBox="1"/>
          <p:nvPr/>
        </p:nvSpPr>
        <p:spPr>
          <a:xfrm>
            <a:off x="1527275" y="3949925"/>
            <a:ext cx="2980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Observation</a:t>
            </a:r>
            <a:endParaRPr sz="2400" b="1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58" name="Google Shape;458;p38"/>
          <p:cNvSpPr/>
          <p:nvPr/>
        </p:nvSpPr>
        <p:spPr>
          <a:xfrm>
            <a:off x="1318288" y="2118600"/>
            <a:ext cx="148200" cy="1482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59" name="Google Shape;459;p38"/>
          <p:cNvSpPr/>
          <p:nvPr/>
        </p:nvSpPr>
        <p:spPr>
          <a:xfrm>
            <a:off x="1318288" y="3085900"/>
            <a:ext cx="148200" cy="1482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60" name="Google Shape;460;p38"/>
          <p:cNvSpPr/>
          <p:nvPr/>
        </p:nvSpPr>
        <p:spPr>
          <a:xfrm>
            <a:off x="1318288" y="4008800"/>
            <a:ext cx="148200" cy="1482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461" name="Google Shape;461;p38"/>
          <p:cNvCxnSpPr>
            <a:stCxn id="458" idx="4"/>
            <a:endCxn id="459" idx="0"/>
          </p:cNvCxnSpPr>
          <p:nvPr/>
        </p:nvCxnSpPr>
        <p:spPr>
          <a:xfrm>
            <a:off x="1392388" y="2266800"/>
            <a:ext cx="0" cy="819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2" name="Google Shape;462;p38"/>
          <p:cNvCxnSpPr>
            <a:stCxn id="459" idx="4"/>
            <a:endCxn id="460" idx="0"/>
          </p:cNvCxnSpPr>
          <p:nvPr/>
        </p:nvCxnSpPr>
        <p:spPr>
          <a:xfrm>
            <a:off x="1392388" y="3234100"/>
            <a:ext cx="0" cy="774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3" name="Google Shape;463;p38"/>
          <p:cNvSpPr txBox="1"/>
          <p:nvPr/>
        </p:nvSpPr>
        <p:spPr>
          <a:xfrm>
            <a:off x="5186676" y="2355275"/>
            <a:ext cx="29787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Jupiter is a huge gas giant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64" name="Google Shape;464;p38"/>
          <p:cNvSpPr txBox="1"/>
          <p:nvPr/>
        </p:nvSpPr>
        <p:spPr>
          <a:xfrm>
            <a:off x="5185200" y="2078300"/>
            <a:ext cx="29787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Descriptive</a:t>
            </a:r>
            <a:endParaRPr sz="2400" b="1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5" name="Google Shape;465;p38"/>
          <p:cNvSpPr txBox="1"/>
          <p:nvPr/>
        </p:nvSpPr>
        <p:spPr>
          <a:xfrm>
            <a:off x="4636350" y="1319625"/>
            <a:ext cx="3529200" cy="5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Data analysis</a:t>
            </a:r>
            <a:endParaRPr sz="2400" b="1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6" name="Google Shape;466;p38"/>
          <p:cNvSpPr txBox="1"/>
          <p:nvPr/>
        </p:nvSpPr>
        <p:spPr>
          <a:xfrm>
            <a:off x="5186676" y="3291088"/>
            <a:ext cx="29787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Mercury is a small planet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67" name="Google Shape;467;p38"/>
          <p:cNvSpPr txBox="1"/>
          <p:nvPr/>
        </p:nvSpPr>
        <p:spPr>
          <a:xfrm>
            <a:off x="5185200" y="3014113"/>
            <a:ext cx="29787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Inferential</a:t>
            </a:r>
            <a:endParaRPr sz="2400" b="1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8" name="Google Shape;468;p38"/>
          <p:cNvSpPr txBox="1"/>
          <p:nvPr/>
        </p:nvSpPr>
        <p:spPr>
          <a:xfrm>
            <a:off x="5186676" y="4226900"/>
            <a:ext cx="29787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Saturn has several rings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69" name="Google Shape;469;p38"/>
          <p:cNvSpPr txBox="1"/>
          <p:nvPr/>
        </p:nvSpPr>
        <p:spPr>
          <a:xfrm>
            <a:off x="5185200" y="3949925"/>
            <a:ext cx="29787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Hypothesis</a:t>
            </a:r>
            <a:endParaRPr sz="2400" b="1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0" name="Google Shape;470;p38"/>
          <p:cNvSpPr/>
          <p:nvPr/>
        </p:nvSpPr>
        <p:spPr>
          <a:xfrm>
            <a:off x="4841075" y="2118600"/>
            <a:ext cx="148200" cy="1482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71" name="Google Shape;471;p38"/>
          <p:cNvSpPr/>
          <p:nvPr/>
        </p:nvSpPr>
        <p:spPr>
          <a:xfrm>
            <a:off x="4841075" y="3085900"/>
            <a:ext cx="148200" cy="1482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72" name="Google Shape;472;p38"/>
          <p:cNvSpPr/>
          <p:nvPr/>
        </p:nvSpPr>
        <p:spPr>
          <a:xfrm>
            <a:off x="4841075" y="4008800"/>
            <a:ext cx="148200" cy="1482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473" name="Google Shape;473;p38"/>
          <p:cNvCxnSpPr>
            <a:stCxn id="470" idx="4"/>
            <a:endCxn id="471" idx="0"/>
          </p:cNvCxnSpPr>
          <p:nvPr/>
        </p:nvCxnSpPr>
        <p:spPr>
          <a:xfrm>
            <a:off x="4915175" y="2266800"/>
            <a:ext cx="0" cy="819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4" name="Google Shape;474;p38"/>
          <p:cNvCxnSpPr>
            <a:stCxn id="471" idx="4"/>
            <a:endCxn id="472" idx="0"/>
          </p:cNvCxnSpPr>
          <p:nvPr/>
        </p:nvCxnSpPr>
        <p:spPr>
          <a:xfrm>
            <a:off x="4915175" y="3234100"/>
            <a:ext cx="0" cy="774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9"/>
          <p:cNvSpPr txBox="1">
            <a:spLocks noGrp="1"/>
          </p:cNvSpPr>
          <p:nvPr>
            <p:ph type="title"/>
          </p:nvPr>
        </p:nvSpPr>
        <p:spPr>
          <a:xfrm>
            <a:off x="720000" y="26517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Environment </a:t>
            </a:r>
            <a:endParaRPr/>
          </a:p>
        </p:txBody>
      </p:sp>
      <p:sp>
        <p:nvSpPr>
          <p:cNvPr id="480" name="Google Shape;480;p39"/>
          <p:cNvSpPr/>
          <p:nvPr/>
        </p:nvSpPr>
        <p:spPr>
          <a:xfrm>
            <a:off x="232025" y="1107662"/>
            <a:ext cx="2794800" cy="1839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B4F6C"/>
                </a:solidFill>
              </a:rPr>
              <a:t>Service Machine</a:t>
            </a:r>
            <a:br>
              <a:rPr lang="en" sz="1200" b="1">
                <a:solidFill>
                  <a:srgbClr val="0B4F6C"/>
                </a:solidFill>
              </a:rPr>
            </a:br>
            <a:r>
              <a:rPr lang="en" sz="900" b="1">
                <a:solidFill>
                  <a:srgbClr val="0B4F6C"/>
                </a:solidFill>
              </a:rPr>
              <a:t>Host’s Laptop</a:t>
            </a:r>
            <a:endParaRPr sz="1200" b="1">
              <a:solidFill>
                <a:srgbClr val="0B4F6C"/>
              </a:solidFill>
            </a:endParaRPr>
          </a:p>
          <a:p>
            <a:pPr marL="2286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050"/>
              <a:buChar char="●"/>
            </a:pPr>
            <a:r>
              <a:rPr lang="en" sz="1050" b="1">
                <a:solidFill>
                  <a:srgbClr val="C9731B"/>
                </a:solidFill>
              </a:rPr>
              <a:t>[CPU] · [RAM] · [OS]</a:t>
            </a:r>
            <a:endParaRPr sz="1050">
              <a:solidFill>
                <a:srgbClr val="1B2B34"/>
              </a:solidFill>
            </a:endParaRPr>
          </a:p>
          <a:p>
            <a:pPr marL="2286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050"/>
              <a:buChar char="●"/>
            </a:pPr>
            <a:r>
              <a:rPr lang="en" sz="1050">
                <a:solidFill>
                  <a:srgbClr val="1B2B34"/>
                </a:solidFill>
              </a:rPr>
              <a:t>Docker Desktop </a:t>
            </a:r>
            <a:r>
              <a:rPr lang="en" sz="1050">
                <a:solidFill>
                  <a:srgbClr val="C9731B"/>
                </a:solidFill>
              </a:rPr>
              <a:t>(WSL2)</a:t>
            </a:r>
            <a:r>
              <a:rPr lang="en" sz="1050">
                <a:solidFill>
                  <a:srgbClr val="1B2B34"/>
                </a:solidFill>
              </a:rPr>
              <a:t>, Docker Compose</a:t>
            </a:r>
            <a:endParaRPr sz="1050">
              <a:solidFill>
                <a:srgbClr val="1B2B34"/>
              </a:solidFill>
            </a:endParaRPr>
          </a:p>
          <a:p>
            <a:pPr marL="2286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050"/>
              <a:buChar char="●"/>
            </a:pPr>
            <a:r>
              <a:rPr lang="en" sz="1050">
                <a:solidFill>
                  <a:srgbClr val="1B2B34"/>
                </a:solidFill>
              </a:rPr>
              <a:t>Triage service: Python 3.11, FastAPI, SQLite</a:t>
            </a:r>
            <a:endParaRPr sz="1050">
              <a:solidFill>
                <a:srgbClr val="1B2B34"/>
              </a:solidFill>
            </a:endParaRPr>
          </a:p>
          <a:p>
            <a:pPr marL="2286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050"/>
              <a:buChar char="●"/>
            </a:pPr>
            <a:r>
              <a:rPr lang="en" sz="1050">
                <a:solidFill>
                  <a:srgbClr val="1B2B34"/>
                </a:solidFill>
              </a:rPr>
              <a:t>Ollama 0.35.0 (pinned image), CPU only</a:t>
            </a:r>
            <a:endParaRPr sz="1050" b="1">
              <a:solidFill>
                <a:srgbClr val="0B4F6C"/>
              </a:solidFill>
            </a:endParaRPr>
          </a:p>
        </p:txBody>
      </p:sp>
      <p:sp>
        <p:nvSpPr>
          <p:cNvPr id="481" name="Google Shape;481;p39"/>
          <p:cNvSpPr/>
          <p:nvPr/>
        </p:nvSpPr>
        <p:spPr>
          <a:xfrm>
            <a:off x="636975" y="3036900"/>
            <a:ext cx="3869700" cy="19155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B4F6C"/>
                </a:solidFill>
              </a:rPr>
              <a:t>Identical settings for every model</a:t>
            </a:r>
            <a:endParaRPr sz="1300" b="1">
              <a:solidFill>
                <a:srgbClr val="0B4F6C"/>
              </a:solidFill>
            </a:endParaRPr>
          </a:p>
          <a:p>
            <a:pPr marL="2286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000"/>
              <a:buChar char="●"/>
            </a:pPr>
            <a:r>
              <a:rPr lang="en" sz="1000">
                <a:solidFill>
                  <a:srgbClr val="1B2B34"/>
                </a:solidFill>
              </a:rPr>
              <a:t>Ollama runs 1 inference at a time (OLLAMA_NUM_PARALLEL=1)</a:t>
            </a:r>
            <a:endParaRPr sz="1000">
              <a:solidFill>
                <a:srgbClr val="1B2B34"/>
              </a:solidFill>
            </a:endParaRPr>
          </a:p>
          <a:p>
            <a:pPr marL="2286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>
                <a:solidFill>
                  <a:srgbClr val="1B2B34"/>
                </a:solidFill>
              </a:rPr>
              <a:t>Context window 4096 tokens, temperature 0, at most 16 output tokens</a:t>
            </a:r>
            <a:endParaRPr sz="1000">
              <a:solidFill>
                <a:srgbClr val="1B2B34"/>
              </a:solidFill>
            </a:endParaRPr>
          </a:p>
          <a:p>
            <a:pPr marL="2286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>
                <a:solidFill>
                  <a:srgbClr val="1B2B34"/>
                </a:solidFill>
              </a:rPr>
              <a:t>One model loaded at a time; kept loaded during a run</a:t>
            </a:r>
            <a:endParaRPr sz="1000">
              <a:solidFill>
                <a:srgbClr val="1B2B34"/>
              </a:solidFill>
            </a:endParaRPr>
          </a:p>
          <a:p>
            <a:pPr marL="2286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>
                <a:solidFill>
                  <a:srgbClr val="1B2B34"/>
                </a:solidFill>
              </a:rPr>
              <a:t>One warm-up request per run, excluded from results</a:t>
            </a:r>
            <a:endParaRPr sz="1000">
              <a:solidFill>
                <a:srgbClr val="1B2B34"/>
              </a:solidFill>
            </a:endParaRPr>
          </a:p>
          <a:p>
            <a:pPr marL="2286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>
                <a:solidFill>
                  <a:srgbClr val="1B2B34"/>
                </a:solidFill>
              </a:rPr>
              <a:t>New database and new log file for every run (RUN_ID)</a:t>
            </a:r>
            <a:endParaRPr sz="1000">
              <a:solidFill>
                <a:srgbClr val="1B2B34"/>
              </a:solidFill>
            </a:endParaRPr>
          </a:p>
          <a:p>
            <a:pPr marL="2286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000"/>
              <a:buChar char="●"/>
            </a:pPr>
            <a:r>
              <a:rPr lang="en" sz="1000">
                <a:solidFill>
                  <a:srgbClr val="1B2B34"/>
                </a:solidFill>
              </a:rPr>
              <a:t>Same tickets and same arrival times for run N of every model</a:t>
            </a:r>
            <a:endParaRPr sz="1000">
              <a:solidFill>
                <a:srgbClr val="1B2B34"/>
              </a:solidFill>
            </a:endParaRPr>
          </a:p>
        </p:txBody>
      </p:sp>
      <p:sp>
        <p:nvSpPr>
          <p:cNvPr id="482" name="Google Shape;482;p39"/>
          <p:cNvSpPr/>
          <p:nvPr/>
        </p:nvSpPr>
        <p:spPr>
          <a:xfrm>
            <a:off x="3186513" y="1107662"/>
            <a:ext cx="2794800" cy="1839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B4F6C"/>
                </a:solidFill>
              </a:rPr>
              <a:t>Load Generator</a:t>
            </a:r>
            <a:br>
              <a:rPr lang="en" sz="1200" b="1">
                <a:solidFill>
                  <a:srgbClr val="0B4F6C"/>
                </a:solidFill>
              </a:rPr>
            </a:br>
            <a:r>
              <a:rPr lang="en" sz="900" b="1">
                <a:solidFill>
                  <a:srgbClr val="0B4F6C"/>
                </a:solidFill>
              </a:rPr>
              <a:t>JMeter’s Laptop (Seperate Machine)	</a:t>
            </a:r>
            <a:br>
              <a:rPr lang="en" sz="900" b="1">
                <a:solidFill>
                  <a:srgbClr val="0B4F6C"/>
                </a:solidFill>
              </a:rPr>
            </a:br>
            <a:endParaRPr sz="1200" b="1">
              <a:solidFill>
                <a:srgbClr val="0B4F6C"/>
              </a:solidFill>
            </a:endParaRPr>
          </a:p>
          <a:p>
            <a:pPr marL="2286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050"/>
              <a:buChar char="●"/>
            </a:pPr>
            <a:r>
              <a:rPr lang="en" sz="1050">
                <a:solidFill>
                  <a:srgbClr val="1B2B34"/>
                </a:solidFill>
              </a:rPr>
              <a:t>Intel Core i5-1235U · 16 GB · Windows 11 Home</a:t>
            </a:r>
            <a:endParaRPr sz="1050">
              <a:solidFill>
                <a:srgbClr val="1B2B34"/>
              </a:solidFill>
            </a:endParaRPr>
          </a:p>
          <a:p>
            <a:pPr marL="2286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050"/>
              <a:buChar char="●"/>
            </a:pPr>
            <a:r>
              <a:rPr lang="en" sz="1050">
                <a:solidFill>
                  <a:srgbClr val="1B2B34"/>
                </a:solidFill>
              </a:rPr>
              <a:t>Apache JMeter 5.6.3, Java 8</a:t>
            </a:r>
            <a:endParaRPr sz="1050">
              <a:solidFill>
                <a:srgbClr val="1B2B34"/>
              </a:solidFill>
            </a:endParaRPr>
          </a:p>
          <a:p>
            <a:pPr marL="228600" marR="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050"/>
              <a:buChar char="●"/>
            </a:pPr>
            <a:r>
              <a:rPr lang="en" sz="1050">
                <a:solidFill>
                  <a:srgbClr val="1B2B34"/>
                </a:solidFill>
              </a:rPr>
              <a:t>Open-loop, controlled arrival rates</a:t>
            </a:r>
            <a:endParaRPr sz="1050">
              <a:solidFill>
                <a:srgbClr val="1B2B34"/>
              </a:solidFill>
            </a:endParaRPr>
          </a:p>
          <a:p>
            <a:pPr marL="228600" marR="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B34"/>
              </a:buClr>
              <a:buSzPts val="1050"/>
              <a:buChar char="●"/>
            </a:pPr>
            <a:r>
              <a:rPr lang="en" sz="1050">
                <a:solidFill>
                  <a:srgbClr val="1B2B34"/>
                </a:solidFill>
              </a:rPr>
              <a:t>Never shares CPU with the service</a:t>
            </a:r>
            <a:endParaRPr sz="1050" b="1">
              <a:solidFill>
                <a:srgbClr val="C9731B"/>
              </a:solidFill>
            </a:endParaRPr>
          </a:p>
        </p:txBody>
      </p:sp>
      <p:sp>
        <p:nvSpPr>
          <p:cNvPr id="483" name="Google Shape;483;p39"/>
          <p:cNvSpPr/>
          <p:nvPr/>
        </p:nvSpPr>
        <p:spPr>
          <a:xfrm>
            <a:off x="6141025" y="1107662"/>
            <a:ext cx="2794800" cy="1839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B4F6C"/>
                </a:solidFill>
              </a:rPr>
              <a:t>Network</a:t>
            </a:r>
            <a:endParaRPr sz="1200" b="1">
              <a:solidFill>
                <a:srgbClr val="0B4F6C"/>
              </a:solidFill>
            </a:endParaRPr>
          </a:p>
          <a:p>
            <a:pPr marL="2286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000"/>
              <a:buChar char="●"/>
            </a:pPr>
            <a:r>
              <a:rPr lang="en" sz="1000">
                <a:solidFill>
                  <a:srgbClr val="1B2B34"/>
                </a:solidFill>
              </a:rPr>
              <a:t>Connected over the Internet through Tailscale (WireGuard VPN), direct peer-to-peer</a:t>
            </a:r>
            <a:endParaRPr sz="1000">
              <a:solidFill>
                <a:srgbClr val="1B2B34"/>
              </a:solidFill>
            </a:endParaRPr>
          </a:p>
          <a:p>
            <a:pPr marL="2286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000"/>
              <a:buChar char="●"/>
            </a:pPr>
            <a:r>
              <a:rPr lang="en" sz="1000">
                <a:solidFill>
                  <a:srgbClr val="1B2B34"/>
                </a:solidFill>
              </a:rPr>
              <a:t>Plain HTTP to the service's port 8000</a:t>
            </a:r>
            <a:endParaRPr sz="1000">
              <a:solidFill>
                <a:srgbClr val="1B2B34"/>
              </a:solidFill>
            </a:endParaRPr>
          </a:p>
          <a:p>
            <a:pPr marL="2286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000"/>
              <a:buChar char="●"/>
            </a:pPr>
            <a:r>
              <a:rPr lang="en" sz="1000">
                <a:solidFill>
                  <a:srgbClr val="1B2B34"/>
                </a:solidFill>
              </a:rPr>
              <a:t>Ping 25 ms average</a:t>
            </a:r>
            <a:endParaRPr sz="1000">
              <a:solidFill>
                <a:srgbClr val="1B2B34"/>
              </a:solidFill>
            </a:endParaRPr>
          </a:p>
          <a:p>
            <a:pPr marL="2286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000"/>
              <a:buChar char="●"/>
            </a:pPr>
            <a:r>
              <a:rPr lang="en" sz="1000">
                <a:solidFill>
                  <a:srgbClr val="1B2B34"/>
                </a:solidFill>
              </a:rPr>
              <a:t>Same setup for all 19 reported runs</a:t>
            </a:r>
            <a:endParaRPr sz="1000">
              <a:solidFill>
                <a:srgbClr val="1B2B34"/>
              </a:solidFill>
            </a:endParaRPr>
          </a:p>
          <a:p>
            <a:pPr marL="2286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000"/>
              <a:buChar char="●"/>
            </a:pPr>
            <a:r>
              <a:rPr lang="en" sz="1000">
                <a:solidFill>
                  <a:srgbClr val="1B2B34"/>
                </a:solidFill>
              </a:rPr>
              <a:t>First attempt through a VS Code HTTPS tunnel dropped requests; that run is kept but not reported</a:t>
            </a:r>
            <a:endParaRPr sz="1000">
              <a:solidFill>
                <a:srgbClr val="1B2B34"/>
              </a:solidFill>
            </a:endParaRPr>
          </a:p>
        </p:txBody>
      </p:sp>
      <p:sp>
        <p:nvSpPr>
          <p:cNvPr id="484" name="Google Shape;484;p39"/>
          <p:cNvSpPr/>
          <p:nvPr/>
        </p:nvSpPr>
        <p:spPr>
          <a:xfrm>
            <a:off x="4602075" y="3036875"/>
            <a:ext cx="4204200" cy="19155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B4F6C"/>
                </a:solidFill>
              </a:rPr>
              <a:t>Limitations and scaling to the client</a:t>
            </a:r>
            <a:endParaRPr sz="1300" b="1">
              <a:solidFill>
                <a:srgbClr val="0B4F6C"/>
              </a:solidFill>
            </a:endParaRPr>
          </a:p>
          <a:p>
            <a:pPr marL="2286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>
                <a:solidFill>
                  <a:srgbClr val="1B2B34"/>
                </a:solidFill>
              </a:rPr>
              <a:t>Consumer laptop, not a server: absolute latencies will differ on the client's servers; the ranking between models should hold</a:t>
            </a:r>
            <a:endParaRPr sz="1000">
              <a:solidFill>
                <a:srgbClr val="1B2B34"/>
              </a:solidFill>
            </a:endParaRPr>
          </a:p>
          <a:p>
            <a:pPr marL="2286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>
                <a:solidFill>
                  <a:srgbClr val="1B2B34"/>
                </a:solidFill>
              </a:rPr>
              <a:t>Host speed varied between runs; reported as spread</a:t>
            </a:r>
            <a:endParaRPr sz="1000">
              <a:solidFill>
                <a:srgbClr val="1B2B34"/>
              </a:solidFill>
            </a:endParaRPr>
          </a:p>
          <a:p>
            <a:pPr marL="2286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>
                <a:solidFill>
                  <a:srgbClr val="1B2B34"/>
                </a:solidFill>
              </a:rPr>
              <a:t>Internet path adds about 124 ms per ticket and 39 ms per search</a:t>
            </a:r>
            <a:endParaRPr sz="1000">
              <a:solidFill>
                <a:srgbClr val="1B2B34"/>
              </a:solidFill>
            </a:endParaRPr>
          </a:p>
          <a:p>
            <a:pPr marL="2286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>
                <a:solidFill>
                  <a:srgbClr val="1B2B34"/>
                </a:solidFill>
              </a:rPr>
              <a:t>Background processes minimised, not eliminated</a:t>
            </a:r>
            <a:endParaRPr sz="1000">
              <a:solidFill>
                <a:srgbClr val="1B2B34"/>
              </a:solidFill>
            </a:endParaRPr>
          </a:p>
          <a:p>
            <a:pPr marL="2286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>
                <a:solidFill>
                  <a:srgbClr val="1B2B34"/>
                </a:solidFill>
              </a:rPr>
              <a:t>One inference at a time by design: capacity is about 60 ÷ seconds per ticket, per Ollama instance</a:t>
            </a:r>
            <a:endParaRPr sz="1000">
              <a:solidFill>
                <a:srgbClr val="1B2B34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0"/>
          <p:cNvSpPr txBox="1">
            <a:spLocks noGrp="1"/>
          </p:cNvSpPr>
          <p:nvPr>
            <p:ph type="title"/>
          </p:nvPr>
        </p:nvSpPr>
        <p:spPr>
          <a:xfrm>
            <a:off x="720000" y="26517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Playbook (Testing Procedure)</a:t>
            </a:r>
            <a:endParaRPr/>
          </a:p>
        </p:txBody>
      </p:sp>
      <p:sp>
        <p:nvSpPr>
          <p:cNvPr id="490" name="Google Shape;490;p40"/>
          <p:cNvSpPr/>
          <p:nvPr/>
        </p:nvSpPr>
        <p:spPr>
          <a:xfrm>
            <a:off x="3426850" y="1498063"/>
            <a:ext cx="764100" cy="764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91" name="Google Shape;491;p40"/>
          <p:cNvSpPr txBox="1"/>
          <p:nvPr/>
        </p:nvSpPr>
        <p:spPr>
          <a:xfrm>
            <a:off x="6408601" y="3748750"/>
            <a:ext cx="20154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Venus has extremely high temperatures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92" name="Google Shape;492;p40"/>
          <p:cNvSpPr txBox="1"/>
          <p:nvPr/>
        </p:nvSpPr>
        <p:spPr>
          <a:xfrm>
            <a:off x="720075" y="1728348"/>
            <a:ext cx="20154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Mars is actually a very cold place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93" name="Google Shape;493;p40"/>
          <p:cNvSpPr txBox="1"/>
          <p:nvPr/>
        </p:nvSpPr>
        <p:spPr>
          <a:xfrm>
            <a:off x="720086" y="3748775"/>
            <a:ext cx="20154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Mercury is the closest planet to the Sun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94" name="Google Shape;494;p40"/>
          <p:cNvSpPr txBox="1"/>
          <p:nvPr/>
        </p:nvSpPr>
        <p:spPr>
          <a:xfrm>
            <a:off x="6408612" y="1728375"/>
            <a:ext cx="20154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Saturn is a gas giant and has several rings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95" name="Google Shape;495;p40"/>
          <p:cNvSpPr txBox="1"/>
          <p:nvPr/>
        </p:nvSpPr>
        <p:spPr>
          <a:xfrm>
            <a:off x="720075" y="1382875"/>
            <a:ext cx="2015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Clarity</a:t>
            </a:r>
            <a:endParaRPr sz="2400" b="1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6" name="Google Shape;496;p40"/>
          <p:cNvSpPr txBox="1"/>
          <p:nvPr/>
        </p:nvSpPr>
        <p:spPr>
          <a:xfrm>
            <a:off x="6408601" y="3403275"/>
            <a:ext cx="2015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Variety</a:t>
            </a:r>
            <a:endParaRPr sz="2400" b="1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7" name="Google Shape;497;p40"/>
          <p:cNvSpPr txBox="1"/>
          <p:nvPr/>
        </p:nvSpPr>
        <p:spPr>
          <a:xfrm>
            <a:off x="720086" y="3403278"/>
            <a:ext cx="2015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Privacy</a:t>
            </a:r>
            <a:endParaRPr sz="2400" b="1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8" name="Google Shape;498;p40"/>
          <p:cNvSpPr txBox="1"/>
          <p:nvPr/>
        </p:nvSpPr>
        <p:spPr>
          <a:xfrm>
            <a:off x="6408612" y="1382875"/>
            <a:ext cx="2015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Precision</a:t>
            </a:r>
            <a:endParaRPr sz="2400" b="1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9" name="Google Shape;499;p40"/>
          <p:cNvSpPr/>
          <p:nvPr/>
        </p:nvSpPr>
        <p:spPr>
          <a:xfrm>
            <a:off x="4942175" y="1498063"/>
            <a:ext cx="764100" cy="764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00" name="Google Shape;500;p40"/>
          <p:cNvSpPr/>
          <p:nvPr/>
        </p:nvSpPr>
        <p:spPr>
          <a:xfrm>
            <a:off x="4942150" y="3012538"/>
            <a:ext cx="764100" cy="764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01" name="Google Shape;501;p40"/>
          <p:cNvSpPr/>
          <p:nvPr/>
        </p:nvSpPr>
        <p:spPr>
          <a:xfrm>
            <a:off x="3426850" y="3012538"/>
            <a:ext cx="764100" cy="764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502" name="Google Shape;502;p40"/>
          <p:cNvGrpSpPr/>
          <p:nvPr/>
        </p:nvGrpSpPr>
        <p:grpSpPr>
          <a:xfrm>
            <a:off x="5128099" y="3198535"/>
            <a:ext cx="392133" cy="392133"/>
            <a:chOff x="6706751" y="1332817"/>
            <a:chExt cx="392133" cy="392133"/>
          </a:xfrm>
        </p:grpSpPr>
        <p:sp>
          <p:nvSpPr>
            <p:cNvPr id="503" name="Google Shape;503;p40"/>
            <p:cNvSpPr/>
            <p:nvPr/>
          </p:nvSpPr>
          <p:spPr>
            <a:xfrm>
              <a:off x="6815186" y="1332817"/>
              <a:ext cx="283698" cy="284783"/>
            </a:xfrm>
            <a:custGeom>
              <a:avLst/>
              <a:gdLst/>
              <a:ahLst/>
              <a:cxnLst/>
              <a:rect l="l" t="t" r="r" b="b"/>
              <a:pathLst>
                <a:path w="12553" h="12601" extrusionOk="0">
                  <a:moveTo>
                    <a:pt x="4362" y="1018"/>
                  </a:moveTo>
                  <a:lnTo>
                    <a:pt x="4653" y="1066"/>
                  </a:lnTo>
                  <a:lnTo>
                    <a:pt x="4992" y="1115"/>
                  </a:lnTo>
                  <a:lnTo>
                    <a:pt x="5332" y="1163"/>
                  </a:lnTo>
                  <a:lnTo>
                    <a:pt x="5622" y="1260"/>
                  </a:lnTo>
                  <a:lnTo>
                    <a:pt x="5913" y="1405"/>
                  </a:lnTo>
                  <a:lnTo>
                    <a:pt x="6204" y="1599"/>
                  </a:lnTo>
                  <a:lnTo>
                    <a:pt x="6495" y="1793"/>
                  </a:lnTo>
                  <a:lnTo>
                    <a:pt x="6737" y="2036"/>
                  </a:lnTo>
                  <a:lnTo>
                    <a:pt x="6979" y="2278"/>
                  </a:lnTo>
                  <a:lnTo>
                    <a:pt x="7173" y="2569"/>
                  </a:lnTo>
                  <a:lnTo>
                    <a:pt x="7319" y="2811"/>
                  </a:lnTo>
                  <a:lnTo>
                    <a:pt x="7464" y="3150"/>
                  </a:lnTo>
                  <a:lnTo>
                    <a:pt x="7561" y="3441"/>
                  </a:lnTo>
                  <a:lnTo>
                    <a:pt x="7658" y="3732"/>
                  </a:lnTo>
                  <a:lnTo>
                    <a:pt x="7706" y="4071"/>
                  </a:lnTo>
                  <a:lnTo>
                    <a:pt x="7706" y="4410"/>
                  </a:lnTo>
                  <a:lnTo>
                    <a:pt x="7706" y="4701"/>
                  </a:lnTo>
                  <a:lnTo>
                    <a:pt x="7658" y="5040"/>
                  </a:lnTo>
                  <a:lnTo>
                    <a:pt x="7561" y="5331"/>
                  </a:lnTo>
                  <a:lnTo>
                    <a:pt x="7464" y="5670"/>
                  </a:lnTo>
                  <a:lnTo>
                    <a:pt x="7319" y="5961"/>
                  </a:lnTo>
                  <a:lnTo>
                    <a:pt x="7173" y="6252"/>
                  </a:lnTo>
                  <a:lnTo>
                    <a:pt x="6979" y="6543"/>
                  </a:lnTo>
                  <a:lnTo>
                    <a:pt x="6737" y="6785"/>
                  </a:lnTo>
                  <a:lnTo>
                    <a:pt x="6495" y="7027"/>
                  </a:lnTo>
                  <a:lnTo>
                    <a:pt x="6204" y="7221"/>
                  </a:lnTo>
                  <a:lnTo>
                    <a:pt x="5913" y="7367"/>
                  </a:lnTo>
                  <a:lnTo>
                    <a:pt x="5622" y="7512"/>
                  </a:lnTo>
                  <a:lnTo>
                    <a:pt x="5332" y="7609"/>
                  </a:lnTo>
                  <a:lnTo>
                    <a:pt x="4992" y="7706"/>
                  </a:lnTo>
                  <a:lnTo>
                    <a:pt x="4653" y="7754"/>
                  </a:lnTo>
                  <a:lnTo>
                    <a:pt x="4023" y="7754"/>
                  </a:lnTo>
                  <a:lnTo>
                    <a:pt x="3732" y="7706"/>
                  </a:lnTo>
                  <a:lnTo>
                    <a:pt x="3393" y="7609"/>
                  </a:lnTo>
                  <a:lnTo>
                    <a:pt x="3102" y="7512"/>
                  </a:lnTo>
                  <a:lnTo>
                    <a:pt x="2811" y="7367"/>
                  </a:lnTo>
                  <a:lnTo>
                    <a:pt x="2521" y="7221"/>
                  </a:lnTo>
                  <a:lnTo>
                    <a:pt x="2230" y="7027"/>
                  </a:lnTo>
                  <a:lnTo>
                    <a:pt x="1988" y="6785"/>
                  </a:lnTo>
                  <a:lnTo>
                    <a:pt x="1745" y="6543"/>
                  </a:lnTo>
                  <a:lnTo>
                    <a:pt x="1551" y="6252"/>
                  </a:lnTo>
                  <a:lnTo>
                    <a:pt x="1357" y="5961"/>
                  </a:lnTo>
                  <a:lnTo>
                    <a:pt x="1261" y="5670"/>
                  </a:lnTo>
                  <a:lnTo>
                    <a:pt x="1115" y="5331"/>
                  </a:lnTo>
                  <a:lnTo>
                    <a:pt x="1067" y="5040"/>
                  </a:lnTo>
                  <a:lnTo>
                    <a:pt x="1018" y="4701"/>
                  </a:lnTo>
                  <a:lnTo>
                    <a:pt x="970" y="4410"/>
                  </a:lnTo>
                  <a:lnTo>
                    <a:pt x="1018" y="4071"/>
                  </a:lnTo>
                  <a:lnTo>
                    <a:pt x="1067" y="3732"/>
                  </a:lnTo>
                  <a:lnTo>
                    <a:pt x="1115" y="3441"/>
                  </a:lnTo>
                  <a:lnTo>
                    <a:pt x="1261" y="3150"/>
                  </a:lnTo>
                  <a:lnTo>
                    <a:pt x="1357" y="2811"/>
                  </a:lnTo>
                  <a:lnTo>
                    <a:pt x="1551" y="2569"/>
                  </a:lnTo>
                  <a:lnTo>
                    <a:pt x="1745" y="2278"/>
                  </a:lnTo>
                  <a:lnTo>
                    <a:pt x="1988" y="2036"/>
                  </a:lnTo>
                  <a:lnTo>
                    <a:pt x="2230" y="1793"/>
                  </a:lnTo>
                  <a:lnTo>
                    <a:pt x="2521" y="1599"/>
                  </a:lnTo>
                  <a:lnTo>
                    <a:pt x="2811" y="1405"/>
                  </a:lnTo>
                  <a:lnTo>
                    <a:pt x="3102" y="1260"/>
                  </a:lnTo>
                  <a:lnTo>
                    <a:pt x="3393" y="1163"/>
                  </a:lnTo>
                  <a:lnTo>
                    <a:pt x="3732" y="1115"/>
                  </a:lnTo>
                  <a:lnTo>
                    <a:pt x="4023" y="1066"/>
                  </a:lnTo>
                  <a:lnTo>
                    <a:pt x="4362" y="1018"/>
                  </a:lnTo>
                  <a:close/>
                  <a:moveTo>
                    <a:pt x="7803" y="7124"/>
                  </a:moveTo>
                  <a:lnTo>
                    <a:pt x="11390" y="10711"/>
                  </a:lnTo>
                  <a:lnTo>
                    <a:pt x="11487" y="10856"/>
                  </a:lnTo>
                  <a:lnTo>
                    <a:pt x="11535" y="11050"/>
                  </a:lnTo>
                  <a:lnTo>
                    <a:pt x="11487" y="11244"/>
                  </a:lnTo>
                  <a:lnTo>
                    <a:pt x="11390" y="11438"/>
                  </a:lnTo>
                  <a:lnTo>
                    <a:pt x="11196" y="11535"/>
                  </a:lnTo>
                  <a:lnTo>
                    <a:pt x="11002" y="11583"/>
                  </a:lnTo>
                  <a:lnTo>
                    <a:pt x="10808" y="11535"/>
                  </a:lnTo>
                  <a:lnTo>
                    <a:pt x="10663" y="11438"/>
                  </a:lnTo>
                  <a:lnTo>
                    <a:pt x="7076" y="7851"/>
                  </a:lnTo>
                  <a:lnTo>
                    <a:pt x="7464" y="7512"/>
                  </a:lnTo>
                  <a:lnTo>
                    <a:pt x="7803" y="7124"/>
                  </a:lnTo>
                  <a:close/>
                  <a:moveTo>
                    <a:pt x="4362" y="0"/>
                  </a:moveTo>
                  <a:lnTo>
                    <a:pt x="3926" y="48"/>
                  </a:lnTo>
                  <a:lnTo>
                    <a:pt x="3538" y="97"/>
                  </a:lnTo>
                  <a:lnTo>
                    <a:pt x="3102" y="194"/>
                  </a:lnTo>
                  <a:lnTo>
                    <a:pt x="2714" y="339"/>
                  </a:lnTo>
                  <a:lnTo>
                    <a:pt x="2327" y="533"/>
                  </a:lnTo>
                  <a:lnTo>
                    <a:pt x="1939" y="727"/>
                  </a:lnTo>
                  <a:lnTo>
                    <a:pt x="1600" y="1018"/>
                  </a:lnTo>
                  <a:lnTo>
                    <a:pt x="1261" y="1309"/>
                  </a:lnTo>
                  <a:lnTo>
                    <a:pt x="970" y="1648"/>
                  </a:lnTo>
                  <a:lnTo>
                    <a:pt x="679" y="1987"/>
                  </a:lnTo>
                  <a:lnTo>
                    <a:pt x="485" y="2375"/>
                  </a:lnTo>
                  <a:lnTo>
                    <a:pt x="291" y="2762"/>
                  </a:lnTo>
                  <a:lnTo>
                    <a:pt x="146" y="3150"/>
                  </a:lnTo>
                  <a:lnTo>
                    <a:pt x="49" y="3538"/>
                  </a:lnTo>
                  <a:lnTo>
                    <a:pt x="0" y="3974"/>
                  </a:lnTo>
                  <a:lnTo>
                    <a:pt x="0" y="4410"/>
                  </a:lnTo>
                  <a:lnTo>
                    <a:pt x="0" y="4798"/>
                  </a:lnTo>
                  <a:lnTo>
                    <a:pt x="49" y="5234"/>
                  </a:lnTo>
                  <a:lnTo>
                    <a:pt x="146" y="5622"/>
                  </a:lnTo>
                  <a:lnTo>
                    <a:pt x="291" y="6058"/>
                  </a:lnTo>
                  <a:lnTo>
                    <a:pt x="485" y="6446"/>
                  </a:lnTo>
                  <a:lnTo>
                    <a:pt x="679" y="6785"/>
                  </a:lnTo>
                  <a:lnTo>
                    <a:pt x="970" y="7173"/>
                  </a:lnTo>
                  <a:lnTo>
                    <a:pt x="1261" y="7512"/>
                  </a:lnTo>
                  <a:lnTo>
                    <a:pt x="1600" y="7803"/>
                  </a:lnTo>
                  <a:lnTo>
                    <a:pt x="1939" y="8045"/>
                  </a:lnTo>
                  <a:lnTo>
                    <a:pt x="2327" y="8287"/>
                  </a:lnTo>
                  <a:lnTo>
                    <a:pt x="2714" y="8433"/>
                  </a:lnTo>
                  <a:lnTo>
                    <a:pt x="3102" y="8578"/>
                  </a:lnTo>
                  <a:lnTo>
                    <a:pt x="3538" y="8675"/>
                  </a:lnTo>
                  <a:lnTo>
                    <a:pt x="3926" y="8772"/>
                  </a:lnTo>
                  <a:lnTo>
                    <a:pt x="4798" y="8772"/>
                  </a:lnTo>
                  <a:lnTo>
                    <a:pt x="5283" y="8675"/>
                  </a:lnTo>
                  <a:lnTo>
                    <a:pt x="5719" y="8530"/>
                  </a:lnTo>
                  <a:lnTo>
                    <a:pt x="6156" y="8384"/>
                  </a:lnTo>
                  <a:lnTo>
                    <a:pt x="9936" y="12116"/>
                  </a:lnTo>
                  <a:lnTo>
                    <a:pt x="10178" y="12310"/>
                  </a:lnTo>
                  <a:lnTo>
                    <a:pt x="10420" y="12455"/>
                  </a:lnTo>
                  <a:lnTo>
                    <a:pt x="10711" y="12552"/>
                  </a:lnTo>
                  <a:lnTo>
                    <a:pt x="11002" y="12601"/>
                  </a:lnTo>
                  <a:lnTo>
                    <a:pt x="11293" y="12552"/>
                  </a:lnTo>
                  <a:lnTo>
                    <a:pt x="11584" y="12455"/>
                  </a:lnTo>
                  <a:lnTo>
                    <a:pt x="11874" y="12310"/>
                  </a:lnTo>
                  <a:lnTo>
                    <a:pt x="12068" y="12116"/>
                  </a:lnTo>
                  <a:lnTo>
                    <a:pt x="12262" y="11874"/>
                  </a:lnTo>
                  <a:lnTo>
                    <a:pt x="12408" y="11632"/>
                  </a:lnTo>
                  <a:lnTo>
                    <a:pt x="12504" y="11341"/>
                  </a:lnTo>
                  <a:lnTo>
                    <a:pt x="12553" y="11050"/>
                  </a:lnTo>
                  <a:lnTo>
                    <a:pt x="12504" y="10759"/>
                  </a:lnTo>
                  <a:lnTo>
                    <a:pt x="12408" y="10468"/>
                  </a:lnTo>
                  <a:lnTo>
                    <a:pt x="12262" y="10226"/>
                  </a:lnTo>
                  <a:lnTo>
                    <a:pt x="12068" y="9984"/>
                  </a:lnTo>
                  <a:lnTo>
                    <a:pt x="8336" y="6203"/>
                  </a:lnTo>
                  <a:lnTo>
                    <a:pt x="8579" y="5622"/>
                  </a:lnTo>
                  <a:lnTo>
                    <a:pt x="8676" y="4943"/>
                  </a:lnTo>
                  <a:lnTo>
                    <a:pt x="8724" y="4313"/>
                  </a:lnTo>
                  <a:lnTo>
                    <a:pt x="8676" y="3635"/>
                  </a:lnTo>
                  <a:lnTo>
                    <a:pt x="8530" y="3005"/>
                  </a:lnTo>
                  <a:lnTo>
                    <a:pt x="8240" y="2423"/>
                  </a:lnTo>
                  <a:lnTo>
                    <a:pt x="7900" y="1842"/>
                  </a:lnTo>
                  <a:lnTo>
                    <a:pt x="7464" y="1309"/>
                  </a:lnTo>
                  <a:lnTo>
                    <a:pt x="7125" y="1018"/>
                  </a:lnTo>
                  <a:lnTo>
                    <a:pt x="6786" y="727"/>
                  </a:lnTo>
                  <a:lnTo>
                    <a:pt x="6398" y="533"/>
                  </a:lnTo>
                  <a:lnTo>
                    <a:pt x="6010" y="339"/>
                  </a:lnTo>
                  <a:lnTo>
                    <a:pt x="5622" y="194"/>
                  </a:lnTo>
                  <a:lnTo>
                    <a:pt x="5186" y="97"/>
                  </a:lnTo>
                  <a:lnTo>
                    <a:pt x="4750" y="48"/>
                  </a:lnTo>
                  <a:lnTo>
                    <a:pt x="43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40"/>
            <p:cNvSpPr/>
            <p:nvPr/>
          </p:nvSpPr>
          <p:spPr>
            <a:xfrm>
              <a:off x="6706751" y="1494904"/>
              <a:ext cx="297936" cy="230045"/>
            </a:xfrm>
            <a:custGeom>
              <a:avLst/>
              <a:gdLst/>
              <a:ahLst/>
              <a:cxnLst/>
              <a:rect l="l" t="t" r="r" b="b"/>
              <a:pathLst>
                <a:path w="13183" h="10179" extrusionOk="0">
                  <a:moveTo>
                    <a:pt x="3054" y="1019"/>
                  </a:moveTo>
                  <a:lnTo>
                    <a:pt x="3054" y="9161"/>
                  </a:lnTo>
                  <a:lnTo>
                    <a:pt x="2036" y="9161"/>
                  </a:lnTo>
                  <a:lnTo>
                    <a:pt x="2036" y="1019"/>
                  </a:lnTo>
                  <a:close/>
                  <a:moveTo>
                    <a:pt x="7125" y="3442"/>
                  </a:moveTo>
                  <a:lnTo>
                    <a:pt x="7125" y="9161"/>
                  </a:lnTo>
                  <a:lnTo>
                    <a:pt x="6107" y="9161"/>
                  </a:lnTo>
                  <a:lnTo>
                    <a:pt x="6107" y="3442"/>
                  </a:lnTo>
                  <a:close/>
                  <a:moveTo>
                    <a:pt x="11147" y="4556"/>
                  </a:moveTo>
                  <a:lnTo>
                    <a:pt x="11147" y="9161"/>
                  </a:lnTo>
                  <a:lnTo>
                    <a:pt x="10178" y="9161"/>
                  </a:lnTo>
                  <a:lnTo>
                    <a:pt x="10178" y="4556"/>
                  </a:lnTo>
                  <a:close/>
                  <a:moveTo>
                    <a:pt x="1503" y="1"/>
                  </a:moveTo>
                  <a:lnTo>
                    <a:pt x="1309" y="49"/>
                  </a:lnTo>
                  <a:lnTo>
                    <a:pt x="1164" y="146"/>
                  </a:lnTo>
                  <a:lnTo>
                    <a:pt x="1067" y="292"/>
                  </a:lnTo>
                  <a:lnTo>
                    <a:pt x="1018" y="485"/>
                  </a:lnTo>
                  <a:lnTo>
                    <a:pt x="1018" y="9161"/>
                  </a:lnTo>
                  <a:lnTo>
                    <a:pt x="485" y="9161"/>
                  </a:lnTo>
                  <a:lnTo>
                    <a:pt x="291" y="9209"/>
                  </a:lnTo>
                  <a:lnTo>
                    <a:pt x="146" y="9306"/>
                  </a:lnTo>
                  <a:lnTo>
                    <a:pt x="49" y="9500"/>
                  </a:lnTo>
                  <a:lnTo>
                    <a:pt x="0" y="9694"/>
                  </a:lnTo>
                  <a:lnTo>
                    <a:pt x="49" y="9888"/>
                  </a:lnTo>
                  <a:lnTo>
                    <a:pt x="146" y="10033"/>
                  </a:lnTo>
                  <a:lnTo>
                    <a:pt x="291" y="10130"/>
                  </a:lnTo>
                  <a:lnTo>
                    <a:pt x="485" y="10178"/>
                  </a:lnTo>
                  <a:lnTo>
                    <a:pt x="12698" y="10178"/>
                  </a:lnTo>
                  <a:lnTo>
                    <a:pt x="12892" y="10130"/>
                  </a:lnTo>
                  <a:lnTo>
                    <a:pt x="13038" y="10033"/>
                  </a:lnTo>
                  <a:lnTo>
                    <a:pt x="13183" y="9888"/>
                  </a:lnTo>
                  <a:lnTo>
                    <a:pt x="13183" y="9694"/>
                  </a:lnTo>
                  <a:lnTo>
                    <a:pt x="13183" y="9500"/>
                  </a:lnTo>
                  <a:lnTo>
                    <a:pt x="13038" y="9306"/>
                  </a:lnTo>
                  <a:lnTo>
                    <a:pt x="12892" y="9209"/>
                  </a:lnTo>
                  <a:lnTo>
                    <a:pt x="12698" y="9161"/>
                  </a:lnTo>
                  <a:lnTo>
                    <a:pt x="12165" y="9161"/>
                  </a:lnTo>
                  <a:lnTo>
                    <a:pt x="12165" y="4072"/>
                  </a:lnTo>
                  <a:lnTo>
                    <a:pt x="12165" y="3878"/>
                  </a:lnTo>
                  <a:lnTo>
                    <a:pt x="12020" y="3684"/>
                  </a:lnTo>
                  <a:lnTo>
                    <a:pt x="11874" y="3587"/>
                  </a:lnTo>
                  <a:lnTo>
                    <a:pt x="11680" y="3539"/>
                  </a:lnTo>
                  <a:lnTo>
                    <a:pt x="9645" y="3539"/>
                  </a:lnTo>
                  <a:lnTo>
                    <a:pt x="9451" y="3587"/>
                  </a:lnTo>
                  <a:lnTo>
                    <a:pt x="9306" y="3684"/>
                  </a:lnTo>
                  <a:lnTo>
                    <a:pt x="9160" y="3878"/>
                  </a:lnTo>
                  <a:lnTo>
                    <a:pt x="9160" y="4072"/>
                  </a:lnTo>
                  <a:lnTo>
                    <a:pt x="9160" y="9161"/>
                  </a:lnTo>
                  <a:lnTo>
                    <a:pt x="8143" y="9161"/>
                  </a:lnTo>
                  <a:lnTo>
                    <a:pt x="8143" y="2909"/>
                  </a:lnTo>
                  <a:lnTo>
                    <a:pt x="8094" y="2715"/>
                  </a:lnTo>
                  <a:lnTo>
                    <a:pt x="7997" y="2569"/>
                  </a:lnTo>
                  <a:lnTo>
                    <a:pt x="7803" y="2472"/>
                  </a:lnTo>
                  <a:lnTo>
                    <a:pt x="7609" y="2424"/>
                  </a:lnTo>
                  <a:lnTo>
                    <a:pt x="5574" y="2424"/>
                  </a:lnTo>
                  <a:lnTo>
                    <a:pt x="5380" y="2472"/>
                  </a:lnTo>
                  <a:lnTo>
                    <a:pt x="5235" y="2569"/>
                  </a:lnTo>
                  <a:lnTo>
                    <a:pt x="5138" y="2715"/>
                  </a:lnTo>
                  <a:lnTo>
                    <a:pt x="5089" y="2909"/>
                  </a:lnTo>
                  <a:lnTo>
                    <a:pt x="5089" y="9161"/>
                  </a:lnTo>
                  <a:lnTo>
                    <a:pt x="4071" y="9161"/>
                  </a:lnTo>
                  <a:lnTo>
                    <a:pt x="4071" y="485"/>
                  </a:lnTo>
                  <a:lnTo>
                    <a:pt x="4023" y="292"/>
                  </a:lnTo>
                  <a:lnTo>
                    <a:pt x="3926" y="146"/>
                  </a:lnTo>
                  <a:lnTo>
                    <a:pt x="3732" y="49"/>
                  </a:lnTo>
                  <a:lnTo>
                    <a:pt x="35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40"/>
            <p:cNvSpPr/>
            <p:nvPr/>
          </p:nvSpPr>
          <p:spPr>
            <a:xfrm>
              <a:off x="6857900" y="1420437"/>
              <a:ext cx="23029" cy="23007"/>
            </a:xfrm>
            <a:custGeom>
              <a:avLst/>
              <a:gdLst/>
              <a:ahLst/>
              <a:cxnLst/>
              <a:rect l="l" t="t" r="r" b="b"/>
              <a:pathLst>
                <a:path w="1019" h="1018" extrusionOk="0">
                  <a:moveTo>
                    <a:pt x="534" y="0"/>
                  </a:moveTo>
                  <a:lnTo>
                    <a:pt x="340" y="49"/>
                  </a:lnTo>
                  <a:lnTo>
                    <a:pt x="146" y="146"/>
                  </a:lnTo>
                  <a:lnTo>
                    <a:pt x="49" y="291"/>
                  </a:lnTo>
                  <a:lnTo>
                    <a:pt x="1" y="485"/>
                  </a:lnTo>
                  <a:lnTo>
                    <a:pt x="49" y="727"/>
                  </a:lnTo>
                  <a:lnTo>
                    <a:pt x="146" y="873"/>
                  </a:lnTo>
                  <a:lnTo>
                    <a:pt x="340" y="969"/>
                  </a:lnTo>
                  <a:lnTo>
                    <a:pt x="534" y="1018"/>
                  </a:lnTo>
                  <a:lnTo>
                    <a:pt x="728" y="969"/>
                  </a:lnTo>
                  <a:lnTo>
                    <a:pt x="873" y="873"/>
                  </a:lnTo>
                  <a:lnTo>
                    <a:pt x="970" y="727"/>
                  </a:lnTo>
                  <a:lnTo>
                    <a:pt x="1018" y="485"/>
                  </a:lnTo>
                  <a:lnTo>
                    <a:pt x="970" y="291"/>
                  </a:lnTo>
                  <a:lnTo>
                    <a:pt x="873" y="146"/>
                  </a:lnTo>
                  <a:lnTo>
                    <a:pt x="728" y="49"/>
                  </a:lnTo>
                  <a:lnTo>
                    <a:pt x="5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40"/>
            <p:cNvSpPr/>
            <p:nvPr/>
          </p:nvSpPr>
          <p:spPr>
            <a:xfrm>
              <a:off x="6901721" y="1420437"/>
              <a:ext cx="23007" cy="23007"/>
            </a:xfrm>
            <a:custGeom>
              <a:avLst/>
              <a:gdLst/>
              <a:ahLst/>
              <a:cxnLst/>
              <a:rect l="l" t="t" r="r" b="b"/>
              <a:pathLst>
                <a:path w="1018" h="1018" extrusionOk="0">
                  <a:moveTo>
                    <a:pt x="533" y="0"/>
                  </a:moveTo>
                  <a:lnTo>
                    <a:pt x="291" y="49"/>
                  </a:lnTo>
                  <a:lnTo>
                    <a:pt x="146" y="146"/>
                  </a:lnTo>
                  <a:lnTo>
                    <a:pt x="49" y="291"/>
                  </a:lnTo>
                  <a:lnTo>
                    <a:pt x="0" y="485"/>
                  </a:lnTo>
                  <a:lnTo>
                    <a:pt x="49" y="727"/>
                  </a:lnTo>
                  <a:lnTo>
                    <a:pt x="146" y="873"/>
                  </a:lnTo>
                  <a:lnTo>
                    <a:pt x="291" y="969"/>
                  </a:lnTo>
                  <a:lnTo>
                    <a:pt x="533" y="1018"/>
                  </a:lnTo>
                  <a:lnTo>
                    <a:pt x="727" y="969"/>
                  </a:lnTo>
                  <a:lnTo>
                    <a:pt x="873" y="873"/>
                  </a:lnTo>
                  <a:lnTo>
                    <a:pt x="969" y="727"/>
                  </a:lnTo>
                  <a:lnTo>
                    <a:pt x="1018" y="485"/>
                  </a:lnTo>
                  <a:lnTo>
                    <a:pt x="969" y="291"/>
                  </a:lnTo>
                  <a:lnTo>
                    <a:pt x="873" y="146"/>
                  </a:lnTo>
                  <a:lnTo>
                    <a:pt x="727" y="49"/>
                  </a:lnTo>
                  <a:lnTo>
                    <a:pt x="5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40"/>
            <p:cNvSpPr/>
            <p:nvPr/>
          </p:nvSpPr>
          <p:spPr>
            <a:xfrm>
              <a:off x="6946627" y="1420437"/>
              <a:ext cx="23029" cy="23007"/>
            </a:xfrm>
            <a:custGeom>
              <a:avLst/>
              <a:gdLst/>
              <a:ahLst/>
              <a:cxnLst/>
              <a:rect l="l" t="t" r="r" b="b"/>
              <a:pathLst>
                <a:path w="1019" h="1018" extrusionOk="0">
                  <a:moveTo>
                    <a:pt x="485" y="0"/>
                  </a:moveTo>
                  <a:lnTo>
                    <a:pt x="291" y="49"/>
                  </a:lnTo>
                  <a:lnTo>
                    <a:pt x="146" y="146"/>
                  </a:lnTo>
                  <a:lnTo>
                    <a:pt x="0" y="291"/>
                  </a:lnTo>
                  <a:lnTo>
                    <a:pt x="0" y="485"/>
                  </a:lnTo>
                  <a:lnTo>
                    <a:pt x="0" y="727"/>
                  </a:lnTo>
                  <a:lnTo>
                    <a:pt x="146" y="873"/>
                  </a:lnTo>
                  <a:lnTo>
                    <a:pt x="291" y="969"/>
                  </a:lnTo>
                  <a:lnTo>
                    <a:pt x="485" y="1018"/>
                  </a:lnTo>
                  <a:lnTo>
                    <a:pt x="679" y="969"/>
                  </a:lnTo>
                  <a:lnTo>
                    <a:pt x="873" y="873"/>
                  </a:lnTo>
                  <a:lnTo>
                    <a:pt x="970" y="727"/>
                  </a:lnTo>
                  <a:lnTo>
                    <a:pt x="1018" y="485"/>
                  </a:lnTo>
                  <a:lnTo>
                    <a:pt x="970" y="291"/>
                  </a:lnTo>
                  <a:lnTo>
                    <a:pt x="873" y="146"/>
                  </a:lnTo>
                  <a:lnTo>
                    <a:pt x="679" y="49"/>
                  </a:lnTo>
                  <a:lnTo>
                    <a:pt x="4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8" name="Google Shape;508;p40"/>
          <p:cNvGrpSpPr/>
          <p:nvPr/>
        </p:nvGrpSpPr>
        <p:grpSpPr>
          <a:xfrm>
            <a:off x="3612799" y="3199066"/>
            <a:ext cx="392155" cy="391048"/>
            <a:chOff x="2619044" y="2636227"/>
            <a:chExt cx="392155" cy="391048"/>
          </a:xfrm>
        </p:grpSpPr>
        <p:sp>
          <p:nvSpPr>
            <p:cNvPr id="509" name="Google Shape;509;p40"/>
            <p:cNvSpPr/>
            <p:nvPr/>
          </p:nvSpPr>
          <p:spPr>
            <a:xfrm>
              <a:off x="2711048" y="2818044"/>
              <a:ext cx="208146" cy="209231"/>
            </a:xfrm>
            <a:custGeom>
              <a:avLst/>
              <a:gdLst/>
              <a:ahLst/>
              <a:cxnLst/>
              <a:rect l="l" t="t" r="r" b="b"/>
              <a:pathLst>
                <a:path w="9210" h="9258" extrusionOk="0">
                  <a:moveTo>
                    <a:pt x="5138" y="1018"/>
                  </a:moveTo>
                  <a:lnTo>
                    <a:pt x="5138" y="1648"/>
                  </a:lnTo>
                  <a:lnTo>
                    <a:pt x="5138" y="1793"/>
                  </a:lnTo>
                  <a:lnTo>
                    <a:pt x="5235" y="1939"/>
                  </a:lnTo>
                  <a:lnTo>
                    <a:pt x="5332" y="2036"/>
                  </a:lnTo>
                  <a:lnTo>
                    <a:pt x="5477" y="2133"/>
                  </a:lnTo>
                  <a:lnTo>
                    <a:pt x="5962" y="2327"/>
                  </a:lnTo>
                  <a:lnTo>
                    <a:pt x="6350" y="2617"/>
                  </a:lnTo>
                  <a:lnTo>
                    <a:pt x="6495" y="2714"/>
                  </a:lnTo>
                  <a:lnTo>
                    <a:pt x="6641" y="2763"/>
                  </a:lnTo>
                  <a:lnTo>
                    <a:pt x="6834" y="2763"/>
                  </a:lnTo>
                  <a:lnTo>
                    <a:pt x="6980" y="2666"/>
                  </a:lnTo>
                  <a:lnTo>
                    <a:pt x="7513" y="2375"/>
                  </a:lnTo>
                  <a:lnTo>
                    <a:pt x="7998" y="3247"/>
                  </a:lnTo>
                  <a:lnTo>
                    <a:pt x="7464" y="3587"/>
                  </a:lnTo>
                  <a:lnTo>
                    <a:pt x="7368" y="3684"/>
                  </a:lnTo>
                  <a:lnTo>
                    <a:pt x="7271" y="3781"/>
                  </a:lnTo>
                  <a:lnTo>
                    <a:pt x="7222" y="3926"/>
                  </a:lnTo>
                  <a:lnTo>
                    <a:pt x="7222" y="4120"/>
                  </a:lnTo>
                  <a:lnTo>
                    <a:pt x="7271" y="4653"/>
                  </a:lnTo>
                  <a:lnTo>
                    <a:pt x="7222" y="5138"/>
                  </a:lnTo>
                  <a:lnTo>
                    <a:pt x="7222" y="5331"/>
                  </a:lnTo>
                  <a:lnTo>
                    <a:pt x="7271" y="5477"/>
                  </a:lnTo>
                  <a:lnTo>
                    <a:pt x="7368" y="5574"/>
                  </a:lnTo>
                  <a:lnTo>
                    <a:pt x="7464" y="5671"/>
                  </a:lnTo>
                  <a:lnTo>
                    <a:pt x="7998" y="6010"/>
                  </a:lnTo>
                  <a:lnTo>
                    <a:pt x="7513" y="6882"/>
                  </a:lnTo>
                  <a:lnTo>
                    <a:pt x="6980" y="6591"/>
                  </a:lnTo>
                  <a:lnTo>
                    <a:pt x="6834" y="6495"/>
                  </a:lnTo>
                  <a:lnTo>
                    <a:pt x="6641" y="6495"/>
                  </a:lnTo>
                  <a:lnTo>
                    <a:pt x="6495" y="6543"/>
                  </a:lnTo>
                  <a:lnTo>
                    <a:pt x="6350" y="6640"/>
                  </a:lnTo>
                  <a:lnTo>
                    <a:pt x="5962" y="6931"/>
                  </a:lnTo>
                  <a:lnTo>
                    <a:pt x="5477" y="7173"/>
                  </a:lnTo>
                  <a:lnTo>
                    <a:pt x="5332" y="7222"/>
                  </a:lnTo>
                  <a:lnTo>
                    <a:pt x="5235" y="7318"/>
                  </a:lnTo>
                  <a:lnTo>
                    <a:pt x="5138" y="7464"/>
                  </a:lnTo>
                  <a:lnTo>
                    <a:pt x="5138" y="7609"/>
                  </a:lnTo>
                  <a:lnTo>
                    <a:pt x="5138" y="8288"/>
                  </a:lnTo>
                  <a:lnTo>
                    <a:pt x="4120" y="8288"/>
                  </a:lnTo>
                  <a:lnTo>
                    <a:pt x="4120" y="7609"/>
                  </a:lnTo>
                  <a:lnTo>
                    <a:pt x="4072" y="7464"/>
                  </a:lnTo>
                  <a:lnTo>
                    <a:pt x="4023" y="7318"/>
                  </a:lnTo>
                  <a:lnTo>
                    <a:pt x="3927" y="7222"/>
                  </a:lnTo>
                  <a:lnTo>
                    <a:pt x="3781" y="7173"/>
                  </a:lnTo>
                  <a:lnTo>
                    <a:pt x="3296" y="6931"/>
                  </a:lnTo>
                  <a:lnTo>
                    <a:pt x="2860" y="6640"/>
                  </a:lnTo>
                  <a:lnTo>
                    <a:pt x="2715" y="6543"/>
                  </a:lnTo>
                  <a:lnTo>
                    <a:pt x="2570" y="6495"/>
                  </a:lnTo>
                  <a:lnTo>
                    <a:pt x="2424" y="6495"/>
                  </a:lnTo>
                  <a:lnTo>
                    <a:pt x="2279" y="6591"/>
                  </a:lnTo>
                  <a:lnTo>
                    <a:pt x="1746" y="6882"/>
                  </a:lnTo>
                  <a:lnTo>
                    <a:pt x="1212" y="6010"/>
                  </a:lnTo>
                  <a:lnTo>
                    <a:pt x="1746" y="5671"/>
                  </a:lnTo>
                  <a:lnTo>
                    <a:pt x="1891" y="5574"/>
                  </a:lnTo>
                  <a:lnTo>
                    <a:pt x="1988" y="5477"/>
                  </a:lnTo>
                  <a:lnTo>
                    <a:pt x="2036" y="5331"/>
                  </a:lnTo>
                  <a:lnTo>
                    <a:pt x="1988" y="5138"/>
                  </a:lnTo>
                  <a:lnTo>
                    <a:pt x="1939" y="4653"/>
                  </a:lnTo>
                  <a:lnTo>
                    <a:pt x="1988" y="4120"/>
                  </a:lnTo>
                  <a:lnTo>
                    <a:pt x="2036" y="3926"/>
                  </a:lnTo>
                  <a:lnTo>
                    <a:pt x="1988" y="3781"/>
                  </a:lnTo>
                  <a:lnTo>
                    <a:pt x="1891" y="3684"/>
                  </a:lnTo>
                  <a:lnTo>
                    <a:pt x="1746" y="3587"/>
                  </a:lnTo>
                  <a:lnTo>
                    <a:pt x="1212" y="3247"/>
                  </a:lnTo>
                  <a:lnTo>
                    <a:pt x="1746" y="2375"/>
                  </a:lnTo>
                  <a:lnTo>
                    <a:pt x="2279" y="2666"/>
                  </a:lnTo>
                  <a:lnTo>
                    <a:pt x="2424" y="2763"/>
                  </a:lnTo>
                  <a:lnTo>
                    <a:pt x="2570" y="2763"/>
                  </a:lnTo>
                  <a:lnTo>
                    <a:pt x="2715" y="2714"/>
                  </a:lnTo>
                  <a:lnTo>
                    <a:pt x="2860" y="2617"/>
                  </a:lnTo>
                  <a:lnTo>
                    <a:pt x="3296" y="2327"/>
                  </a:lnTo>
                  <a:lnTo>
                    <a:pt x="3781" y="2133"/>
                  </a:lnTo>
                  <a:lnTo>
                    <a:pt x="3927" y="2036"/>
                  </a:lnTo>
                  <a:lnTo>
                    <a:pt x="4023" y="1939"/>
                  </a:lnTo>
                  <a:lnTo>
                    <a:pt x="4072" y="1793"/>
                  </a:lnTo>
                  <a:lnTo>
                    <a:pt x="4120" y="1648"/>
                  </a:lnTo>
                  <a:lnTo>
                    <a:pt x="4120" y="1018"/>
                  </a:lnTo>
                  <a:close/>
                  <a:moveTo>
                    <a:pt x="3393" y="0"/>
                  </a:moveTo>
                  <a:lnTo>
                    <a:pt x="3248" y="146"/>
                  </a:lnTo>
                  <a:lnTo>
                    <a:pt x="3151" y="291"/>
                  </a:lnTo>
                  <a:lnTo>
                    <a:pt x="3103" y="485"/>
                  </a:lnTo>
                  <a:lnTo>
                    <a:pt x="3103" y="1260"/>
                  </a:lnTo>
                  <a:lnTo>
                    <a:pt x="2763" y="1454"/>
                  </a:lnTo>
                  <a:lnTo>
                    <a:pt x="2473" y="1648"/>
                  </a:lnTo>
                  <a:lnTo>
                    <a:pt x="1794" y="1260"/>
                  </a:lnTo>
                  <a:lnTo>
                    <a:pt x="1600" y="1163"/>
                  </a:lnTo>
                  <a:lnTo>
                    <a:pt x="1406" y="1212"/>
                  </a:lnTo>
                  <a:lnTo>
                    <a:pt x="1212" y="1260"/>
                  </a:lnTo>
                  <a:lnTo>
                    <a:pt x="1116" y="1406"/>
                  </a:lnTo>
                  <a:lnTo>
                    <a:pt x="98" y="3199"/>
                  </a:lnTo>
                  <a:lnTo>
                    <a:pt x="1" y="3393"/>
                  </a:lnTo>
                  <a:lnTo>
                    <a:pt x="49" y="3587"/>
                  </a:lnTo>
                  <a:lnTo>
                    <a:pt x="98" y="3732"/>
                  </a:lnTo>
                  <a:lnTo>
                    <a:pt x="243" y="3877"/>
                  </a:lnTo>
                  <a:lnTo>
                    <a:pt x="970" y="4265"/>
                  </a:lnTo>
                  <a:lnTo>
                    <a:pt x="922" y="4653"/>
                  </a:lnTo>
                  <a:lnTo>
                    <a:pt x="970" y="4992"/>
                  </a:lnTo>
                  <a:lnTo>
                    <a:pt x="243" y="5380"/>
                  </a:lnTo>
                  <a:lnTo>
                    <a:pt x="98" y="5525"/>
                  </a:lnTo>
                  <a:lnTo>
                    <a:pt x="49" y="5671"/>
                  </a:lnTo>
                  <a:lnTo>
                    <a:pt x="1" y="5865"/>
                  </a:lnTo>
                  <a:lnTo>
                    <a:pt x="98" y="6058"/>
                  </a:lnTo>
                  <a:lnTo>
                    <a:pt x="1116" y="7852"/>
                  </a:lnTo>
                  <a:lnTo>
                    <a:pt x="1212" y="7997"/>
                  </a:lnTo>
                  <a:lnTo>
                    <a:pt x="1406" y="8094"/>
                  </a:lnTo>
                  <a:lnTo>
                    <a:pt x="1600" y="8094"/>
                  </a:lnTo>
                  <a:lnTo>
                    <a:pt x="1794" y="7997"/>
                  </a:lnTo>
                  <a:lnTo>
                    <a:pt x="2473" y="7609"/>
                  </a:lnTo>
                  <a:lnTo>
                    <a:pt x="2763" y="7803"/>
                  </a:lnTo>
                  <a:lnTo>
                    <a:pt x="3103" y="7997"/>
                  </a:lnTo>
                  <a:lnTo>
                    <a:pt x="3103" y="8772"/>
                  </a:lnTo>
                  <a:lnTo>
                    <a:pt x="3151" y="8966"/>
                  </a:lnTo>
                  <a:lnTo>
                    <a:pt x="3248" y="9112"/>
                  </a:lnTo>
                  <a:lnTo>
                    <a:pt x="3393" y="9257"/>
                  </a:lnTo>
                  <a:lnTo>
                    <a:pt x="5817" y="9257"/>
                  </a:lnTo>
                  <a:lnTo>
                    <a:pt x="6011" y="9112"/>
                  </a:lnTo>
                  <a:lnTo>
                    <a:pt x="6107" y="8966"/>
                  </a:lnTo>
                  <a:lnTo>
                    <a:pt x="6156" y="8772"/>
                  </a:lnTo>
                  <a:lnTo>
                    <a:pt x="6156" y="7997"/>
                  </a:lnTo>
                  <a:lnTo>
                    <a:pt x="6447" y="7803"/>
                  </a:lnTo>
                  <a:lnTo>
                    <a:pt x="6738" y="7609"/>
                  </a:lnTo>
                  <a:lnTo>
                    <a:pt x="7464" y="7997"/>
                  </a:lnTo>
                  <a:lnTo>
                    <a:pt x="7610" y="8094"/>
                  </a:lnTo>
                  <a:lnTo>
                    <a:pt x="7804" y="8094"/>
                  </a:lnTo>
                  <a:lnTo>
                    <a:pt x="7998" y="7997"/>
                  </a:lnTo>
                  <a:lnTo>
                    <a:pt x="8143" y="7852"/>
                  </a:lnTo>
                  <a:lnTo>
                    <a:pt x="9161" y="6058"/>
                  </a:lnTo>
                  <a:lnTo>
                    <a:pt x="9209" y="5865"/>
                  </a:lnTo>
                  <a:lnTo>
                    <a:pt x="9209" y="5671"/>
                  </a:lnTo>
                  <a:lnTo>
                    <a:pt x="9112" y="5525"/>
                  </a:lnTo>
                  <a:lnTo>
                    <a:pt x="8967" y="5380"/>
                  </a:lnTo>
                  <a:lnTo>
                    <a:pt x="8288" y="4992"/>
                  </a:lnTo>
                  <a:lnTo>
                    <a:pt x="8288" y="4653"/>
                  </a:lnTo>
                  <a:lnTo>
                    <a:pt x="8288" y="4265"/>
                  </a:lnTo>
                  <a:lnTo>
                    <a:pt x="8967" y="3877"/>
                  </a:lnTo>
                  <a:lnTo>
                    <a:pt x="9112" y="3732"/>
                  </a:lnTo>
                  <a:lnTo>
                    <a:pt x="9209" y="3587"/>
                  </a:lnTo>
                  <a:lnTo>
                    <a:pt x="9209" y="3393"/>
                  </a:lnTo>
                  <a:lnTo>
                    <a:pt x="9161" y="3199"/>
                  </a:lnTo>
                  <a:lnTo>
                    <a:pt x="8143" y="1406"/>
                  </a:lnTo>
                  <a:lnTo>
                    <a:pt x="7998" y="1260"/>
                  </a:lnTo>
                  <a:lnTo>
                    <a:pt x="7804" y="1212"/>
                  </a:lnTo>
                  <a:lnTo>
                    <a:pt x="7610" y="1163"/>
                  </a:lnTo>
                  <a:lnTo>
                    <a:pt x="7464" y="1260"/>
                  </a:lnTo>
                  <a:lnTo>
                    <a:pt x="6738" y="1648"/>
                  </a:lnTo>
                  <a:lnTo>
                    <a:pt x="6447" y="1454"/>
                  </a:lnTo>
                  <a:lnTo>
                    <a:pt x="6156" y="1260"/>
                  </a:lnTo>
                  <a:lnTo>
                    <a:pt x="6156" y="485"/>
                  </a:lnTo>
                  <a:lnTo>
                    <a:pt x="6107" y="291"/>
                  </a:lnTo>
                  <a:lnTo>
                    <a:pt x="6011" y="146"/>
                  </a:lnTo>
                  <a:lnTo>
                    <a:pt x="581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40"/>
            <p:cNvSpPr/>
            <p:nvPr/>
          </p:nvSpPr>
          <p:spPr>
            <a:xfrm>
              <a:off x="2781153" y="2888149"/>
              <a:ext cx="69020" cy="69020"/>
            </a:xfrm>
            <a:custGeom>
              <a:avLst/>
              <a:gdLst/>
              <a:ahLst/>
              <a:cxnLst/>
              <a:rect l="l" t="t" r="r" b="b"/>
              <a:pathLst>
                <a:path w="3054" h="3054" extrusionOk="0">
                  <a:moveTo>
                    <a:pt x="1503" y="1018"/>
                  </a:moveTo>
                  <a:lnTo>
                    <a:pt x="1697" y="1066"/>
                  </a:lnTo>
                  <a:lnTo>
                    <a:pt x="1891" y="1163"/>
                  </a:lnTo>
                  <a:lnTo>
                    <a:pt x="1988" y="1309"/>
                  </a:lnTo>
                  <a:lnTo>
                    <a:pt x="2036" y="1551"/>
                  </a:lnTo>
                  <a:lnTo>
                    <a:pt x="1988" y="1745"/>
                  </a:lnTo>
                  <a:lnTo>
                    <a:pt x="1891" y="1890"/>
                  </a:lnTo>
                  <a:lnTo>
                    <a:pt x="1697" y="1987"/>
                  </a:lnTo>
                  <a:lnTo>
                    <a:pt x="1503" y="2036"/>
                  </a:lnTo>
                  <a:lnTo>
                    <a:pt x="1309" y="1987"/>
                  </a:lnTo>
                  <a:lnTo>
                    <a:pt x="1164" y="1890"/>
                  </a:lnTo>
                  <a:lnTo>
                    <a:pt x="1067" y="1745"/>
                  </a:lnTo>
                  <a:lnTo>
                    <a:pt x="1018" y="1551"/>
                  </a:lnTo>
                  <a:lnTo>
                    <a:pt x="1067" y="1309"/>
                  </a:lnTo>
                  <a:lnTo>
                    <a:pt x="1164" y="1163"/>
                  </a:lnTo>
                  <a:lnTo>
                    <a:pt x="1309" y="1066"/>
                  </a:lnTo>
                  <a:lnTo>
                    <a:pt x="1503" y="1018"/>
                  </a:lnTo>
                  <a:close/>
                  <a:moveTo>
                    <a:pt x="1503" y="0"/>
                  </a:moveTo>
                  <a:lnTo>
                    <a:pt x="1212" y="48"/>
                  </a:lnTo>
                  <a:lnTo>
                    <a:pt x="921" y="145"/>
                  </a:lnTo>
                  <a:lnTo>
                    <a:pt x="679" y="242"/>
                  </a:lnTo>
                  <a:lnTo>
                    <a:pt x="437" y="436"/>
                  </a:lnTo>
                  <a:lnTo>
                    <a:pt x="243" y="679"/>
                  </a:lnTo>
                  <a:lnTo>
                    <a:pt x="98" y="921"/>
                  </a:lnTo>
                  <a:lnTo>
                    <a:pt x="1" y="1212"/>
                  </a:lnTo>
                  <a:lnTo>
                    <a:pt x="1" y="1551"/>
                  </a:lnTo>
                  <a:lnTo>
                    <a:pt x="1" y="1842"/>
                  </a:lnTo>
                  <a:lnTo>
                    <a:pt x="98" y="2132"/>
                  </a:lnTo>
                  <a:lnTo>
                    <a:pt x="243" y="2375"/>
                  </a:lnTo>
                  <a:lnTo>
                    <a:pt x="437" y="2617"/>
                  </a:lnTo>
                  <a:lnTo>
                    <a:pt x="679" y="2811"/>
                  </a:lnTo>
                  <a:lnTo>
                    <a:pt x="921" y="2956"/>
                  </a:lnTo>
                  <a:lnTo>
                    <a:pt x="1212" y="3005"/>
                  </a:lnTo>
                  <a:lnTo>
                    <a:pt x="1503" y="3053"/>
                  </a:lnTo>
                  <a:lnTo>
                    <a:pt x="1842" y="3005"/>
                  </a:lnTo>
                  <a:lnTo>
                    <a:pt x="2085" y="2956"/>
                  </a:lnTo>
                  <a:lnTo>
                    <a:pt x="2375" y="2811"/>
                  </a:lnTo>
                  <a:lnTo>
                    <a:pt x="2569" y="2617"/>
                  </a:lnTo>
                  <a:lnTo>
                    <a:pt x="2763" y="2375"/>
                  </a:lnTo>
                  <a:lnTo>
                    <a:pt x="2909" y="2132"/>
                  </a:lnTo>
                  <a:lnTo>
                    <a:pt x="3005" y="1842"/>
                  </a:lnTo>
                  <a:lnTo>
                    <a:pt x="3054" y="1551"/>
                  </a:lnTo>
                  <a:lnTo>
                    <a:pt x="3005" y="1212"/>
                  </a:lnTo>
                  <a:lnTo>
                    <a:pt x="2909" y="921"/>
                  </a:lnTo>
                  <a:lnTo>
                    <a:pt x="2763" y="679"/>
                  </a:lnTo>
                  <a:lnTo>
                    <a:pt x="2569" y="436"/>
                  </a:lnTo>
                  <a:lnTo>
                    <a:pt x="2375" y="242"/>
                  </a:lnTo>
                  <a:lnTo>
                    <a:pt x="2085" y="145"/>
                  </a:lnTo>
                  <a:lnTo>
                    <a:pt x="1842" y="48"/>
                  </a:lnTo>
                  <a:lnTo>
                    <a:pt x="15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40"/>
            <p:cNvSpPr/>
            <p:nvPr/>
          </p:nvSpPr>
          <p:spPr>
            <a:xfrm>
              <a:off x="2619044" y="2636227"/>
              <a:ext cx="168709" cy="155556"/>
            </a:xfrm>
            <a:custGeom>
              <a:avLst/>
              <a:gdLst/>
              <a:ahLst/>
              <a:cxnLst/>
              <a:rect l="l" t="t" r="r" b="b"/>
              <a:pathLst>
                <a:path w="7465" h="6883" extrusionOk="0">
                  <a:moveTo>
                    <a:pt x="6447" y="1018"/>
                  </a:moveTo>
                  <a:lnTo>
                    <a:pt x="6447" y="4071"/>
                  </a:lnTo>
                  <a:lnTo>
                    <a:pt x="2521" y="4071"/>
                  </a:lnTo>
                  <a:lnTo>
                    <a:pt x="2376" y="4168"/>
                  </a:lnTo>
                  <a:lnTo>
                    <a:pt x="1019" y="5283"/>
                  </a:lnTo>
                  <a:lnTo>
                    <a:pt x="1019" y="1018"/>
                  </a:lnTo>
                  <a:close/>
                  <a:moveTo>
                    <a:pt x="534" y="0"/>
                  </a:moveTo>
                  <a:lnTo>
                    <a:pt x="340" y="49"/>
                  </a:lnTo>
                  <a:lnTo>
                    <a:pt x="146" y="146"/>
                  </a:lnTo>
                  <a:lnTo>
                    <a:pt x="49" y="291"/>
                  </a:lnTo>
                  <a:lnTo>
                    <a:pt x="1" y="485"/>
                  </a:lnTo>
                  <a:lnTo>
                    <a:pt x="1" y="6397"/>
                  </a:lnTo>
                  <a:lnTo>
                    <a:pt x="49" y="6543"/>
                  </a:lnTo>
                  <a:lnTo>
                    <a:pt x="98" y="6688"/>
                  </a:lnTo>
                  <a:lnTo>
                    <a:pt x="195" y="6785"/>
                  </a:lnTo>
                  <a:lnTo>
                    <a:pt x="292" y="6834"/>
                  </a:lnTo>
                  <a:lnTo>
                    <a:pt x="437" y="6882"/>
                  </a:lnTo>
                  <a:lnTo>
                    <a:pt x="728" y="6882"/>
                  </a:lnTo>
                  <a:lnTo>
                    <a:pt x="873" y="6785"/>
                  </a:lnTo>
                  <a:lnTo>
                    <a:pt x="2909" y="5040"/>
                  </a:lnTo>
                  <a:lnTo>
                    <a:pt x="7174" y="5040"/>
                  </a:lnTo>
                  <a:lnTo>
                    <a:pt x="7319" y="4895"/>
                  </a:lnTo>
                  <a:lnTo>
                    <a:pt x="7416" y="4750"/>
                  </a:lnTo>
                  <a:lnTo>
                    <a:pt x="7464" y="4556"/>
                  </a:lnTo>
                  <a:lnTo>
                    <a:pt x="7464" y="485"/>
                  </a:lnTo>
                  <a:lnTo>
                    <a:pt x="7416" y="291"/>
                  </a:lnTo>
                  <a:lnTo>
                    <a:pt x="7319" y="146"/>
                  </a:lnTo>
                  <a:lnTo>
                    <a:pt x="7174" y="49"/>
                  </a:lnTo>
                  <a:lnTo>
                    <a:pt x="69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40"/>
            <p:cNvSpPr/>
            <p:nvPr/>
          </p:nvSpPr>
          <p:spPr>
            <a:xfrm>
              <a:off x="2667249" y="2682218"/>
              <a:ext cx="73405" cy="23029"/>
            </a:xfrm>
            <a:custGeom>
              <a:avLst/>
              <a:gdLst/>
              <a:ahLst/>
              <a:cxnLst/>
              <a:rect l="l" t="t" r="r" b="b"/>
              <a:pathLst>
                <a:path w="3248" h="1019" extrusionOk="0">
                  <a:moveTo>
                    <a:pt x="291" y="1"/>
                  </a:moveTo>
                  <a:lnTo>
                    <a:pt x="146" y="146"/>
                  </a:lnTo>
                  <a:lnTo>
                    <a:pt x="49" y="291"/>
                  </a:lnTo>
                  <a:lnTo>
                    <a:pt x="0" y="485"/>
                  </a:lnTo>
                  <a:lnTo>
                    <a:pt x="49" y="679"/>
                  </a:lnTo>
                  <a:lnTo>
                    <a:pt x="146" y="873"/>
                  </a:lnTo>
                  <a:lnTo>
                    <a:pt x="291" y="970"/>
                  </a:lnTo>
                  <a:lnTo>
                    <a:pt x="485" y="1018"/>
                  </a:lnTo>
                  <a:lnTo>
                    <a:pt x="2763" y="1018"/>
                  </a:lnTo>
                  <a:lnTo>
                    <a:pt x="2957" y="970"/>
                  </a:lnTo>
                  <a:lnTo>
                    <a:pt x="3102" y="873"/>
                  </a:lnTo>
                  <a:lnTo>
                    <a:pt x="3199" y="679"/>
                  </a:lnTo>
                  <a:lnTo>
                    <a:pt x="3247" y="485"/>
                  </a:lnTo>
                  <a:lnTo>
                    <a:pt x="3199" y="291"/>
                  </a:lnTo>
                  <a:lnTo>
                    <a:pt x="3102" y="146"/>
                  </a:lnTo>
                  <a:lnTo>
                    <a:pt x="29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40"/>
            <p:cNvSpPr/>
            <p:nvPr/>
          </p:nvSpPr>
          <p:spPr>
            <a:xfrm>
              <a:off x="2842490" y="2674557"/>
              <a:ext cx="168709" cy="155556"/>
            </a:xfrm>
            <a:custGeom>
              <a:avLst/>
              <a:gdLst/>
              <a:ahLst/>
              <a:cxnLst/>
              <a:rect l="l" t="t" r="r" b="b"/>
              <a:pathLst>
                <a:path w="7465" h="6883" extrusionOk="0">
                  <a:moveTo>
                    <a:pt x="6447" y="1018"/>
                  </a:moveTo>
                  <a:lnTo>
                    <a:pt x="6447" y="5283"/>
                  </a:lnTo>
                  <a:lnTo>
                    <a:pt x="5138" y="4168"/>
                  </a:lnTo>
                  <a:lnTo>
                    <a:pt x="4944" y="4071"/>
                  </a:lnTo>
                  <a:lnTo>
                    <a:pt x="4799" y="4023"/>
                  </a:lnTo>
                  <a:lnTo>
                    <a:pt x="1018" y="4023"/>
                  </a:lnTo>
                  <a:lnTo>
                    <a:pt x="1018" y="1018"/>
                  </a:lnTo>
                  <a:close/>
                  <a:moveTo>
                    <a:pt x="340" y="0"/>
                  </a:moveTo>
                  <a:lnTo>
                    <a:pt x="146" y="146"/>
                  </a:lnTo>
                  <a:lnTo>
                    <a:pt x="49" y="291"/>
                  </a:lnTo>
                  <a:lnTo>
                    <a:pt x="1" y="485"/>
                  </a:lnTo>
                  <a:lnTo>
                    <a:pt x="1" y="4556"/>
                  </a:lnTo>
                  <a:lnTo>
                    <a:pt x="49" y="4750"/>
                  </a:lnTo>
                  <a:lnTo>
                    <a:pt x="146" y="4895"/>
                  </a:lnTo>
                  <a:lnTo>
                    <a:pt x="340" y="5041"/>
                  </a:lnTo>
                  <a:lnTo>
                    <a:pt x="4605" y="5041"/>
                  </a:lnTo>
                  <a:lnTo>
                    <a:pt x="6640" y="6785"/>
                  </a:lnTo>
                  <a:lnTo>
                    <a:pt x="6786" y="6882"/>
                  </a:lnTo>
                  <a:lnTo>
                    <a:pt x="6980" y="6882"/>
                  </a:lnTo>
                  <a:lnTo>
                    <a:pt x="7174" y="6834"/>
                  </a:lnTo>
                  <a:lnTo>
                    <a:pt x="7319" y="6785"/>
                  </a:lnTo>
                  <a:lnTo>
                    <a:pt x="7367" y="6640"/>
                  </a:lnTo>
                  <a:lnTo>
                    <a:pt x="7464" y="6543"/>
                  </a:lnTo>
                  <a:lnTo>
                    <a:pt x="7464" y="6398"/>
                  </a:lnTo>
                  <a:lnTo>
                    <a:pt x="7464" y="485"/>
                  </a:lnTo>
                  <a:lnTo>
                    <a:pt x="7416" y="291"/>
                  </a:lnTo>
                  <a:lnTo>
                    <a:pt x="7319" y="146"/>
                  </a:lnTo>
                  <a:lnTo>
                    <a:pt x="71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40"/>
            <p:cNvSpPr/>
            <p:nvPr/>
          </p:nvSpPr>
          <p:spPr>
            <a:xfrm>
              <a:off x="2889588" y="2720548"/>
              <a:ext cx="74512" cy="23029"/>
            </a:xfrm>
            <a:custGeom>
              <a:avLst/>
              <a:gdLst/>
              <a:ahLst/>
              <a:cxnLst/>
              <a:rect l="l" t="t" r="r" b="b"/>
              <a:pathLst>
                <a:path w="3297" h="1019" extrusionOk="0">
                  <a:moveTo>
                    <a:pt x="340" y="1"/>
                  </a:moveTo>
                  <a:lnTo>
                    <a:pt x="146" y="146"/>
                  </a:lnTo>
                  <a:lnTo>
                    <a:pt x="49" y="292"/>
                  </a:lnTo>
                  <a:lnTo>
                    <a:pt x="1" y="486"/>
                  </a:lnTo>
                  <a:lnTo>
                    <a:pt x="49" y="679"/>
                  </a:lnTo>
                  <a:lnTo>
                    <a:pt x="146" y="825"/>
                  </a:lnTo>
                  <a:lnTo>
                    <a:pt x="340" y="970"/>
                  </a:lnTo>
                  <a:lnTo>
                    <a:pt x="534" y="1019"/>
                  </a:lnTo>
                  <a:lnTo>
                    <a:pt x="2763" y="1019"/>
                  </a:lnTo>
                  <a:lnTo>
                    <a:pt x="2957" y="970"/>
                  </a:lnTo>
                  <a:lnTo>
                    <a:pt x="3151" y="825"/>
                  </a:lnTo>
                  <a:lnTo>
                    <a:pt x="3248" y="679"/>
                  </a:lnTo>
                  <a:lnTo>
                    <a:pt x="3296" y="486"/>
                  </a:lnTo>
                  <a:lnTo>
                    <a:pt x="3248" y="292"/>
                  </a:lnTo>
                  <a:lnTo>
                    <a:pt x="3151" y="146"/>
                  </a:lnTo>
                  <a:lnTo>
                    <a:pt x="29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5" name="Google Shape;515;p40"/>
          <p:cNvGrpSpPr/>
          <p:nvPr/>
        </p:nvGrpSpPr>
        <p:grpSpPr>
          <a:xfrm>
            <a:off x="3613387" y="1684062"/>
            <a:ext cx="391048" cy="392133"/>
            <a:chOff x="1363817" y="3315312"/>
            <a:chExt cx="391048" cy="392133"/>
          </a:xfrm>
        </p:grpSpPr>
        <p:sp>
          <p:nvSpPr>
            <p:cNvPr id="516" name="Google Shape;516;p40"/>
            <p:cNvSpPr/>
            <p:nvPr/>
          </p:nvSpPr>
          <p:spPr>
            <a:xfrm>
              <a:off x="1363817" y="3315312"/>
              <a:ext cx="391048" cy="392133"/>
            </a:xfrm>
            <a:custGeom>
              <a:avLst/>
              <a:gdLst/>
              <a:ahLst/>
              <a:cxnLst/>
              <a:rect l="l" t="t" r="r" b="b"/>
              <a:pathLst>
                <a:path w="17303" h="17351" extrusionOk="0">
                  <a:moveTo>
                    <a:pt x="6447" y="1018"/>
                  </a:moveTo>
                  <a:lnTo>
                    <a:pt x="6786" y="1067"/>
                  </a:lnTo>
                  <a:lnTo>
                    <a:pt x="7125" y="1163"/>
                  </a:lnTo>
                  <a:lnTo>
                    <a:pt x="7416" y="1309"/>
                  </a:lnTo>
                  <a:lnTo>
                    <a:pt x="7658" y="1503"/>
                  </a:lnTo>
                  <a:lnTo>
                    <a:pt x="7852" y="1745"/>
                  </a:lnTo>
                  <a:lnTo>
                    <a:pt x="7998" y="2036"/>
                  </a:lnTo>
                  <a:lnTo>
                    <a:pt x="8095" y="2375"/>
                  </a:lnTo>
                  <a:lnTo>
                    <a:pt x="8143" y="2714"/>
                  </a:lnTo>
                  <a:lnTo>
                    <a:pt x="8143" y="3974"/>
                  </a:lnTo>
                  <a:lnTo>
                    <a:pt x="7755" y="4023"/>
                  </a:lnTo>
                  <a:lnTo>
                    <a:pt x="7368" y="4120"/>
                  </a:lnTo>
                  <a:lnTo>
                    <a:pt x="6980" y="4265"/>
                  </a:lnTo>
                  <a:lnTo>
                    <a:pt x="6641" y="4459"/>
                  </a:lnTo>
                  <a:lnTo>
                    <a:pt x="6301" y="4653"/>
                  </a:lnTo>
                  <a:lnTo>
                    <a:pt x="5962" y="4895"/>
                  </a:lnTo>
                  <a:lnTo>
                    <a:pt x="5671" y="5138"/>
                  </a:lnTo>
                  <a:lnTo>
                    <a:pt x="5380" y="5428"/>
                  </a:lnTo>
                  <a:lnTo>
                    <a:pt x="5138" y="5719"/>
                  </a:lnTo>
                  <a:lnTo>
                    <a:pt x="4944" y="6010"/>
                  </a:lnTo>
                  <a:lnTo>
                    <a:pt x="4750" y="6398"/>
                  </a:lnTo>
                  <a:lnTo>
                    <a:pt x="4557" y="6737"/>
                  </a:lnTo>
                  <a:lnTo>
                    <a:pt x="4460" y="7125"/>
                  </a:lnTo>
                  <a:lnTo>
                    <a:pt x="4363" y="7512"/>
                  </a:lnTo>
                  <a:lnTo>
                    <a:pt x="4266" y="7900"/>
                  </a:lnTo>
                  <a:lnTo>
                    <a:pt x="4266" y="8336"/>
                  </a:lnTo>
                  <a:lnTo>
                    <a:pt x="4266" y="8724"/>
                  </a:lnTo>
                  <a:lnTo>
                    <a:pt x="4314" y="9063"/>
                  </a:lnTo>
                  <a:lnTo>
                    <a:pt x="4411" y="9451"/>
                  </a:lnTo>
                  <a:lnTo>
                    <a:pt x="4508" y="9790"/>
                  </a:lnTo>
                  <a:lnTo>
                    <a:pt x="4653" y="10129"/>
                  </a:lnTo>
                  <a:lnTo>
                    <a:pt x="4799" y="10420"/>
                  </a:lnTo>
                  <a:lnTo>
                    <a:pt x="5187" y="11002"/>
                  </a:lnTo>
                  <a:lnTo>
                    <a:pt x="1019" y="11002"/>
                  </a:lnTo>
                  <a:lnTo>
                    <a:pt x="1019" y="1018"/>
                  </a:lnTo>
                  <a:close/>
                  <a:moveTo>
                    <a:pt x="16285" y="1018"/>
                  </a:moveTo>
                  <a:lnTo>
                    <a:pt x="16285" y="11002"/>
                  </a:lnTo>
                  <a:lnTo>
                    <a:pt x="12117" y="11002"/>
                  </a:lnTo>
                  <a:lnTo>
                    <a:pt x="12505" y="10420"/>
                  </a:lnTo>
                  <a:lnTo>
                    <a:pt x="12650" y="10129"/>
                  </a:lnTo>
                  <a:lnTo>
                    <a:pt x="12796" y="9790"/>
                  </a:lnTo>
                  <a:lnTo>
                    <a:pt x="12893" y="9451"/>
                  </a:lnTo>
                  <a:lnTo>
                    <a:pt x="12989" y="9063"/>
                  </a:lnTo>
                  <a:lnTo>
                    <a:pt x="12989" y="8724"/>
                  </a:lnTo>
                  <a:lnTo>
                    <a:pt x="13038" y="8336"/>
                  </a:lnTo>
                  <a:lnTo>
                    <a:pt x="12989" y="7900"/>
                  </a:lnTo>
                  <a:lnTo>
                    <a:pt x="12941" y="7512"/>
                  </a:lnTo>
                  <a:lnTo>
                    <a:pt x="12844" y="7125"/>
                  </a:lnTo>
                  <a:lnTo>
                    <a:pt x="12747" y="6737"/>
                  </a:lnTo>
                  <a:lnTo>
                    <a:pt x="12553" y="6398"/>
                  </a:lnTo>
                  <a:lnTo>
                    <a:pt x="12359" y="6010"/>
                  </a:lnTo>
                  <a:lnTo>
                    <a:pt x="12166" y="5719"/>
                  </a:lnTo>
                  <a:lnTo>
                    <a:pt x="11923" y="5428"/>
                  </a:lnTo>
                  <a:lnTo>
                    <a:pt x="11632" y="5138"/>
                  </a:lnTo>
                  <a:lnTo>
                    <a:pt x="11342" y="4895"/>
                  </a:lnTo>
                  <a:lnTo>
                    <a:pt x="11002" y="4653"/>
                  </a:lnTo>
                  <a:lnTo>
                    <a:pt x="10663" y="4459"/>
                  </a:lnTo>
                  <a:lnTo>
                    <a:pt x="10324" y="4265"/>
                  </a:lnTo>
                  <a:lnTo>
                    <a:pt x="9936" y="4120"/>
                  </a:lnTo>
                  <a:lnTo>
                    <a:pt x="9548" y="4023"/>
                  </a:lnTo>
                  <a:lnTo>
                    <a:pt x="9161" y="3974"/>
                  </a:lnTo>
                  <a:lnTo>
                    <a:pt x="9161" y="2714"/>
                  </a:lnTo>
                  <a:lnTo>
                    <a:pt x="9209" y="2375"/>
                  </a:lnTo>
                  <a:lnTo>
                    <a:pt x="9306" y="2036"/>
                  </a:lnTo>
                  <a:lnTo>
                    <a:pt x="9452" y="1745"/>
                  </a:lnTo>
                  <a:lnTo>
                    <a:pt x="9645" y="1503"/>
                  </a:lnTo>
                  <a:lnTo>
                    <a:pt x="9888" y="1309"/>
                  </a:lnTo>
                  <a:lnTo>
                    <a:pt x="10178" y="1163"/>
                  </a:lnTo>
                  <a:lnTo>
                    <a:pt x="10518" y="1067"/>
                  </a:lnTo>
                  <a:lnTo>
                    <a:pt x="10857" y="1018"/>
                  </a:lnTo>
                  <a:close/>
                  <a:moveTo>
                    <a:pt x="8628" y="4944"/>
                  </a:moveTo>
                  <a:lnTo>
                    <a:pt x="9015" y="4992"/>
                  </a:lnTo>
                  <a:lnTo>
                    <a:pt x="9306" y="5041"/>
                  </a:lnTo>
                  <a:lnTo>
                    <a:pt x="9645" y="5138"/>
                  </a:lnTo>
                  <a:lnTo>
                    <a:pt x="9936" y="5234"/>
                  </a:lnTo>
                  <a:lnTo>
                    <a:pt x="10275" y="5380"/>
                  </a:lnTo>
                  <a:lnTo>
                    <a:pt x="10518" y="5525"/>
                  </a:lnTo>
                  <a:lnTo>
                    <a:pt x="10809" y="5719"/>
                  </a:lnTo>
                  <a:lnTo>
                    <a:pt x="11051" y="5961"/>
                  </a:lnTo>
                  <a:lnTo>
                    <a:pt x="11245" y="6204"/>
                  </a:lnTo>
                  <a:lnTo>
                    <a:pt x="11439" y="6446"/>
                  </a:lnTo>
                  <a:lnTo>
                    <a:pt x="11584" y="6737"/>
                  </a:lnTo>
                  <a:lnTo>
                    <a:pt x="11729" y="7028"/>
                  </a:lnTo>
                  <a:lnTo>
                    <a:pt x="11875" y="7318"/>
                  </a:lnTo>
                  <a:lnTo>
                    <a:pt x="11923" y="7658"/>
                  </a:lnTo>
                  <a:lnTo>
                    <a:pt x="11972" y="7997"/>
                  </a:lnTo>
                  <a:lnTo>
                    <a:pt x="12020" y="8336"/>
                  </a:lnTo>
                  <a:lnTo>
                    <a:pt x="11972" y="8675"/>
                  </a:lnTo>
                  <a:lnTo>
                    <a:pt x="11923" y="9015"/>
                  </a:lnTo>
                  <a:lnTo>
                    <a:pt x="11875" y="9306"/>
                  </a:lnTo>
                  <a:lnTo>
                    <a:pt x="11729" y="9645"/>
                  </a:lnTo>
                  <a:lnTo>
                    <a:pt x="11584" y="9936"/>
                  </a:lnTo>
                  <a:lnTo>
                    <a:pt x="11439" y="10226"/>
                  </a:lnTo>
                  <a:lnTo>
                    <a:pt x="11245" y="10469"/>
                  </a:lnTo>
                  <a:lnTo>
                    <a:pt x="11051" y="10711"/>
                  </a:lnTo>
                  <a:lnTo>
                    <a:pt x="10809" y="10905"/>
                  </a:lnTo>
                  <a:lnTo>
                    <a:pt x="10518" y="11099"/>
                  </a:lnTo>
                  <a:lnTo>
                    <a:pt x="10275" y="11293"/>
                  </a:lnTo>
                  <a:lnTo>
                    <a:pt x="9936" y="11438"/>
                  </a:lnTo>
                  <a:lnTo>
                    <a:pt x="9645" y="11535"/>
                  </a:lnTo>
                  <a:lnTo>
                    <a:pt x="9306" y="11632"/>
                  </a:lnTo>
                  <a:lnTo>
                    <a:pt x="9015" y="11680"/>
                  </a:lnTo>
                  <a:lnTo>
                    <a:pt x="8288" y="11680"/>
                  </a:lnTo>
                  <a:lnTo>
                    <a:pt x="7949" y="11632"/>
                  </a:lnTo>
                  <a:lnTo>
                    <a:pt x="7658" y="11535"/>
                  </a:lnTo>
                  <a:lnTo>
                    <a:pt x="7319" y="11438"/>
                  </a:lnTo>
                  <a:lnTo>
                    <a:pt x="7028" y="11293"/>
                  </a:lnTo>
                  <a:lnTo>
                    <a:pt x="6786" y="11099"/>
                  </a:lnTo>
                  <a:lnTo>
                    <a:pt x="6495" y="10905"/>
                  </a:lnTo>
                  <a:lnTo>
                    <a:pt x="6253" y="10711"/>
                  </a:lnTo>
                  <a:lnTo>
                    <a:pt x="6059" y="10469"/>
                  </a:lnTo>
                  <a:lnTo>
                    <a:pt x="5865" y="10226"/>
                  </a:lnTo>
                  <a:lnTo>
                    <a:pt x="5671" y="9936"/>
                  </a:lnTo>
                  <a:lnTo>
                    <a:pt x="5574" y="9645"/>
                  </a:lnTo>
                  <a:lnTo>
                    <a:pt x="5429" y="9306"/>
                  </a:lnTo>
                  <a:lnTo>
                    <a:pt x="5332" y="9015"/>
                  </a:lnTo>
                  <a:lnTo>
                    <a:pt x="5284" y="8675"/>
                  </a:lnTo>
                  <a:lnTo>
                    <a:pt x="5284" y="8336"/>
                  </a:lnTo>
                  <a:lnTo>
                    <a:pt x="5284" y="7997"/>
                  </a:lnTo>
                  <a:lnTo>
                    <a:pt x="5332" y="7658"/>
                  </a:lnTo>
                  <a:lnTo>
                    <a:pt x="5429" y="7318"/>
                  </a:lnTo>
                  <a:lnTo>
                    <a:pt x="5574" y="7028"/>
                  </a:lnTo>
                  <a:lnTo>
                    <a:pt x="5671" y="6737"/>
                  </a:lnTo>
                  <a:lnTo>
                    <a:pt x="5865" y="6446"/>
                  </a:lnTo>
                  <a:lnTo>
                    <a:pt x="6059" y="6204"/>
                  </a:lnTo>
                  <a:lnTo>
                    <a:pt x="6253" y="5961"/>
                  </a:lnTo>
                  <a:lnTo>
                    <a:pt x="6495" y="5719"/>
                  </a:lnTo>
                  <a:lnTo>
                    <a:pt x="6786" y="5525"/>
                  </a:lnTo>
                  <a:lnTo>
                    <a:pt x="7028" y="5380"/>
                  </a:lnTo>
                  <a:lnTo>
                    <a:pt x="7319" y="5234"/>
                  </a:lnTo>
                  <a:lnTo>
                    <a:pt x="7658" y="5138"/>
                  </a:lnTo>
                  <a:lnTo>
                    <a:pt x="7949" y="5041"/>
                  </a:lnTo>
                  <a:lnTo>
                    <a:pt x="8288" y="4992"/>
                  </a:lnTo>
                  <a:lnTo>
                    <a:pt x="8628" y="4944"/>
                  </a:lnTo>
                  <a:close/>
                  <a:moveTo>
                    <a:pt x="9161" y="12698"/>
                  </a:moveTo>
                  <a:lnTo>
                    <a:pt x="9161" y="15848"/>
                  </a:lnTo>
                  <a:lnTo>
                    <a:pt x="9112" y="16042"/>
                  </a:lnTo>
                  <a:lnTo>
                    <a:pt x="9015" y="16188"/>
                  </a:lnTo>
                  <a:lnTo>
                    <a:pt x="8870" y="16284"/>
                  </a:lnTo>
                  <a:lnTo>
                    <a:pt x="8628" y="16333"/>
                  </a:lnTo>
                  <a:lnTo>
                    <a:pt x="8434" y="16284"/>
                  </a:lnTo>
                  <a:lnTo>
                    <a:pt x="8288" y="16188"/>
                  </a:lnTo>
                  <a:lnTo>
                    <a:pt x="8191" y="16042"/>
                  </a:lnTo>
                  <a:lnTo>
                    <a:pt x="8143" y="15848"/>
                  </a:lnTo>
                  <a:lnTo>
                    <a:pt x="8143" y="12698"/>
                  </a:lnTo>
                  <a:close/>
                  <a:moveTo>
                    <a:pt x="485" y="0"/>
                  </a:moveTo>
                  <a:lnTo>
                    <a:pt x="292" y="49"/>
                  </a:lnTo>
                  <a:lnTo>
                    <a:pt x="146" y="146"/>
                  </a:lnTo>
                  <a:lnTo>
                    <a:pt x="1" y="340"/>
                  </a:lnTo>
                  <a:lnTo>
                    <a:pt x="1" y="533"/>
                  </a:lnTo>
                  <a:lnTo>
                    <a:pt x="1" y="11535"/>
                  </a:lnTo>
                  <a:lnTo>
                    <a:pt x="1" y="11729"/>
                  </a:lnTo>
                  <a:lnTo>
                    <a:pt x="146" y="11874"/>
                  </a:lnTo>
                  <a:lnTo>
                    <a:pt x="292" y="11971"/>
                  </a:lnTo>
                  <a:lnTo>
                    <a:pt x="485" y="12020"/>
                  </a:lnTo>
                  <a:lnTo>
                    <a:pt x="6301" y="12020"/>
                  </a:lnTo>
                  <a:lnTo>
                    <a:pt x="6689" y="12262"/>
                  </a:lnTo>
                  <a:lnTo>
                    <a:pt x="7125" y="12456"/>
                  </a:lnTo>
                  <a:lnTo>
                    <a:pt x="7125" y="15848"/>
                  </a:lnTo>
                  <a:lnTo>
                    <a:pt x="7174" y="16139"/>
                  </a:lnTo>
                  <a:lnTo>
                    <a:pt x="7222" y="16430"/>
                  </a:lnTo>
                  <a:lnTo>
                    <a:pt x="7368" y="16672"/>
                  </a:lnTo>
                  <a:lnTo>
                    <a:pt x="7561" y="16915"/>
                  </a:lnTo>
                  <a:lnTo>
                    <a:pt x="7804" y="17108"/>
                  </a:lnTo>
                  <a:lnTo>
                    <a:pt x="8046" y="17254"/>
                  </a:lnTo>
                  <a:lnTo>
                    <a:pt x="8337" y="17302"/>
                  </a:lnTo>
                  <a:lnTo>
                    <a:pt x="8628" y="17351"/>
                  </a:lnTo>
                  <a:lnTo>
                    <a:pt x="8967" y="17302"/>
                  </a:lnTo>
                  <a:lnTo>
                    <a:pt x="9258" y="17254"/>
                  </a:lnTo>
                  <a:lnTo>
                    <a:pt x="9500" y="17108"/>
                  </a:lnTo>
                  <a:lnTo>
                    <a:pt x="9742" y="16915"/>
                  </a:lnTo>
                  <a:lnTo>
                    <a:pt x="9936" y="16672"/>
                  </a:lnTo>
                  <a:lnTo>
                    <a:pt x="10033" y="16430"/>
                  </a:lnTo>
                  <a:lnTo>
                    <a:pt x="10130" y="16139"/>
                  </a:lnTo>
                  <a:lnTo>
                    <a:pt x="10178" y="15848"/>
                  </a:lnTo>
                  <a:lnTo>
                    <a:pt x="10178" y="12456"/>
                  </a:lnTo>
                  <a:lnTo>
                    <a:pt x="10566" y="12262"/>
                  </a:lnTo>
                  <a:lnTo>
                    <a:pt x="10954" y="12020"/>
                  </a:lnTo>
                  <a:lnTo>
                    <a:pt x="16818" y="12020"/>
                  </a:lnTo>
                  <a:lnTo>
                    <a:pt x="17012" y="11971"/>
                  </a:lnTo>
                  <a:lnTo>
                    <a:pt x="17157" y="11874"/>
                  </a:lnTo>
                  <a:lnTo>
                    <a:pt x="17303" y="11729"/>
                  </a:lnTo>
                  <a:lnTo>
                    <a:pt x="17303" y="11535"/>
                  </a:lnTo>
                  <a:lnTo>
                    <a:pt x="17303" y="533"/>
                  </a:lnTo>
                  <a:lnTo>
                    <a:pt x="17303" y="340"/>
                  </a:lnTo>
                  <a:lnTo>
                    <a:pt x="17157" y="146"/>
                  </a:lnTo>
                  <a:lnTo>
                    <a:pt x="17012" y="49"/>
                  </a:lnTo>
                  <a:lnTo>
                    <a:pt x="16818" y="0"/>
                  </a:lnTo>
                  <a:lnTo>
                    <a:pt x="10857" y="0"/>
                  </a:lnTo>
                  <a:lnTo>
                    <a:pt x="10518" y="49"/>
                  </a:lnTo>
                  <a:lnTo>
                    <a:pt x="10178" y="97"/>
                  </a:lnTo>
                  <a:lnTo>
                    <a:pt x="9888" y="194"/>
                  </a:lnTo>
                  <a:lnTo>
                    <a:pt x="9597" y="340"/>
                  </a:lnTo>
                  <a:lnTo>
                    <a:pt x="9306" y="485"/>
                  </a:lnTo>
                  <a:lnTo>
                    <a:pt x="9064" y="679"/>
                  </a:lnTo>
                  <a:lnTo>
                    <a:pt x="8870" y="873"/>
                  </a:lnTo>
                  <a:lnTo>
                    <a:pt x="8628" y="1115"/>
                  </a:lnTo>
                  <a:lnTo>
                    <a:pt x="8434" y="873"/>
                  </a:lnTo>
                  <a:lnTo>
                    <a:pt x="8240" y="679"/>
                  </a:lnTo>
                  <a:lnTo>
                    <a:pt x="7998" y="485"/>
                  </a:lnTo>
                  <a:lnTo>
                    <a:pt x="7707" y="340"/>
                  </a:lnTo>
                  <a:lnTo>
                    <a:pt x="7416" y="194"/>
                  </a:lnTo>
                  <a:lnTo>
                    <a:pt x="7125" y="97"/>
                  </a:lnTo>
                  <a:lnTo>
                    <a:pt x="6786" y="49"/>
                  </a:lnTo>
                  <a:lnTo>
                    <a:pt x="64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40"/>
            <p:cNvSpPr/>
            <p:nvPr/>
          </p:nvSpPr>
          <p:spPr>
            <a:xfrm>
              <a:off x="1504027" y="3491660"/>
              <a:ext cx="23029" cy="23007"/>
            </a:xfrm>
            <a:custGeom>
              <a:avLst/>
              <a:gdLst/>
              <a:ahLst/>
              <a:cxnLst/>
              <a:rect l="l" t="t" r="r" b="b"/>
              <a:pathLst>
                <a:path w="1019" h="1018" extrusionOk="0">
                  <a:moveTo>
                    <a:pt x="533" y="0"/>
                  </a:moveTo>
                  <a:lnTo>
                    <a:pt x="340" y="49"/>
                  </a:lnTo>
                  <a:lnTo>
                    <a:pt x="146" y="146"/>
                  </a:lnTo>
                  <a:lnTo>
                    <a:pt x="49" y="291"/>
                  </a:lnTo>
                  <a:lnTo>
                    <a:pt x="0" y="485"/>
                  </a:lnTo>
                  <a:lnTo>
                    <a:pt x="49" y="727"/>
                  </a:lnTo>
                  <a:lnTo>
                    <a:pt x="146" y="872"/>
                  </a:lnTo>
                  <a:lnTo>
                    <a:pt x="340" y="969"/>
                  </a:lnTo>
                  <a:lnTo>
                    <a:pt x="533" y="1018"/>
                  </a:lnTo>
                  <a:lnTo>
                    <a:pt x="727" y="969"/>
                  </a:lnTo>
                  <a:lnTo>
                    <a:pt x="873" y="872"/>
                  </a:lnTo>
                  <a:lnTo>
                    <a:pt x="970" y="727"/>
                  </a:lnTo>
                  <a:lnTo>
                    <a:pt x="1018" y="485"/>
                  </a:lnTo>
                  <a:lnTo>
                    <a:pt x="970" y="291"/>
                  </a:lnTo>
                  <a:lnTo>
                    <a:pt x="873" y="146"/>
                  </a:lnTo>
                  <a:lnTo>
                    <a:pt x="727" y="49"/>
                  </a:lnTo>
                  <a:lnTo>
                    <a:pt x="5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40"/>
            <p:cNvSpPr/>
            <p:nvPr/>
          </p:nvSpPr>
          <p:spPr>
            <a:xfrm>
              <a:off x="1591648" y="3491660"/>
              <a:ext cx="23029" cy="23007"/>
            </a:xfrm>
            <a:custGeom>
              <a:avLst/>
              <a:gdLst/>
              <a:ahLst/>
              <a:cxnLst/>
              <a:rect l="l" t="t" r="r" b="b"/>
              <a:pathLst>
                <a:path w="1019" h="1018" extrusionOk="0">
                  <a:moveTo>
                    <a:pt x="485" y="0"/>
                  </a:moveTo>
                  <a:lnTo>
                    <a:pt x="291" y="49"/>
                  </a:lnTo>
                  <a:lnTo>
                    <a:pt x="146" y="146"/>
                  </a:lnTo>
                  <a:lnTo>
                    <a:pt x="49" y="291"/>
                  </a:lnTo>
                  <a:lnTo>
                    <a:pt x="1" y="485"/>
                  </a:lnTo>
                  <a:lnTo>
                    <a:pt x="49" y="727"/>
                  </a:lnTo>
                  <a:lnTo>
                    <a:pt x="146" y="872"/>
                  </a:lnTo>
                  <a:lnTo>
                    <a:pt x="291" y="969"/>
                  </a:lnTo>
                  <a:lnTo>
                    <a:pt x="485" y="1018"/>
                  </a:lnTo>
                  <a:lnTo>
                    <a:pt x="679" y="969"/>
                  </a:lnTo>
                  <a:lnTo>
                    <a:pt x="873" y="872"/>
                  </a:lnTo>
                  <a:lnTo>
                    <a:pt x="970" y="727"/>
                  </a:lnTo>
                  <a:lnTo>
                    <a:pt x="1018" y="485"/>
                  </a:lnTo>
                  <a:lnTo>
                    <a:pt x="970" y="291"/>
                  </a:lnTo>
                  <a:lnTo>
                    <a:pt x="873" y="146"/>
                  </a:lnTo>
                  <a:lnTo>
                    <a:pt x="679" y="49"/>
                  </a:lnTo>
                  <a:lnTo>
                    <a:pt x="4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40"/>
            <p:cNvSpPr/>
            <p:nvPr/>
          </p:nvSpPr>
          <p:spPr>
            <a:xfrm>
              <a:off x="1547826" y="3491660"/>
              <a:ext cx="23029" cy="23007"/>
            </a:xfrm>
            <a:custGeom>
              <a:avLst/>
              <a:gdLst/>
              <a:ahLst/>
              <a:cxnLst/>
              <a:rect l="l" t="t" r="r" b="b"/>
              <a:pathLst>
                <a:path w="1019" h="1018" extrusionOk="0">
                  <a:moveTo>
                    <a:pt x="486" y="0"/>
                  </a:moveTo>
                  <a:lnTo>
                    <a:pt x="292" y="49"/>
                  </a:lnTo>
                  <a:lnTo>
                    <a:pt x="146" y="146"/>
                  </a:lnTo>
                  <a:lnTo>
                    <a:pt x="49" y="291"/>
                  </a:lnTo>
                  <a:lnTo>
                    <a:pt x="1" y="485"/>
                  </a:lnTo>
                  <a:lnTo>
                    <a:pt x="49" y="727"/>
                  </a:lnTo>
                  <a:lnTo>
                    <a:pt x="146" y="872"/>
                  </a:lnTo>
                  <a:lnTo>
                    <a:pt x="292" y="969"/>
                  </a:lnTo>
                  <a:lnTo>
                    <a:pt x="486" y="1018"/>
                  </a:lnTo>
                  <a:lnTo>
                    <a:pt x="728" y="969"/>
                  </a:lnTo>
                  <a:lnTo>
                    <a:pt x="873" y="872"/>
                  </a:lnTo>
                  <a:lnTo>
                    <a:pt x="970" y="727"/>
                  </a:lnTo>
                  <a:lnTo>
                    <a:pt x="1019" y="485"/>
                  </a:lnTo>
                  <a:lnTo>
                    <a:pt x="970" y="291"/>
                  </a:lnTo>
                  <a:lnTo>
                    <a:pt x="873" y="146"/>
                  </a:lnTo>
                  <a:lnTo>
                    <a:pt x="728" y="49"/>
                  </a:lnTo>
                  <a:lnTo>
                    <a:pt x="4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40"/>
            <p:cNvSpPr/>
            <p:nvPr/>
          </p:nvSpPr>
          <p:spPr>
            <a:xfrm>
              <a:off x="1597117" y="3361303"/>
              <a:ext cx="111757" cy="23029"/>
            </a:xfrm>
            <a:custGeom>
              <a:avLst/>
              <a:gdLst/>
              <a:ahLst/>
              <a:cxnLst/>
              <a:rect l="l" t="t" r="r" b="b"/>
              <a:pathLst>
                <a:path w="4945" h="1019" extrusionOk="0">
                  <a:moveTo>
                    <a:pt x="534" y="1"/>
                  </a:moveTo>
                  <a:lnTo>
                    <a:pt x="292" y="49"/>
                  </a:lnTo>
                  <a:lnTo>
                    <a:pt x="146" y="146"/>
                  </a:lnTo>
                  <a:lnTo>
                    <a:pt x="49" y="340"/>
                  </a:lnTo>
                  <a:lnTo>
                    <a:pt x="1" y="534"/>
                  </a:lnTo>
                  <a:lnTo>
                    <a:pt x="49" y="728"/>
                  </a:lnTo>
                  <a:lnTo>
                    <a:pt x="146" y="873"/>
                  </a:lnTo>
                  <a:lnTo>
                    <a:pt x="292" y="970"/>
                  </a:lnTo>
                  <a:lnTo>
                    <a:pt x="534" y="1019"/>
                  </a:lnTo>
                  <a:lnTo>
                    <a:pt x="4460" y="1019"/>
                  </a:lnTo>
                  <a:lnTo>
                    <a:pt x="4654" y="970"/>
                  </a:lnTo>
                  <a:lnTo>
                    <a:pt x="4799" y="873"/>
                  </a:lnTo>
                  <a:lnTo>
                    <a:pt x="4944" y="728"/>
                  </a:lnTo>
                  <a:lnTo>
                    <a:pt x="4944" y="534"/>
                  </a:lnTo>
                  <a:lnTo>
                    <a:pt x="4944" y="340"/>
                  </a:lnTo>
                  <a:lnTo>
                    <a:pt x="4799" y="146"/>
                  </a:lnTo>
                  <a:lnTo>
                    <a:pt x="4654" y="49"/>
                  </a:lnTo>
                  <a:lnTo>
                    <a:pt x="446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40"/>
            <p:cNvSpPr/>
            <p:nvPr/>
          </p:nvSpPr>
          <p:spPr>
            <a:xfrm>
              <a:off x="1650792" y="3407316"/>
              <a:ext cx="58082" cy="23029"/>
            </a:xfrm>
            <a:custGeom>
              <a:avLst/>
              <a:gdLst/>
              <a:ahLst/>
              <a:cxnLst/>
              <a:rect l="l" t="t" r="r" b="b"/>
              <a:pathLst>
                <a:path w="2570" h="1019" extrusionOk="0">
                  <a:moveTo>
                    <a:pt x="534" y="0"/>
                  </a:moveTo>
                  <a:lnTo>
                    <a:pt x="340" y="49"/>
                  </a:lnTo>
                  <a:lnTo>
                    <a:pt x="146" y="146"/>
                  </a:lnTo>
                  <a:lnTo>
                    <a:pt x="49" y="291"/>
                  </a:lnTo>
                  <a:lnTo>
                    <a:pt x="1" y="533"/>
                  </a:lnTo>
                  <a:lnTo>
                    <a:pt x="49" y="727"/>
                  </a:lnTo>
                  <a:lnTo>
                    <a:pt x="146" y="873"/>
                  </a:lnTo>
                  <a:lnTo>
                    <a:pt x="340" y="970"/>
                  </a:lnTo>
                  <a:lnTo>
                    <a:pt x="534" y="1018"/>
                  </a:lnTo>
                  <a:lnTo>
                    <a:pt x="2085" y="1018"/>
                  </a:lnTo>
                  <a:lnTo>
                    <a:pt x="2279" y="970"/>
                  </a:lnTo>
                  <a:lnTo>
                    <a:pt x="2424" y="873"/>
                  </a:lnTo>
                  <a:lnTo>
                    <a:pt x="2569" y="727"/>
                  </a:lnTo>
                  <a:lnTo>
                    <a:pt x="2569" y="533"/>
                  </a:lnTo>
                  <a:lnTo>
                    <a:pt x="2569" y="291"/>
                  </a:lnTo>
                  <a:lnTo>
                    <a:pt x="2424" y="146"/>
                  </a:lnTo>
                  <a:lnTo>
                    <a:pt x="2279" y="49"/>
                  </a:lnTo>
                  <a:lnTo>
                    <a:pt x="20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40"/>
            <p:cNvSpPr/>
            <p:nvPr/>
          </p:nvSpPr>
          <p:spPr>
            <a:xfrm>
              <a:off x="1408723" y="3361303"/>
              <a:ext cx="112842" cy="23029"/>
            </a:xfrm>
            <a:custGeom>
              <a:avLst/>
              <a:gdLst/>
              <a:ahLst/>
              <a:cxnLst/>
              <a:rect l="l" t="t" r="r" b="b"/>
              <a:pathLst>
                <a:path w="4993" h="1019" extrusionOk="0">
                  <a:moveTo>
                    <a:pt x="534" y="1"/>
                  </a:moveTo>
                  <a:lnTo>
                    <a:pt x="340" y="49"/>
                  </a:lnTo>
                  <a:lnTo>
                    <a:pt x="195" y="146"/>
                  </a:lnTo>
                  <a:lnTo>
                    <a:pt x="49" y="340"/>
                  </a:lnTo>
                  <a:lnTo>
                    <a:pt x="1" y="534"/>
                  </a:lnTo>
                  <a:lnTo>
                    <a:pt x="49" y="728"/>
                  </a:lnTo>
                  <a:lnTo>
                    <a:pt x="195" y="873"/>
                  </a:lnTo>
                  <a:lnTo>
                    <a:pt x="340" y="970"/>
                  </a:lnTo>
                  <a:lnTo>
                    <a:pt x="534" y="1019"/>
                  </a:lnTo>
                  <a:lnTo>
                    <a:pt x="4460" y="1019"/>
                  </a:lnTo>
                  <a:lnTo>
                    <a:pt x="4654" y="970"/>
                  </a:lnTo>
                  <a:lnTo>
                    <a:pt x="4847" y="873"/>
                  </a:lnTo>
                  <a:lnTo>
                    <a:pt x="4944" y="728"/>
                  </a:lnTo>
                  <a:lnTo>
                    <a:pt x="4993" y="534"/>
                  </a:lnTo>
                  <a:lnTo>
                    <a:pt x="4944" y="340"/>
                  </a:lnTo>
                  <a:lnTo>
                    <a:pt x="4847" y="146"/>
                  </a:lnTo>
                  <a:lnTo>
                    <a:pt x="4654" y="49"/>
                  </a:lnTo>
                  <a:lnTo>
                    <a:pt x="446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40"/>
            <p:cNvSpPr/>
            <p:nvPr/>
          </p:nvSpPr>
          <p:spPr>
            <a:xfrm>
              <a:off x="1408723" y="3407316"/>
              <a:ext cx="59189" cy="23029"/>
            </a:xfrm>
            <a:custGeom>
              <a:avLst/>
              <a:gdLst/>
              <a:ahLst/>
              <a:cxnLst/>
              <a:rect l="l" t="t" r="r" b="b"/>
              <a:pathLst>
                <a:path w="2619" h="1019" extrusionOk="0">
                  <a:moveTo>
                    <a:pt x="534" y="0"/>
                  </a:moveTo>
                  <a:lnTo>
                    <a:pt x="340" y="49"/>
                  </a:lnTo>
                  <a:lnTo>
                    <a:pt x="195" y="146"/>
                  </a:lnTo>
                  <a:lnTo>
                    <a:pt x="49" y="291"/>
                  </a:lnTo>
                  <a:lnTo>
                    <a:pt x="1" y="533"/>
                  </a:lnTo>
                  <a:lnTo>
                    <a:pt x="49" y="727"/>
                  </a:lnTo>
                  <a:lnTo>
                    <a:pt x="195" y="873"/>
                  </a:lnTo>
                  <a:lnTo>
                    <a:pt x="340" y="970"/>
                  </a:lnTo>
                  <a:lnTo>
                    <a:pt x="534" y="1018"/>
                  </a:lnTo>
                  <a:lnTo>
                    <a:pt x="2085" y="1018"/>
                  </a:lnTo>
                  <a:lnTo>
                    <a:pt x="2279" y="970"/>
                  </a:lnTo>
                  <a:lnTo>
                    <a:pt x="2473" y="873"/>
                  </a:lnTo>
                  <a:lnTo>
                    <a:pt x="2570" y="727"/>
                  </a:lnTo>
                  <a:lnTo>
                    <a:pt x="2618" y="533"/>
                  </a:lnTo>
                  <a:lnTo>
                    <a:pt x="2570" y="291"/>
                  </a:lnTo>
                  <a:lnTo>
                    <a:pt x="2473" y="146"/>
                  </a:lnTo>
                  <a:lnTo>
                    <a:pt x="2279" y="49"/>
                  </a:lnTo>
                  <a:lnTo>
                    <a:pt x="20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4" name="Google Shape;524;p40"/>
          <p:cNvGrpSpPr/>
          <p:nvPr/>
        </p:nvGrpSpPr>
        <p:grpSpPr>
          <a:xfrm>
            <a:off x="5128675" y="1684062"/>
            <a:ext cx="391048" cy="392133"/>
            <a:chOff x="3288275" y="3315312"/>
            <a:chExt cx="391048" cy="392133"/>
          </a:xfrm>
        </p:grpSpPr>
        <p:sp>
          <p:nvSpPr>
            <p:cNvPr id="525" name="Google Shape;525;p40"/>
            <p:cNvSpPr/>
            <p:nvPr/>
          </p:nvSpPr>
          <p:spPr>
            <a:xfrm>
              <a:off x="3391240" y="3419362"/>
              <a:ext cx="185139" cy="185117"/>
            </a:xfrm>
            <a:custGeom>
              <a:avLst/>
              <a:gdLst/>
              <a:ahLst/>
              <a:cxnLst/>
              <a:rect l="l" t="t" r="r" b="b"/>
              <a:pathLst>
                <a:path w="8192" h="8191" extrusionOk="0">
                  <a:moveTo>
                    <a:pt x="5186" y="1018"/>
                  </a:moveTo>
                  <a:lnTo>
                    <a:pt x="5283" y="1357"/>
                  </a:lnTo>
                  <a:lnTo>
                    <a:pt x="5477" y="1697"/>
                  </a:lnTo>
                  <a:lnTo>
                    <a:pt x="5671" y="1988"/>
                  </a:lnTo>
                  <a:lnTo>
                    <a:pt x="5913" y="2278"/>
                  </a:lnTo>
                  <a:lnTo>
                    <a:pt x="6156" y="2521"/>
                  </a:lnTo>
                  <a:lnTo>
                    <a:pt x="6495" y="2714"/>
                  </a:lnTo>
                  <a:lnTo>
                    <a:pt x="6834" y="2860"/>
                  </a:lnTo>
                  <a:lnTo>
                    <a:pt x="7173" y="2957"/>
                  </a:lnTo>
                  <a:lnTo>
                    <a:pt x="7173" y="5186"/>
                  </a:lnTo>
                  <a:lnTo>
                    <a:pt x="6834" y="5283"/>
                  </a:lnTo>
                  <a:lnTo>
                    <a:pt x="6495" y="5429"/>
                  </a:lnTo>
                  <a:lnTo>
                    <a:pt x="6156" y="5622"/>
                  </a:lnTo>
                  <a:lnTo>
                    <a:pt x="5913" y="5865"/>
                  </a:lnTo>
                  <a:lnTo>
                    <a:pt x="5671" y="6155"/>
                  </a:lnTo>
                  <a:lnTo>
                    <a:pt x="5477" y="6446"/>
                  </a:lnTo>
                  <a:lnTo>
                    <a:pt x="5283" y="6786"/>
                  </a:lnTo>
                  <a:lnTo>
                    <a:pt x="5186" y="7173"/>
                  </a:lnTo>
                  <a:lnTo>
                    <a:pt x="3006" y="7173"/>
                  </a:lnTo>
                  <a:lnTo>
                    <a:pt x="2860" y="6737"/>
                  </a:lnTo>
                  <a:lnTo>
                    <a:pt x="2666" y="6349"/>
                  </a:lnTo>
                  <a:lnTo>
                    <a:pt x="2424" y="6010"/>
                  </a:lnTo>
                  <a:lnTo>
                    <a:pt x="2133" y="5719"/>
                  </a:lnTo>
                  <a:lnTo>
                    <a:pt x="1891" y="5525"/>
                  </a:lnTo>
                  <a:lnTo>
                    <a:pt x="1600" y="5380"/>
                  </a:lnTo>
                  <a:lnTo>
                    <a:pt x="1309" y="5283"/>
                  </a:lnTo>
                  <a:lnTo>
                    <a:pt x="1018" y="5186"/>
                  </a:lnTo>
                  <a:lnTo>
                    <a:pt x="1018" y="2957"/>
                  </a:lnTo>
                  <a:lnTo>
                    <a:pt x="1358" y="2860"/>
                  </a:lnTo>
                  <a:lnTo>
                    <a:pt x="1697" y="2714"/>
                  </a:lnTo>
                  <a:lnTo>
                    <a:pt x="2036" y="2521"/>
                  </a:lnTo>
                  <a:lnTo>
                    <a:pt x="2327" y="2278"/>
                  </a:lnTo>
                  <a:lnTo>
                    <a:pt x="2521" y="1988"/>
                  </a:lnTo>
                  <a:lnTo>
                    <a:pt x="2763" y="1697"/>
                  </a:lnTo>
                  <a:lnTo>
                    <a:pt x="2909" y="1357"/>
                  </a:lnTo>
                  <a:lnTo>
                    <a:pt x="3006" y="1018"/>
                  </a:lnTo>
                  <a:close/>
                  <a:moveTo>
                    <a:pt x="2327" y="0"/>
                  </a:moveTo>
                  <a:lnTo>
                    <a:pt x="2182" y="146"/>
                  </a:lnTo>
                  <a:lnTo>
                    <a:pt x="2085" y="291"/>
                  </a:lnTo>
                  <a:lnTo>
                    <a:pt x="2036" y="485"/>
                  </a:lnTo>
                  <a:lnTo>
                    <a:pt x="1988" y="776"/>
                  </a:lnTo>
                  <a:lnTo>
                    <a:pt x="1891" y="1067"/>
                  </a:lnTo>
                  <a:lnTo>
                    <a:pt x="1794" y="1357"/>
                  </a:lnTo>
                  <a:lnTo>
                    <a:pt x="1600" y="1551"/>
                  </a:lnTo>
                  <a:lnTo>
                    <a:pt x="1358" y="1745"/>
                  </a:lnTo>
                  <a:lnTo>
                    <a:pt x="1115" y="1891"/>
                  </a:lnTo>
                  <a:lnTo>
                    <a:pt x="825" y="1988"/>
                  </a:lnTo>
                  <a:lnTo>
                    <a:pt x="485" y="2036"/>
                  </a:lnTo>
                  <a:lnTo>
                    <a:pt x="291" y="2036"/>
                  </a:lnTo>
                  <a:lnTo>
                    <a:pt x="146" y="2181"/>
                  </a:lnTo>
                  <a:lnTo>
                    <a:pt x="49" y="2327"/>
                  </a:lnTo>
                  <a:lnTo>
                    <a:pt x="1" y="2521"/>
                  </a:lnTo>
                  <a:lnTo>
                    <a:pt x="1" y="5622"/>
                  </a:lnTo>
                  <a:lnTo>
                    <a:pt x="49" y="5816"/>
                  </a:lnTo>
                  <a:lnTo>
                    <a:pt x="146" y="6010"/>
                  </a:lnTo>
                  <a:lnTo>
                    <a:pt x="291" y="6107"/>
                  </a:lnTo>
                  <a:lnTo>
                    <a:pt x="485" y="6155"/>
                  </a:lnTo>
                  <a:lnTo>
                    <a:pt x="776" y="6155"/>
                  </a:lnTo>
                  <a:lnTo>
                    <a:pt x="1018" y="6252"/>
                  </a:lnTo>
                  <a:lnTo>
                    <a:pt x="1261" y="6349"/>
                  </a:lnTo>
                  <a:lnTo>
                    <a:pt x="1503" y="6495"/>
                  </a:lnTo>
                  <a:lnTo>
                    <a:pt x="1697" y="6737"/>
                  </a:lnTo>
                  <a:lnTo>
                    <a:pt x="1891" y="7028"/>
                  </a:lnTo>
                  <a:lnTo>
                    <a:pt x="1988" y="7319"/>
                  </a:lnTo>
                  <a:lnTo>
                    <a:pt x="2036" y="7658"/>
                  </a:lnTo>
                  <a:lnTo>
                    <a:pt x="2085" y="7852"/>
                  </a:lnTo>
                  <a:lnTo>
                    <a:pt x="2182" y="8046"/>
                  </a:lnTo>
                  <a:lnTo>
                    <a:pt x="2327" y="8143"/>
                  </a:lnTo>
                  <a:lnTo>
                    <a:pt x="2521" y="8191"/>
                  </a:lnTo>
                  <a:lnTo>
                    <a:pt x="5671" y="8191"/>
                  </a:lnTo>
                  <a:lnTo>
                    <a:pt x="5865" y="8143"/>
                  </a:lnTo>
                  <a:lnTo>
                    <a:pt x="6010" y="8046"/>
                  </a:lnTo>
                  <a:lnTo>
                    <a:pt x="6107" y="7852"/>
                  </a:lnTo>
                  <a:lnTo>
                    <a:pt x="6156" y="7658"/>
                  </a:lnTo>
                  <a:lnTo>
                    <a:pt x="6204" y="7367"/>
                  </a:lnTo>
                  <a:lnTo>
                    <a:pt x="6301" y="7076"/>
                  </a:lnTo>
                  <a:lnTo>
                    <a:pt x="6447" y="6834"/>
                  </a:lnTo>
                  <a:lnTo>
                    <a:pt x="6592" y="6592"/>
                  </a:lnTo>
                  <a:lnTo>
                    <a:pt x="6834" y="6398"/>
                  </a:lnTo>
                  <a:lnTo>
                    <a:pt x="7077" y="6252"/>
                  </a:lnTo>
                  <a:lnTo>
                    <a:pt x="7367" y="6155"/>
                  </a:lnTo>
                  <a:lnTo>
                    <a:pt x="7707" y="6155"/>
                  </a:lnTo>
                  <a:lnTo>
                    <a:pt x="7900" y="6107"/>
                  </a:lnTo>
                  <a:lnTo>
                    <a:pt x="8046" y="6010"/>
                  </a:lnTo>
                  <a:lnTo>
                    <a:pt x="8143" y="5816"/>
                  </a:lnTo>
                  <a:lnTo>
                    <a:pt x="8191" y="5622"/>
                  </a:lnTo>
                  <a:lnTo>
                    <a:pt x="8191" y="2521"/>
                  </a:lnTo>
                  <a:lnTo>
                    <a:pt x="8143" y="2327"/>
                  </a:lnTo>
                  <a:lnTo>
                    <a:pt x="8046" y="2181"/>
                  </a:lnTo>
                  <a:lnTo>
                    <a:pt x="7900" y="2036"/>
                  </a:lnTo>
                  <a:lnTo>
                    <a:pt x="7707" y="2036"/>
                  </a:lnTo>
                  <a:lnTo>
                    <a:pt x="7367" y="1988"/>
                  </a:lnTo>
                  <a:lnTo>
                    <a:pt x="7077" y="1891"/>
                  </a:lnTo>
                  <a:lnTo>
                    <a:pt x="6834" y="1745"/>
                  </a:lnTo>
                  <a:lnTo>
                    <a:pt x="6592" y="1551"/>
                  </a:lnTo>
                  <a:lnTo>
                    <a:pt x="6447" y="1357"/>
                  </a:lnTo>
                  <a:lnTo>
                    <a:pt x="6301" y="1067"/>
                  </a:lnTo>
                  <a:lnTo>
                    <a:pt x="6204" y="776"/>
                  </a:lnTo>
                  <a:lnTo>
                    <a:pt x="6156" y="485"/>
                  </a:lnTo>
                  <a:lnTo>
                    <a:pt x="6107" y="291"/>
                  </a:lnTo>
                  <a:lnTo>
                    <a:pt x="6010" y="146"/>
                  </a:lnTo>
                  <a:lnTo>
                    <a:pt x="58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40"/>
            <p:cNvSpPr/>
            <p:nvPr/>
          </p:nvSpPr>
          <p:spPr>
            <a:xfrm>
              <a:off x="3288275" y="3315312"/>
              <a:ext cx="391048" cy="392133"/>
            </a:xfrm>
            <a:custGeom>
              <a:avLst/>
              <a:gdLst/>
              <a:ahLst/>
              <a:cxnLst/>
              <a:rect l="l" t="t" r="r" b="b"/>
              <a:pathLst>
                <a:path w="17303" h="17351" extrusionOk="0">
                  <a:moveTo>
                    <a:pt x="13765" y="3587"/>
                  </a:moveTo>
                  <a:lnTo>
                    <a:pt x="13765" y="13813"/>
                  </a:lnTo>
                  <a:lnTo>
                    <a:pt x="3539" y="13813"/>
                  </a:lnTo>
                  <a:lnTo>
                    <a:pt x="3539" y="3587"/>
                  </a:lnTo>
                  <a:close/>
                  <a:moveTo>
                    <a:pt x="3054" y="0"/>
                  </a:moveTo>
                  <a:lnTo>
                    <a:pt x="2812" y="49"/>
                  </a:lnTo>
                  <a:lnTo>
                    <a:pt x="2667" y="146"/>
                  </a:lnTo>
                  <a:lnTo>
                    <a:pt x="2570" y="340"/>
                  </a:lnTo>
                  <a:lnTo>
                    <a:pt x="2521" y="533"/>
                  </a:lnTo>
                  <a:lnTo>
                    <a:pt x="2570" y="727"/>
                  </a:lnTo>
                  <a:lnTo>
                    <a:pt x="2667" y="873"/>
                  </a:lnTo>
                  <a:lnTo>
                    <a:pt x="2812" y="970"/>
                  </a:lnTo>
                  <a:lnTo>
                    <a:pt x="3054" y="1018"/>
                  </a:lnTo>
                  <a:lnTo>
                    <a:pt x="4557" y="1018"/>
                  </a:lnTo>
                  <a:lnTo>
                    <a:pt x="4557" y="2569"/>
                  </a:lnTo>
                  <a:lnTo>
                    <a:pt x="2812" y="2569"/>
                  </a:lnTo>
                  <a:lnTo>
                    <a:pt x="2667" y="2714"/>
                  </a:lnTo>
                  <a:lnTo>
                    <a:pt x="2570" y="2860"/>
                  </a:lnTo>
                  <a:lnTo>
                    <a:pt x="2521" y="3054"/>
                  </a:lnTo>
                  <a:lnTo>
                    <a:pt x="2521" y="4604"/>
                  </a:lnTo>
                  <a:lnTo>
                    <a:pt x="1019" y="4604"/>
                  </a:lnTo>
                  <a:lnTo>
                    <a:pt x="1019" y="3054"/>
                  </a:lnTo>
                  <a:lnTo>
                    <a:pt x="970" y="2860"/>
                  </a:lnTo>
                  <a:lnTo>
                    <a:pt x="873" y="2714"/>
                  </a:lnTo>
                  <a:lnTo>
                    <a:pt x="679" y="2569"/>
                  </a:lnTo>
                  <a:lnTo>
                    <a:pt x="292" y="2569"/>
                  </a:lnTo>
                  <a:lnTo>
                    <a:pt x="146" y="2714"/>
                  </a:lnTo>
                  <a:lnTo>
                    <a:pt x="1" y="2860"/>
                  </a:lnTo>
                  <a:lnTo>
                    <a:pt x="1" y="3054"/>
                  </a:lnTo>
                  <a:lnTo>
                    <a:pt x="1" y="5089"/>
                  </a:lnTo>
                  <a:lnTo>
                    <a:pt x="1" y="5283"/>
                  </a:lnTo>
                  <a:lnTo>
                    <a:pt x="146" y="5428"/>
                  </a:lnTo>
                  <a:lnTo>
                    <a:pt x="292" y="5574"/>
                  </a:lnTo>
                  <a:lnTo>
                    <a:pt x="486" y="5622"/>
                  </a:lnTo>
                  <a:lnTo>
                    <a:pt x="2521" y="5622"/>
                  </a:lnTo>
                  <a:lnTo>
                    <a:pt x="2521" y="6979"/>
                  </a:lnTo>
                  <a:lnTo>
                    <a:pt x="486" y="6979"/>
                  </a:lnTo>
                  <a:lnTo>
                    <a:pt x="292" y="7028"/>
                  </a:lnTo>
                  <a:lnTo>
                    <a:pt x="146" y="7125"/>
                  </a:lnTo>
                  <a:lnTo>
                    <a:pt x="1" y="7270"/>
                  </a:lnTo>
                  <a:lnTo>
                    <a:pt x="1" y="7464"/>
                  </a:lnTo>
                  <a:lnTo>
                    <a:pt x="1" y="7706"/>
                  </a:lnTo>
                  <a:lnTo>
                    <a:pt x="146" y="7852"/>
                  </a:lnTo>
                  <a:lnTo>
                    <a:pt x="292" y="7949"/>
                  </a:lnTo>
                  <a:lnTo>
                    <a:pt x="486" y="7997"/>
                  </a:lnTo>
                  <a:lnTo>
                    <a:pt x="2521" y="7997"/>
                  </a:lnTo>
                  <a:lnTo>
                    <a:pt x="2521" y="9354"/>
                  </a:lnTo>
                  <a:lnTo>
                    <a:pt x="486" y="9354"/>
                  </a:lnTo>
                  <a:lnTo>
                    <a:pt x="292" y="9402"/>
                  </a:lnTo>
                  <a:lnTo>
                    <a:pt x="146" y="9499"/>
                  </a:lnTo>
                  <a:lnTo>
                    <a:pt x="1" y="9693"/>
                  </a:lnTo>
                  <a:lnTo>
                    <a:pt x="1" y="9887"/>
                  </a:lnTo>
                  <a:lnTo>
                    <a:pt x="1" y="10081"/>
                  </a:lnTo>
                  <a:lnTo>
                    <a:pt x="146" y="10226"/>
                  </a:lnTo>
                  <a:lnTo>
                    <a:pt x="292" y="10323"/>
                  </a:lnTo>
                  <a:lnTo>
                    <a:pt x="486" y="10372"/>
                  </a:lnTo>
                  <a:lnTo>
                    <a:pt x="2521" y="10372"/>
                  </a:lnTo>
                  <a:lnTo>
                    <a:pt x="2521" y="11777"/>
                  </a:lnTo>
                  <a:lnTo>
                    <a:pt x="486" y="11777"/>
                  </a:lnTo>
                  <a:lnTo>
                    <a:pt x="292" y="11826"/>
                  </a:lnTo>
                  <a:lnTo>
                    <a:pt x="146" y="11923"/>
                  </a:lnTo>
                  <a:lnTo>
                    <a:pt x="1" y="12068"/>
                  </a:lnTo>
                  <a:lnTo>
                    <a:pt x="1" y="12262"/>
                  </a:lnTo>
                  <a:lnTo>
                    <a:pt x="1" y="14297"/>
                  </a:lnTo>
                  <a:lnTo>
                    <a:pt x="1" y="14491"/>
                  </a:lnTo>
                  <a:lnTo>
                    <a:pt x="146" y="14685"/>
                  </a:lnTo>
                  <a:lnTo>
                    <a:pt x="292" y="14782"/>
                  </a:lnTo>
                  <a:lnTo>
                    <a:pt x="486" y="14831"/>
                  </a:lnTo>
                  <a:lnTo>
                    <a:pt x="679" y="14782"/>
                  </a:lnTo>
                  <a:lnTo>
                    <a:pt x="873" y="14685"/>
                  </a:lnTo>
                  <a:lnTo>
                    <a:pt x="970" y="14491"/>
                  </a:lnTo>
                  <a:lnTo>
                    <a:pt x="1019" y="14297"/>
                  </a:lnTo>
                  <a:lnTo>
                    <a:pt x="1019" y="12795"/>
                  </a:lnTo>
                  <a:lnTo>
                    <a:pt x="2521" y="12795"/>
                  </a:lnTo>
                  <a:lnTo>
                    <a:pt x="2521" y="14297"/>
                  </a:lnTo>
                  <a:lnTo>
                    <a:pt x="2570" y="14491"/>
                  </a:lnTo>
                  <a:lnTo>
                    <a:pt x="2667" y="14685"/>
                  </a:lnTo>
                  <a:lnTo>
                    <a:pt x="2812" y="14782"/>
                  </a:lnTo>
                  <a:lnTo>
                    <a:pt x="3054" y="14831"/>
                  </a:lnTo>
                  <a:lnTo>
                    <a:pt x="4557" y="14831"/>
                  </a:lnTo>
                  <a:lnTo>
                    <a:pt x="4557" y="16333"/>
                  </a:lnTo>
                  <a:lnTo>
                    <a:pt x="3054" y="16333"/>
                  </a:lnTo>
                  <a:lnTo>
                    <a:pt x="2812" y="16381"/>
                  </a:lnTo>
                  <a:lnTo>
                    <a:pt x="2667" y="16478"/>
                  </a:lnTo>
                  <a:lnTo>
                    <a:pt x="2570" y="16624"/>
                  </a:lnTo>
                  <a:lnTo>
                    <a:pt x="2521" y="16866"/>
                  </a:lnTo>
                  <a:lnTo>
                    <a:pt x="2570" y="17060"/>
                  </a:lnTo>
                  <a:lnTo>
                    <a:pt x="2667" y="17205"/>
                  </a:lnTo>
                  <a:lnTo>
                    <a:pt x="2812" y="17302"/>
                  </a:lnTo>
                  <a:lnTo>
                    <a:pt x="3054" y="17351"/>
                  </a:lnTo>
                  <a:lnTo>
                    <a:pt x="5041" y="17351"/>
                  </a:lnTo>
                  <a:lnTo>
                    <a:pt x="5284" y="17302"/>
                  </a:lnTo>
                  <a:lnTo>
                    <a:pt x="5429" y="17205"/>
                  </a:lnTo>
                  <a:lnTo>
                    <a:pt x="5526" y="17060"/>
                  </a:lnTo>
                  <a:lnTo>
                    <a:pt x="5574" y="16866"/>
                  </a:lnTo>
                  <a:lnTo>
                    <a:pt x="5574" y="14831"/>
                  </a:lnTo>
                  <a:lnTo>
                    <a:pt x="6931" y="14831"/>
                  </a:lnTo>
                  <a:lnTo>
                    <a:pt x="6931" y="16866"/>
                  </a:lnTo>
                  <a:lnTo>
                    <a:pt x="6980" y="17060"/>
                  </a:lnTo>
                  <a:lnTo>
                    <a:pt x="7077" y="17205"/>
                  </a:lnTo>
                  <a:lnTo>
                    <a:pt x="7271" y="17302"/>
                  </a:lnTo>
                  <a:lnTo>
                    <a:pt x="7465" y="17351"/>
                  </a:lnTo>
                  <a:lnTo>
                    <a:pt x="7658" y="17302"/>
                  </a:lnTo>
                  <a:lnTo>
                    <a:pt x="7804" y="17205"/>
                  </a:lnTo>
                  <a:lnTo>
                    <a:pt x="7949" y="17060"/>
                  </a:lnTo>
                  <a:lnTo>
                    <a:pt x="7949" y="16866"/>
                  </a:lnTo>
                  <a:lnTo>
                    <a:pt x="7949" y="14831"/>
                  </a:lnTo>
                  <a:lnTo>
                    <a:pt x="9355" y="14831"/>
                  </a:lnTo>
                  <a:lnTo>
                    <a:pt x="9355" y="16866"/>
                  </a:lnTo>
                  <a:lnTo>
                    <a:pt x="9403" y="17060"/>
                  </a:lnTo>
                  <a:lnTo>
                    <a:pt x="9500" y="17205"/>
                  </a:lnTo>
                  <a:lnTo>
                    <a:pt x="9645" y="17302"/>
                  </a:lnTo>
                  <a:lnTo>
                    <a:pt x="9839" y="17351"/>
                  </a:lnTo>
                  <a:lnTo>
                    <a:pt x="10033" y="17302"/>
                  </a:lnTo>
                  <a:lnTo>
                    <a:pt x="10227" y="17205"/>
                  </a:lnTo>
                  <a:lnTo>
                    <a:pt x="10324" y="17060"/>
                  </a:lnTo>
                  <a:lnTo>
                    <a:pt x="10372" y="16866"/>
                  </a:lnTo>
                  <a:lnTo>
                    <a:pt x="10372" y="14831"/>
                  </a:lnTo>
                  <a:lnTo>
                    <a:pt x="11729" y="14831"/>
                  </a:lnTo>
                  <a:lnTo>
                    <a:pt x="11729" y="16866"/>
                  </a:lnTo>
                  <a:lnTo>
                    <a:pt x="11778" y="17060"/>
                  </a:lnTo>
                  <a:lnTo>
                    <a:pt x="11875" y="17205"/>
                  </a:lnTo>
                  <a:lnTo>
                    <a:pt x="12069" y="17302"/>
                  </a:lnTo>
                  <a:lnTo>
                    <a:pt x="12263" y="17351"/>
                  </a:lnTo>
                  <a:lnTo>
                    <a:pt x="14298" y="17351"/>
                  </a:lnTo>
                  <a:lnTo>
                    <a:pt x="14492" y="17302"/>
                  </a:lnTo>
                  <a:lnTo>
                    <a:pt x="14637" y="17205"/>
                  </a:lnTo>
                  <a:lnTo>
                    <a:pt x="14734" y="17060"/>
                  </a:lnTo>
                  <a:lnTo>
                    <a:pt x="14783" y="16866"/>
                  </a:lnTo>
                  <a:lnTo>
                    <a:pt x="14734" y="16624"/>
                  </a:lnTo>
                  <a:lnTo>
                    <a:pt x="14637" y="16478"/>
                  </a:lnTo>
                  <a:lnTo>
                    <a:pt x="14492" y="16381"/>
                  </a:lnTo>
                  <a:lnTo>
                    <a:pt x="14298" y="16333"/>
                  </a:lnTo>
                  <a:lnTo>
                    <a:pt x="12747" y="16333"/>
                  </a:lnTo>
                  <a:lnTo>
                    <a:pt x="12747" y="14831"/>
                  </a:lnTo>
                  <a:lnTo>
                    <a:pt x="14298" y="14831"/>
                  </a:lnTo>
                  <a:lnTo>
                    <a:pt x="14492" y="14782"/>
                  </a:lnTo>
                  <a:lnTo>
                    <a:pt x="14637" y="14685"/>
                  </a:lnTo>
                  <a:lnTo>
                    <a:pt x="14734" y="14491"/>
                  </a:lnTo>
                  <a:lnTo>
                    <a:pt x="14783" y="14297"/>
                  </a:lnTo>
                  <a:lnTo>
                    <a:pt x="14783" y="12795"/>
                  </a:lnTo>
                  <a:lnTo>
                    <a:pt x="16285" y="12795"/>
                  </a:lnTo>
                  <a:lnTo>
                    <a:pt x="16285" y="14297"/>
                  </a:lnTo>
                  <a:lnTo>
                    <a:pt x="16334" y="14491"/>
                  </a:lnTo>
                  <a:lnTo>
                    <a:pt x="16479" y="14685"/>
                  </a:lnTo>
                  <a:lnTo>
                    <a:pt x="16624" y="14782"/>
                  </a:lnTo>
                  <a:lnTo>
                    <a:pt x="16818" y="14831"/>
                  </a:lnTo>
                  <a:lnTo>
                    <a:pt x="17012" y="14782"/>
                  </a:lnTo>
                  <a:lnTo>
                    <a:pt x="17158" y="14685"/>
                  </a:lnTo>
                  <a:lnTo>
                    <a:pt x="17303" y="14491"/>
                  </a:lnTo>
                  <a:lnTo>
                    <a:pt x="17303" y="14297"/>
                  </a:lnTo>
                  <a:lnTo>
                    <a:pt x="17303" y="12262"/>
                  </a:lnTo>
                  <a:lnTo>
                    <a:pt x="17303" y="12068"/>
                  </a:lnTo>
                  <a:lnTo>
                    <a:pt x="17158" y="11923"/>
                  </a:lnTo>
                  <a:lnTo>
                    <a:pt x="17012" y="11826"/>
                  </a:lnTo>
                  <a:lnTo>
                    <a:pt x="16818" y="11777"/>
                  </a:lnTo>
                  <a:lnTo>
                    <a:pt x="14783" y="11777"/>
                  </a:lnTo>
                  <a:lnTo>
                    <a:pt x="14783" y="10372"/>
                  </a:lnTo>
                  <a:lnTo>
                    <a:pt x="16818" y="10372"/>
                  </a:lnTo>
                  <a:lnTo>
                    <a:pt x="17012" y="10323"/>
                  </a:lnTo>
                  <a:lnTo>
                    <a:pt x="17158" y="10226"/>
                  </a:lnTo>
                  <a:lnTo>
                    <a:pt x="17303" y="10081"/>
                  </a:lnTo>
                  <a:lnTo>
                    <a:pt x="17303" y="9887"/>
                  </a:lnTo>
                  <a:lnTo>
                    <a:pt x="17303" y="9693"/>
                  </a:lnTo>
                  <a:lnTo>
                    <a:pt x="17158" y="9499"/>
                  </a:lnTo>
                  <a:lnTo>
                    <a:pt x="17012" y="9402"/>
                  </a:lnTo>
                  <a:lnTo>
                    <a:pt x="16818" y="9354"/>
                  </a:lnTo>
                  <a:lnTo>
                    <a:pt x="14783" y="9354"/>
                  </a:lnTo>
                  <a:lnTo>
                    <a:pt x="14783" y="7997"/>
                  </a:lnTo>
                  <a:lnTo>
                    <a:pt x="16818" y="7997"/>
                  </a:lnTo>
                  <a:lnTo>
                    <a:pt x="17012" y="7949"/>
                  </a:lnTo>
                  <a:lnTo>
                    <a:pt x="17158" y="7852"/>
                  </a:lnTo>
                  <a:lnTo>
                    <a:pt x="17303" y="7706"/>
                  </a:lnTo>
                  <a:lnTo>
                    <a:pt x="17303" y="7464"/>
                  </a:lnTo>
                  <a:lnTo>
                    <a:pt x="17303" y="7270"/>
                  </a:lnTo>
                  <a:lnTo>
                    <a:pt x="17158" y="7125"/>
                  </a:lnTo>
                  <a:lnTo>
                    <a:pt x="17012" y="7028"/>
                  </a:lnTo>
                  <a:lnTo>
                    <a:pt x="16818" y="6979"/>
                  </a:lnTo>
                  <a:lnTo>
                    <a:pt x="14783" y="6979"/>
                  </a:lnTo>
                  <a:lnTo>
                    <a:pt x="14783" y="5622"/>
                  </a:lnTo>
                  <a:lnTo>
                    <a:pt x="16818" y="5622"/>
                  </a:lnTo>
                  <a:lnTo>
                    <a:pt x="17012" y="5574"/>
                  </a:lnTo>
                  <a:lnTo>
                    <a:pt x="17158" y="5428"/>
                  </a:lnTo>
                  <a:lnTo>
                    <a:pt x="17303" y="5283"/>
                  </a:lnTo>
                  <a:lnTo>
                    <a:pt x="17303" y="5089"/>
                  </a:lnTo>
                  <a:lnTo>
                    <a:pt x="17303" y="3054"/>
                  </a:lnTo>
                  <a:lnTo>
                    <a:pt x="17303" y="2860"/>
                  </a:lnTo>
                  <a:lnTo>
                    <a:pt x="17158" y="2714"/>
                  </a:lnTo>
                  <a:lnTo>
                    <a:pt x="17012" y="2569"/>
                  </a:lnTo>
                  <a:lnTo>
                    <a:pt x="16624" y="2569"/>
                  </a:lnTo>
                  <a:lnTo>
                    <a:pt x="16479" y="2714"/>
                  </a:lnTo>
                  <a:lnTo>
                    <a:pt x="16334" y="2860"/>
                  </a:lnTo>
                  <a:lnTo>
                    <a:pt x="16285" y="3054"/>
                  </a:lnTo>
                  <a:lnTo>
                    <a:pt x="16285" y="4604"/>
                  </a:lnTo>
                  <a:lnTo>
                    <a:pt x="14783" y="4604"/>
                  </a:lnTo>
                  <a:lnTo>
                    <a:pt x="14783" y="3054"/>
                  </a:lnTo>
                  <a:lnTo>
                    <a:pt x="14734" y="2860"/>
                  </a:lnTo>
                  <a:lnTo>
                    <a:pt x="14637" y="2714"/>
                  </a:lnTo>
                  <a:lnTo>
                    <a:pt x="14492" y="2569"/>
                  </a:lnTo>
                  <a:lnTo>
                    <a:pt x="12747" y="2569"/>
                  </a:lnTo>
                  <a:lnTo>
                    <a:pt x="12747" y="1018"/>
                  </a:lnTo>
                  <a:lnTo>
                    <a:pt x="14298" y="1018"/>
                  </a:lnTo>
                  <a:lnTo>
                    <a:pt x="14492" y="970"/>
                  </a:lnTo>
                  <a:lnTo>
                    <a:pt x="14637" y="873"/>
                  </a:lnTo>
                  <a:lnTo>
                    <a:pt x="14734" y="727"/>
                  </a:lnTo>
                  <a:lnTo>
                    <a:pt x="14783" y="533"/>
                  </a:lnTo>
                  <a:lnTo>
                    <a:pt x="14734" y="340"/>
                  </a:lnTo>
                  <a:lnTo>
                    <a:pt x="14637" y="146"/>
                  </a:lnTo>
                  <a:lnTo>
                    <a:pt x="14492" y="49"/>
                  </a:lnTo>
                  <a:lnTo>
                    <a:pt x="14298" y="0"/>
                  </a:lnTo>
                  <a:lnTo>
                    <a:pt x="12263" y="0"/>
                  </a:lnTo>
                  <a:lnTo>
                    <a:pt x="12069" y="49"/>
                  </a:lnTo>
                  <a:lnTo>
                    <a:pt x="11875" y="146"/>
                  </a:lnTo>
                  <a:lnTo>
                    <a:pt x="11778" y="340"/>
                  </a:lnTo>
                  <a:lnTo>
                    <a:pt x="11729" y="533"/>
                  </a:lnTo>
                  <a:lnTo>
                    <a:pt x="11729" y="2569"/>
                  </a:lnTo>
                  <a:lnTo>
                    <a:pt x="10372" y="2569"/>
                  </a:lnTo>
                  <a:lnTo>
                    <a:pt x="10372" y="533"/>
                  </a:lnTo>
                  <a:lnTo>
                    <a:pt x="10324" y="340"/>
                  </a:lnTo>
                  <a:lnTo>
                    <a:pt x="10227" y="146"/>
                  </a:lnTo>
                  <a:lnTo>
                    <a:pt x="10033" y="49"/>
                  </a:lnTo>
                  <a:lnTo>
                    <a:pt x="9839" y="0"/>
                  </a:lnTo>
                  <a:lnTo>
                    <a:pt x="9645" y="49"/>
                  </a:lnTo>
                  <a:lnTo>
                    <a:pt x="9500" y="146"/>
                  </a:lnTo>
                  <a:lnTo>
                    <a:pt x="9403" y="340"/>
                  </a:lnTo>
                  <a:lnTo>
                    <a:pt x="9355" y="533"/>
                  </a:lnTo>
                  <a:lnTo>
                    <a:pt x="9355" y="2569"/>
                  </a:lnTo>
                  <a:lnTo>
                    <a:pt x="7949" y="2569"/>
                  </a:lnTo>
                  <a:lnTo>
                    <a:pt x="7949" y="533"/>
                  </a:lnTo>
                  <a:lnTo>
                    <a:pt x="7949" y="340"/>
                  </a:lnTo>
                  <a:lnTo>
                    <a:pt x="7804" y="146"/>
                  </a:lnTo>
                  <a:lnTo>
                    <a:pt x="7658" y="49"/>
                  </a:lnTo>
                  <a:lnTo>
                    <a:pt x="7465" y="0"/>
                  </a:lnTo>
                  <a:lnTo>
                    <a:pt x="7271" y="49"/>
                  </a:lnTo>
                  <a:lnTo>
                    <a:pt x="7077" y="146"/>
                  </a:lnTo>
                  <a:lnTo>
                    <a:pt x="6980" y="340"/>
                  </a:lnTo>
                  <a:lnTo>
                    <a:pt x="6931" y="533"/>
                  </a:lnTo>
                  <a:lnTo>
                    <a:pt x="6931" y="2569"/>
                  </a:lnTo>
                  <a:lnTo>
                    <a:pt x="5574" y="2569"/>
                  </a:lnTo>
                  <a:lnTo>
                    <a:pt x="5574" y="533"/>
                  </a:lnTo>
                  <a:lnTo>
                    <a:pt x="5526" y="340"/>
                  </a:lnTo>
                  <a:lnTo>
                    <a:pt x="5429" y="146"/>
                  </a:lnTo>
                  <a:lnTo>
                    <a:pt x="5284" y="49"/>
                  </a:lnTo>
                  <a:lnTo>
                    <a:pt x="50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40"/>
            <p:cNvSpPr/>
            <p:nvPr/>
          </p:nvSpPr>
          <p:spPr>
            <a:xfrm>
              <a:off x="3391240" y="3419362"/>
              <a:ext cx="23029" cy="23029"/>
            </a:xfrm>
            <a:custGeom>
              <a:avLst/>
              <a:gdLst/>
              <a:ahLst/>
              <a:cxnLst/>
              <a:rect l="l" t="t" r="r" b="b"/>
              <a:pathLst>
                <a:path w="1019" h="1019" extrusionOk="0">
                  <a:moveTo>
                    <a:pt x="291" y="0"/>
                  </a:moveTo>
                  <a:lnTo>
                    <a:pt x="146" y="146"/>
                  </a:lnTo>
                  <a:lnTo>
                    <a:pt x="49" y="291"/>
                  </a:lnTo>
                  <a:lnTo>
                    <a:pt x="1" y="485"/>
                  </a:lnTo>
                  <a:lnTo>
                    <a:pt x="49" y="679"/>
                  </a:lnTo>
                  <a:lnTo>
                    <a:pt x="146" y="824"/>
                  </a:lnTo>
                  <a:lnTo>
                    <a:pt x="291" y="970"/>
                  </a:lnTo>
                  <a:lnTo>
                    <a:pt x="485" y="1018"/>
                  </a:lnTo>
                  <a:lnTo>
                    <a:pt x="728" y="970"/>
                  </a:lnTo>
                  <a:lnTo>
                    <a:pt x="873" y="824"/>
                  </a:lnTo>
                  <a:lnTo>
                    <a:pt x="970" y="679"/>
                  </a:lnTo>
                  <a:lnTo>
                    <a:pt x="1018" y="485"/>
                  </a:lnTo>
                  <a:lnTo>
                    <a:pt x="970" y="291"/>
                  </a:lnTo>
                  <a:lnTo>
                    <a:pt x="873" y="146"/>
                  </a:lnTo>
                  <a:lnTo>
                    <a:pt x="7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40"/>
            <p:cNvSpPr/>
            <p:nvPr/>
          </p:nvSpPr>
          <p:spPr>
            <a:xfrm>
              <a:off x="3553350" y="3419362"/>
              <a:ext cx="23029" cy="23029"/>
            </a:xfrm>
            <a:custGeom>
              <a:avLst/>
              <a:gdLst/>
              <a:ahLst/>
              <a:cxnLst/>
              <a:rect l="l" t="t" r="r" b="b"/>
              <a:pathLst>
                <a:path w="1019" h="1019" extrusionOk="0">
                  <a:moveTo>
                    <a:pt x="340" y="0"/>
                  </a:moveTo>
                  <a:lnTo>
                    <a:pt x="146" y="146"/>
                  </a:lnTo>
                  <a:lnTo>
                    <a:pt x="49" y="291"/>
                  </a:lnTo>
                  <a:lnTo>
                    <a:pt x="0" y="485"/>
                  </a:lnTo>
                  <a:lnTo>
                    <a:pt x="49" y="679"/>
                  </a:lnTo>
                  <a:lnTo>
                    <a:pt x="146" y="824"/>
                  </a:lnTo>
                  <a:lnTo>
                    <a:pt x="340" y="970"/>
                  </a:lnTo>
                  <a:lnTo>
                    <a:pt x="534" y="1018"/>
                  </a:lnTo>
                  <a:lnTo>
                    <a:pt x="727" y="970"/>
                  </a:lnTo>
                  <a:lnTo>
                    <a:pt x="873" y="824"/>
                  </a:lnTo>
                  <a:lnTo>
                    <a:pt x="970" y="679"/>
                  </a:lnTo>
                  <a:lnTo>
                    <a:pt x="1018" y="485"/>
                  </a:lnTo>
                  <a:lnTo>
                    <a:pt x="970" y="291"/>
                  </a:lnTo>
                  <a:lnTo>
                    <a:pt x="873" y="146"/>
                  </a:lnTo>
                  <a:lnTo>
                    <a:pt x="72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40"/>
            <p:cNvSpPr/>
            <p:nvPr/>
          </p:nvSpPr>
          <p:spPr>
            <a:xfrm>
              <a:off x="3391240" y="3581472"/>
              <a:ext cx="23029" cy="23007"/>
            </a:xfrm>
            <a:custGeom>
              <a:avLst/>
              <a:gdLst/>
              <a:ahLst/>
              <a:cxnLst/>
              <a:rect l="l" t="t" r="r" b="b"/>
              <a:pathLst>
                <a:path w="1019" h="1018" extrusionOk="0">
                  <a:moveTo>
                    <a:pt x="485" y="0"/>
                  </a:moveTo>
                  <a:lnTo>
                    <a:pt x="291" y="49"/>
                  </a:lnTo>
                  <a:lnTo>
                    <a:pt x="146" y="146"/>
                  </a:lnTo>
                  <a:lnTo>
                    <a:pt x="49" y="291"/>
                  </a:lnTo>
                  <a:lnTo>
                    <a:pt x="1" y="485"/>
                  </a:lnTo>
                  <a:lnTo>
                    <a:pt x="49" y="679"/>
                  </a:lnTo>
                  <a:lnTo>
                    <a:pt x="146" y="873"/>
                  </a:lnTo>
                  <a:lnTo>
                    <a:pt x="291" y="970"/>
                  </a:lnTo>
                  <a:lnTo>
                    <a:pt x="485" y="1018"/>
                  </a:lnTo>
                  <a:lnTo>
                    <a:pt x="728" y="970"/>
                  </a:lnTo>
                  <a:lnTo>
                    <a:pt x="873" y="873"/>
                  </a:lnTo>
                  <a:lnTo>
                    <a:pt x="970" y="679"/>
                  </a:lnTo>
                  <a:lnTo>
                    <a:pt x="1018" y="485"/>
                  </a:lnTo>
                  <a:lnTo>
                    <a:pt x="970" y="291"/>
                  </a:lnTo>
                  <a:lnTo>
                    <a:pt x="873" y="146"/>
                  </a:lnTo>
                  <a:lnTo>
                    <a:pt x="728" y="49"/>
                  </a:lnTo>
                  <a:lnTo>
                    <a:pt x="4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40"/>
            <p:cNvSpPr/>
            <p:nvPr/>
          </p:nvSpPr>
          <p:spPr>
            <a:xfrm>
              <a:off x="3553350" y="3581472"/>
              <a:ext cx="23029" cy="23007"/>
            </a:xfrm>
            <a:custGeom>
              <a:avLst/>
              <a:gdLst/>
              <a:ahLst/>
              <a:cxnLst/>
              <a:rect l="l" t="t" r="r" b="b"/>
              <a:pathLst>
                <a:path w="1019" h="1018" extrusionOk="0">
                  <a:moveTo>
                    <a:pt x="534" y="0"/>
                  </a:moveTo>
                  <a:lnTo>
                    <a:pt x="340" y="49"/>
                  </a:lnTo>
                  <a:lnTo>
                    <a:pt x="146" y="146"/>
                  </a:lnTo>
                  <a:lnTo>
                    <a:pt x="49" y="291"/>
                  </a:lnTo>
                  <a:lnTo>
                    <a:pt x="0" y="485"/>
                  </a:lnTo>
                  <a:lnTo>
                    <a:pt x="49" y="679"/>
                  </a:lnTo>
                  <a:lnTo>
                    <a:pt x="146" y="873"/>
                  </a:lnTo>
                  <a:lnTo>
                    <a:pt x="340" y="970"/>
                  </a:lnTo>
                  <a:lnTo>
                    <a:pt x="534" y="1018"/>
                  </a:lnTo>
                  <a:lnTo>
                    <a:pt x="727" y="970"/>
                  </a:lnTo>
                  <a:lnTo>
                    <a:pt x="873" y="873"/>
                  </a:lnTo>
                  <a:lnTo>
                    <a:pt x="970" y="679"/>
                  </a:lnTo>
                  <a:lnTo>
                    <a:pt x="1018" y="485"/>
                  </a:lnTo>
                  <a:lnTo>
                    <a:pt x="970" y="291"/>
                  </a:lnTo>
                  <a:lnTo>
                    <a:pt x="873" y="146"/>
                  </a:lnTo>
                  <a:lnTo>
                    <a:pt x="727" y="49"/>
                  </a:lnTo>
                  <a:lnTo>
                    <a:pt x="5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31" name="Google Shape;531;p40"/>
          <p:cNvCxnSpPr>
            <a:stCxn id="490" idx="6"/>
            <a:endCxn id="499" idx="2"/>
          </p:cNvCxnSpPr>
          <p:nvPr/>
        </p:nvCxnSpPr>
        <p:spPr>
          <a:xfrm>
            <a:off x="4190950" y="1880113"/>
            <a:ext cx="751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2" name="Google Shape;532;p40"/>
          <p:cNvCxnSpPr>
            <a:stCxn id="499" idx="4"/>
            <a:endCxn id="500" idx="0"/>
          </p:cNvCxnSpPr>
          <p:nvPr/>
        </p:nvCxnSpPr>
        <p:spPr>
          <a:xfrm>
            <a:off x="5324225" y="2262163"/>
            <a:ext cx="0" cy="750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3" name="Google Shape;533;p40"/>
          <p:cNvCxnSpPr>
            <a:stCxn id="500" idx="2"/>
            <a:endCxn id="501" idx="6"/>
          </p:cNvCxnSpPr>
          <p:nvPr/>
        </p:nvCxnSpPr>
        <p:spPr>
          <a:xfrm rot="10800000">
            <a:off x="4190950" y="3394588"/>
            <a:ext cx="751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4" name="Google Shape;534;p40"/>
          <p:cNvCxnSpPr>
            <a:stCxn id="490" idx="4"/>
            <a:endCxn id="501" idx="0"/>
          </p:cNvCxnSpPr>
          <p:nvPr/>
        </p:nvCxnSpPr>
        <p:spPr>
          <a:xfrm>
            <a:off x="3808900" y="2262163"/>
            <a:ext cx="0" cy="750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5" name="Google Shape;535;p40"/>
          <p:cNvCxnSpPr>
            <a:stCxn id="490" idx="2"/>
            <a:endCxn id="495" idx="3"/>
          </p:cNvCxnSpPr>
          <p:nvPr/>
        </p:nvCxnSpPr>
        <p:spPr>
          <a:xfrm rot="10800000">
            <a:off x="2735350" y="1629313"/>
            <a:ext cx="691500" cy="250800"/>
          </a:xfrm>
          <a:prstGeom prst="bentConnector3">
            <a:avLst>
              <a:gd name="adj1" fmla="val 49991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6" name="Google Shape;536;p40"/>
          <p:cNvCxnSpPr>
            <a:stCxn id="499" idx="6"/>
            <a:endCxn id="498" idx="1"/>
          </p:cNvCxnSpPr>
          <p:nvPr/>
        </p:nvCxnSpPr>
        <p:spPr>
          <a:xfrm rot="10800000" flipH="1">
            <a:off x="5706275" y="1629313"/>
            <a:ext cx="702300" cy="250800"/>
          </a:xfrm>
          <a:prstGeom prst="bentConnector3">
            <a:avLst>
              <a:gd name="adj1" fmla="val 5000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7" name="Google Shape;537;p40"/>
          <p:cNvCxnSpPr>
            <a:stCxn id="501" idx="2"/>
            <a:endCxn id="497" idx="3"/>
          </p:cNvCxnSpPr>
          <p:nvPr/>
        </p:nvCxnSpPr>
        <p:spPr>
          <a:xfrm flipH="1">
            <a:off x="2735350" y="3394588"/>
            <a:ext cx="691500" cy="255000"/>
          </a:xfrm>
          <a:prstGeom prst="bentConnector3">
            <a:avLst>
              <a:gd name="adj1" fmla="val 4999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8" name="Google Shape;538;p40"/>
          <p:cNvCxnSpPr>
            <a:stCxn id="500" idx="6"/>
            <a:endCxn id="496" idx="1"/>
          </p:cNvCxnSpPr>
          <p:nvPr/>
        </p:nvCxnSpPr>
        <p:spPr>
          <a:xfrm>
            <a:off x="5706250" y="3394588"/>
            <a:ext cx="702300" cy="255000"/>
          </a:xfrm>
          <a:prstGeom prst="bentConnector3">
            <a:avLst>
              <a:gd name="adj1" fmla="val 50004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1"/>
          <p:cNvSpPr txBox="1">
            <a:spLocks noGrp="1"/>
          </p:cNvSpPr>
          <p:nvPr>
            <p:ph type="title"/>
          </p:nvPr>
        </p:nvSpPr>
        <p:spPr>
          <a:xfrm>
            <a:off x="720000" y="26517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Load &amp; Stress Test Results </a:t>
            </a:r>
            <a:endParaRPr/>
          </a:p>
        </p:txBody>
      </p:sp>
      <p:sp>
        <p:nvSpPr>
          <p:cNvPr id="544" name="Google Shape;544;p41"/>
          <p:cNvSpPr/>
          <p:nvPr/>
        </p:nvSpPr>
        <p:spPr>
          <a:xfrm>
            <a:off x="1531125" y="1361700"/>
            <a:ext cx="176400" cy="176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41"/>
          <p:cNvSpPr/>
          <p:nvPr/>
        </p:nvSpPr>
        <p:spPr>
          <a:xfrm>
            <a:off x="3495025" y="1361700"/>
            <a:ext cx="176400" cy="176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41"/>
          <p:cNvSpPr/>
          <p:nvPr/>
        </p:nvSpPr>
        <p:spPr>
          <a:xfrm>
            <a:off x="5458925" y="1361700"/>
            <a:ext cx="176400" cy="176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41"/>
          <p:cNvSpPr/>
          <p:nvPr/>
        </p:nvSpPr>
        <p:spPr>
          <a:xfrm>
            <a:off x="7422825" y="1361700"/>
            <a:ext cx="176400" cy="176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41"/>
          <p:cNvSpPr txBox="1"/>
          <p:nvPr/>
        </p:nvSpPr>
        <p:spPr>
          <a:xfrm flipH="1">
            <a:off x="713125" y="1658613"/>
            <a:ext cx="181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1XXX</a:t>
            </a:r>
            <a:endParaRPr sz="2400" b="1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9" name="Google Shape;549;p41"/>
          <p:cNvSpPr txBox="1"/>
          <p:nvPr/>
        </p:nvSpPr>
        <p:spPr>
          <a:xfrm flipH="1">
            <a:off x="713127" y="2135064"/>
            <a:ext cx="181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Venus has a beautiful name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0" name="Google Shape;550;p41"/>
          <p:cNvSpPr txBox="1"/>
          <p:nvPr/>
        </p:nvSpPr>
        <p:spPr>
          <a:xfrm flipH="1">
            <a:off x="2677025" y="1658613"/>
            <a:ext cx="181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1XXX</a:t>
            </a:r>
            <a:endParaRPr sz="2400" b="1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1" name="Google Shape;551;p41"/>
          <p:cNvSpPr txBox="1"/>
          <p:nvPr/>
        </p:nvSpPr>
        <p:spPr>
          <a:xfrm flipH="1">
            <a:off x="2677026" y="2135064"/>
            <a:ext cx="181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Mercury is very small planet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2" name="Google Shape;552;p41"/>
          <p:cNvSpPr txBox="1"/>
          <p:nvPr/>
        </p:nvSpPr>
        <p:spPr>
          <a:xfrm flipH="1">
            <a:off x="4640925" y="1658613"/>
            <a:ext cx="181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1XXX</a:t>
            </a:r>
            <a:endParaRPr sz="2400" b="1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3" name="Google Shape;553;p41"/>
          <p:cNvSpPr txBox="1"/>
          <p:nvPr/>
        </p:nvSpPr>
        <p:spPr>
          <a:xfrm flipH="1">
            <a:off x="4640926" y="2135064"/>
            <a:ext cx="181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Mars is full of iron oxide dust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4" name="Google Shape;554;p41"/>
          <p:cNvSpPr txBox="1"/>
          <p:nvPr/>
        </p:nvSpPr>
        <p:spPr>
          <a:xfrm flipH="1">
            <a:off x="6604825" y="1658613"/>
            <a:ext cx="181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1XXX</a:t>
            </a:r>
            <a:endParaRPr sz="2400" b="1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5" name="Google Shape;555;p41"/>
          <p:cNvSpPr txBox="1"/>
          <p:nvPr/>
        </p:nvSpPr>
        <p:spPr>
          <a:xfrm flipH="1">
            <a:off x="6604825" y="2135064"/>
            <a:ext cx="181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Jupiter is an enormous planet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556" name="Google Shape;556;p41"/>
          <p:cNvCxnSpPr>
            <a:stCxn id="544" idx="6"/>
            <a:endCxn id="545" idx="2"/>
          </p:cNvCxnSpPr>
          <p:nvPr/>
        </p:nvCxnSpPr>
        <p:spPr>
          <a:xfrm>
            <a:off x="1707525" y="1449900"/>
            <a:ext cx="1787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7" name="Google Shape;557;p41"/>
          <p:cNvCxnSpPr>
            <a:stCxn id="545" idx="6"/>
            <a:endCxn id="546" idx="2"/>
          </p:cNvCxnSpPr>
          <p:nvPr/>
        </p:nvCxnSpPr>
        <p:spPr>
          <a:xfrm>
            <a:off x="3671425" y="1449900"/>
            <a:ext cx="1787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8" name="Google Shape;558;p41"/>
          <p:cNvCxnSpPr>
            <a:stCxn id="546" idx="6"/>
            <a:endCxn id="547" idx="2"/>
          </p:cNvCxnSpPr>
          <p:nvPr/>
        </p:nvCxnSpPr>
        <p:spPr>
          <a:xfrm>
            <a:off x="5635325" y="1449900"/>
            <a:ext cx="1787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9" name="Google Shape;559;p41"/>
          <p:cNvCxnSpPr>
            <a:stCxn id="544" idx="4"/>
            <a:endCxn id="548" idx="0"/>
          </p:cNvCxnSpPr>
          <p:nvPr/>
        </p:nvCxnSpPr>
        <p:spPr>
          <a:xfrm>
            <a:off x="1619325" y="1538100"/>
            <a:ext cx="0" cy="12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0" name="Google Shape;560;p41"/>
          <p:cNvCxnSpPr>
            <a:stCxn id="545" idx="4"/>
            <a:endCxn id="550" idx="0"/>
          </p:cNvCxnSpPr>
          <p:nvPr/>
        </p:nvCxnSpPr>
        <p:spPr>
          <a:xfrm>
            <a:off x="3583225" y="1538100"/>
            <a:ext cx="0" cy="12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1" name="Google Shape;561;p41"/>
          <p:cNvCxnSpPr>
            <a:stCxn id="546" idx="4"/>
            <a:endCxn id="552" idx="0"/>
          </p:cNvCxnSpPr>
          <p:nvPr/>
        </p:nvCxnSpPr>
        <p:spPr>
          <a:xfrm>
            <a:off x="5547125" y="1538100"/>
            <a:ext cx="0" cy="12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2" name="Google Shape;562;p41"/>
          <p:cNvCxnSpPr>
            <a:stCxn id="547" idx="4"/>
            <a:endCxn id="554" idx="0"/>
          </p:cNvCxnSpPr>
          <p:nvPr/>
        </p:nvCxnSpPr>
        <p:spPr>
          <a:xfrm>
            <a:off x="7511025" y="1538100"/>
            <a:ext cx="0" cy="12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3" name="Google Shape;563;p41"/>
          <p:cNvSpPr/>
          <p:nvPr/>
        </p:nvSpPr>
        <p:spPr>
          <a:xfrm>
            <a:off x="1531125" y="3196150"/>
            <a:ext cx="176400" cy="176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41"/>
          <p:cNvSpPr/>
          <p:nvPr/>
        </p:nvSpPr>
        <p:spPr>
          <a:xfrm>
            <a:off x="3495025" y="3196150"/>
            <a:ext cx="176400" cy="176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41"/>
          <p:cNvSpPr/>
          <p:nvPr/>
        </p:nvSpPr>
        <p:spPr>
          <a:xfrm>
            <a:off x="5458925" y="3196150"/>
            <a:ext cx="176400" cy="176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41"/>
          <p:cNvSpPr/>
          <p:nvPr/>
        </p:nvSpPr>
        <p:spPr>
          <a:xfrm>
            <a:off x="7422825" y="3196150"/>
            <a:ext cx="176400" cy="176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41"/>
          <p:cNvSpPr txBox="1"/>
          <p:nvPr/>
        </p:nvSpPr>
        <p:spPr>
          <a:xfrm flipH="1">
            <a:off x="713125" y="3530950"/>
            <a:ext cx="181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2XXX</a:t>
            </a:r>
            <a:endParaRPr sz="2400" b="1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68" name="Google Shape;568;p41"/>
          <p:cNvSpPr txBox="1"/>
          <p:nvPr/>
        </p:nvSpPr>
        <p:spPr>
          <a:xfrm flipH="1">
            <a:off x="713125" y="4007402"/>
            <a:ext cx="181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Saturn is a gas giant and has rings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69" name="Google Shape;569;p41"/>
          <p:cNvSpPr txBox="1"/>
          <p:nvPr/>
        </p:nvSpPr>
        <p:spPr>
          <a:xfrm flipH="1">
            <a:off x="2677025" y="3530950"/>
            <a:ext cx="181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2XXX</a:t>
            </a:r>
            <a:endParaRPr sz="2400" b="1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70" name="Google Shape;570;p41"/>
          <p:cNvSpPr txBox="1"/>
          <p:nvPr/>
        </p:nvSpPr>
        <p:spPr>
          <a:xfrm flipH="1">
            <a:off x="2677025" y="4007402"/>
            <a:ext cx="181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Uranus is one of the ice giants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1" name="Google Shape;571;p41"/>
          <p:cNvSpPr txBox="1"/>
          <p:nvPr/>
        </p:nvSpPr>
        <p:spPr>
          <a:xfrm flipH="1">
            <a:off x="4640925" y="3530950"/>
            <a:ext cx="181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2XXX</a:t>
            </a:r>
            <a:endParaRPr sz="2400" b="1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72" name="Google Shape;572;p41"/>
          <p:cNvSpPr txBox="1"/>
          <p:nvPr/>
        </p:nvSpPr>
        <p:spPr>
          <a:xfrm flipH="1">
            <a:off x="4640925" y="4007402"/>
            <a:ext cx="181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Earth is the planet that harbors life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3" name="Google Shape;573;p41"/>
          <p:cNvSpPr txBox="1"/>
          <p:nvPr/>
        </p:nvSpPr>
        <p:spPr>
          <a:xfrm flipH="1">
            <a:off x="6604825" y="3530950"/>
            <a:ext cx="181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Now</a:t>
            </a:r>
            <a:endParaRPr sz="2400" b="1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74" name="Google Shape;574;p41"/>
          <p:cNvSpPr txBox="1"/>
          <p:nvPr/>
        </p:nvSpPr>
        <p:spPr>
          <a:xfrm flipH="1">
            <a:off x="6604825" y="4007402"/>
            <a:ext cx="181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Neptune is very far from the Sun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575" name="Google Shape;575;p41"/>
          <p:cNvCxnSpPr>
            <a:stCxn id="563" idx="6"/>
            <a:endCxn id="564" idx="2"/>
          </p:cNvCxnSpPr>
          <p:nvPr/>
        </p:nvCxnSpPr>
        <p:spPr>
          <a:xfrm>
            <a:off x="1707525" y="3284350"/>
            <a:ext cx="1787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6" name="Google Shape;576;p41"/>
          <p:cNvCxnSpPr>
            <a:stCxn id="564" idx="6"/>
            <a:endCxn id="565" idx="2"/>
          </p:cNvCxnSpPr>
          <p:nvPr/>
        </p:nvCxnSpPr>
        <p:spPr>
          <a:xfrm>
            <a:off x="3671425" y="3284350"/>
            <a:ext cx="1787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7" name="Google Shape;577;p41"/>
          <p:cNvCxnSpPr>
            <a:stCxn id="565" idx="6"/>
            <a:endCxn id="566" idx="2"/>
          </p:cNvCxnSpPr>
          <p:nvPr/>
        </p:nvCxnSpPr>
        <p:spPr>
          <a:xfrm>
            <a:off x="5635325" y="3284350"/>
            <a:ext cx="1787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8" name="Google Shape;578;p41"/>
          <p:cNvCxnSpPr>
            <a:stCxn id="563" idx="4"/>
            <a:endCxn id="567" idx="0"/>
          </p:cNvCxnSpPr>
          <p:nvPr/>
        </p:nvCxnSpPr>
        <p:spPr>
          <a:xfrm>
            <a:off x="1619325" y="3372550"/>
            <a:ext cx="0" cy="158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9" name="Google Shape;579;p41"/>
          <p:cNvCxnSpPr>
            <a:stCxn id="564" idx="4"/>
            <a:endCxn id="569" idx="0"/>
          </p:cNvCxnSpPr>
          <p:nvPr/>
        </p:nvCxnSpPr>
        <p:spPr>
          <a:xfrm>
            <a:off x="3583225" y="3372550"/>
            <a:ext cx="0" cy="158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0" name="Google Shape;580;p41"/>
          <p:cNvCxnSpPr>
            <a:stCxn id="565" idx="4"/>
            <a:endCxn id="571" idx="0"/>
          </p:cNvCxnSpPr>
          <p:nvPr/>
        </p:nvCxnSpPr>
        <p:spPr>
          <a:xfrm>
            <a:off x="5547125" y="3372550"/>
            <a:ext cx="0" cy="158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1" name="Google Shape;581;p41"/>
          <p:cNvCxnSpPr>
            <a:stCxn id="566" idx="4"/>
            <a:endCxn id="573" idx="0"/>
          </p:cNvCxnSpPr>
          <p:nvPr/>
        </p:nvCxnSpPr>
        <p:spPr>
          <a:xfrm>
            <a:off x="7511025" y="3372550"/>
            <a:ext cx="0" cy="158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2" name="Google Shape;582;p41"/>
          <p:cNvCxnSpPr>
            <a:stCxn id="547" idx="6"/>
            <a:endCxn id="563" idx="2"/>
          </p:cNvCxnSpPr>
          <p:nvPr/>
        </p:nvCxnSpPr>
        <p:spPr>
          <a:xfrm flipH="1">
            <a:off x="1531125" y="1449900"/>
            <a:ext cx="6068100" cy="1834500"/>
          </a:xfrm>
          <a:prstGeom prst="bentConnector5">
            <a:avLst>
              <a:gd name="adj1" fmla="val -13655"/>
              <a:gd name="adj2" fmla="val 77386"/>
              <a:gd name="adj3" fmla="val 103924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42"/>
          <p:cNvSpPr txBox="1">
            <a:spLocks noGrp="1"/>
          </p:cNvSpPr>
          <p:nvPr>
            <p:ph type="title"/>
          </p:nvPr>
        </p:nvSpPr>
        <p:spPr>
          <a:xfrm>
            <a:off x="720000" y="26517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Accuracy Results </a:t>
            </a:r>
            <a:endParaRPr/>
          </a:p>
        </p:txBody>
      </p:sp>
      <p:sp>
        <p:nvSpPr>
          <p:cNvPr id="588" name="Google Shape;588;p42"/>
          <p:cNvSpPr txBox="1"/>
          <p:nvPr/>
        </p:nvSpPr>
        <p:spPr>
          <a:xfrm>
            <a:off x="338275" y="886975"/>
            <a:ext cx="8661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F6973"/>
                </a:solidFill>
                <a:latin typeface="DM Sans"/>
                <a:ea typeface="DM Sans"/>
                <a:cs typeface="DM Sans"/>
                <a:sym typeface="DM Sans"/>
              </a:rPr>
              <a:t>175-ticket frozen golden set; accuracy is measured against final human labels. Errors are backend request failures, not wrong labels.</a:t>
            </a:r>
            <a:endParaRPr sz="1100">
              <a:solidFill>
                <a:srgbClr val="5F697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589" name="Google Shape;589;p42"/>
          <p:cNvGraphicFramePr/>
          <p:nvPr/>
        </p:nvGraphicFramePr>
        <p:xfrm>
          <a:off x="84075" y="14349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{1A484EB1-52C8-4F88-B49D-DAC7C477A5D6}</a:tableStyleId>
              </a:tblPr>
              <a:tblGrid>
                <a:gridCol w="132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1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1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6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60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Model</a:t>
                      </a:r>
                      <a:endParaRPr sz="1000" b="1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8DAF8">
                        <a:alpha val="34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Successful</a:t>
                      </a:r>
                      <a:endParaRPr sz="1000" b="1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8DAF8">
                        <a:alpha val="34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Errors</a:t>
                      </a:r>
                      <a:endParaRPr sz="1000" b="1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8DAF8">
                        <a:alpha val="34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Accuracy*</a:t>
                      </a:r>
                      <a:endParaRPr sz="1000" b="1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8DAF8">
                        <a:alpha val="34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End-to-end correct</a:t>
                      </a:r>
                      <a:endParaRPr sz="1000" b="1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8DAF8">
                        <a:alpha val="3418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0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Llama 3.2 1B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175/175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19.43%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19.43%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0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Gemma 3 4B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174/175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77.01%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76.57%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0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Mistral 7B Instruct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151/175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24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79.47%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68.57%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90" name="Google Shape;590;p42"/>
          <p:cNvSpPr txBox="1"/>
          <p:nvPr/>
        </p:nvSpPr>
        <p:spPr>
          <a:xfrm>
            <a:off x="5751150" y="129008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2F3D4C"/>
                </a:solidFill>
                <a:latin typeface="Outfit"/>
                <a:ea typeface="Outfit"/>
                <a:cs typeface="Outfit"/>
                <a:sym typeface="Outfit"/>
              </a:rPr>
              <a:t>Per-category accuracy highlights (%)</a:t>
            </a:r>
            <a:endParaRPr sz="1100" b="1">
              <a:solidFill>
                <a:srgbClr val="2F3D4C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aphicFrame>
        <p:nvGraphicFramePr>
          <p:cNvPr id="591" name="Google Shape;591;p42"/>
          <p:cNvGraphicFramePr/>
          <p:nvPr/>
        </p:nvGraphicFramePr>
        <p:xfrm>
          <a:off x="5251850" y="16931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{1A484EB1-52C8-4F88-B49D-DAC7C477A5D6}</a:tableStyleId>
              </a:tblPr>
              <a:tblGrid>
                <a:gridCol w="133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6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Category</a:t>
                      </a:r>
                      <a:endParaRPr sz="900" b="1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8DAF8">
                        <a:alpha val="34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Llama</a:t>
                      </a:r>
                      <a:endParaRPr sz="900" b="1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8DAF8">
                        <a:alpha val="34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Gemma</a:t>
                      </a:r>
                      <a:endParaRPr sz="900" b="1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8DAF8">
                        <a:alpha val="34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Mistral</a:t>
                      </a:r>
                      <a:endParaRPr sz="900" b="1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8DAF8">
                        <a:alpha val="3418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Bank account/service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96.00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68.00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77.27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Consumer loan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0.00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20.00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61.54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Credit card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0.00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100.00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70.00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Credit reporting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23.68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92.11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90.32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Debt collection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0.00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75.00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94.12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6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Money transfer/service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0.00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60.71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54.17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6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Mortgage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3.70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96.15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100.00</a:t>
                      </a:r>
                      <a:endParaRPr sz="9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92" name="Google Shape;592;p42"/>
          <p:cNvSpPr txBox="1"/>
          <p:nvPr/>
        </p:nvSpPr>
        <p:spPr>
          <a:xfrm>
            <a:off x="720000" y="2973175"/>
            <a:ext cx="4344900" cy="14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2F3D4C"/>
                </a:solidFill>
                <a:latin typeface="Outfit"/>
                <a:ea typeface="Outfit"/>
                <a:cs typeface="Outfit"/>
                <a:sym typeface="Outfit"/>
              </a:rPr>
              <a:t>Confusion matrix highlights</a:t>
            </a:r>
            <a:endParaRPr sz="1200" b="1">
              <a:solidFill>
                <a:srgbClr val="2F3D4C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1000"/>
              <a:buFont typeface="DM Sans"/>
              <a:buChar char="●"/>
            </a:pPr>
            <a:r>
              <a:rPr lang="en" sz="1000">
                <a:solidFill>
                  <a:srgbClr val="232D37"/>
                </a:solidFill>
                <a:latin typeface="DM Sans"/>
                <a:ea typeface="DM Sans"/>
                <a:cs typeface="DM Sans"/>
                <a:sym typeface="DM Sans"/>
              </a:rPr>
              <a:t>Llama collapsed toward Bank account/service, causing poor overall accuracy.</a:t>
            </a:r>
            <a:endParaRPr sz="1000">
              <a:solidFill>
                <a:srgbClr val="232D3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1000"/>
              <a:buFont typeface="DM Sans"/>
              <a:buChar char="●"/>
            </a:pPr>
            <a:r>
              <a:rPr lang="en" sz="1000">
                <a:solidFill>
                  <a:srgbClr val="232D37"/>
                </a:solidFill>
                <a:latin typeface="DM Sans"/>
                <a:ea typeface="DM Sans"/>
                <a:cs typeface="DM Sans"/>
                <a:sym typeface="DM Sans"/>
              </a:rPr>
              <a:t>Gemma’s largest confusion: Money transfer/service → Bank account/service (6).</a:t>
            </a:r>
            <a:endParaRPr sz="1000">
              <a:solidFill>
                <a:srgbClr val="232D3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1000"/>
              <a:buFont typeface="DM Sans"/>
              <a:buChar char="●"/>
            </a:pPr>
            <a:r>
              <a:rPr lang="en" sz="1000">
                <a:solidFill>
                  <a:srgbClr val="232D37"/>
                </a:solidFill>
                <a:latin typeface="DM Sans"/>
                <a:ea typeface="DM Sans"/>
                <a:cs typeface="DM Sans"/>
                <a:sym typeface="DM Sans"/>
              </a:rPr>
              <a:t>Mistral’s largest confusion: Money transfer/service → Bank account/service (10), plus 24 backend failures.</a:t>
            </a:r>
            <a:endParaRPr sz="1000">
              <a:solidFill>
                <a:srgbClr val="232D3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93" name="Google Shape;59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2125" y="4498295"/>
            <a:ext cx="3000000" cy="466292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42"/>
          <p:cNvSpPr txBox="1"/>
          <p:nvPr/>
        </p:nvSpPr>
        <p:spPr>
          <a:xfrm>
            <a:off x="4922725" y="4771400"/>
            <a:ext cx="3000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5F6973"/>
                </a:solidFill>
              </a:rPr>
              <a:t>*Accuracy on successful model responses only.</a:t>
            </a:r>
            <a:endParaRPr sz="800">
              <a:solidFill>
                <a:srgbClr val="5F697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43"/>
          <p:cNvSpPr txBox="1">
            <a:spLocks noGrp="1"/>
          </p:cNvSpPr>
          <p:nvPr>
            <p:ph type="title"/>
          </p:nvPr>
        </p:nvSpPr>
        <p:spPr>
          <a:xfrm>
            <a:off x="720000" y="26517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Predictions &amp; Recommendation</a:t>
            </a:r>
            <a:endParaRPr sz="33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21A7AC-41F8-6BD1-1522-C37E51112033}"/>
              </a:ext>
            </a:extLst>
          </p:cNvPr>
          <p:cNvSpPr txBox="1"/>
          <p:nvPr/>
        </p:nvSpPr>
        <p:spPr>
          <a:xfrm>
            <a:off x="723900" y="1117600"/>
            <a:ext cx="77089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384655"/>
                </a:solidFill>
                <a:latin typeface="DM Sans" pitchFamily="2" charset="0"/>
              </a:rPr>
              <a:t>Predicted vs measured end-to-end accuracy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0BCC6B-84D7-9CA1-A5AA-AAA5465A7907}"/>
              </a:ext>
            </a:extLst>
          </p:cNvPr>
          <p:cNvSpPr/>
          <p:nvPr/>
        </p:nvSpPr>
        <p:spPr>
          <a:xfrm>
            <a:off x="723900" y="1397000"/>
            <a:ext cx="1778000" cy="355600"/>
          </a:xfrm>
          <a:prstGeom prst="rect">
            <a:avLst/>
          </a:prstGeom>
          <a:solidFill>
            <a:srgbClr val="CAF1FA"/>
          </a:solidFill>
          <a:ln w="7620">
            <a:solidFill>
              <a:srgbClr val="A1B9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25400" rtlCol="0" anchor="ctr"/>
          <a:lstStyle/>
          <a:p>
            <a:r>
              <a:rPr lang="en-US" sz="1150" b="1">
                <a:solidFill>
                  <a:srgbClr val="384655"/>
                </a:solidFill>
                <a:latin typeface="DM Sans" pitchFamily="2" charset="0"/>
              </a:rPr>
              <a:t>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7562B7-FF49-20B3-E1C1-0204B5625593}"/>
              </a:ext>
            </a:extLst>
          </p:cNvPr>
          <p:cNvSpPr/>
          <p:nvPr/>
        </p:nvSpPr>
        <p:spPr>
          <a:xfrm>
            <a:off x="2501900" y="1397000"/>
            <a:ext cx="1003300" cy="355600"/>
          </a:xfrm>
          <a:prstGeom prst="rect">
            <a:avLst/>
          </a:prstGeom>
          <a:solidFill>
            <a:srgbClr val="CAF1FA"/>
          </a:solidFill>
          <a:ln w="7620">
            <a:solidFill>
              <a:srgbClr val="A1B9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25400" rtlCol="0" anchor="ctr"/>
          <a:lstStyle/>
          <a:p>
            <a:r>
              <a:rPr lang="en-US" sz="1150" b="1">
                <a:solidFill>
                  <a:srgbClr val="384655"/>
                </a:solidFill>
                <a:latin typeface="DM Sans" pitchFamily="2" charset="0"/>
              </a:rPr>
              <a:t>Predicted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BAC4CF-6B7A-8DD7-A678-47054154C976}"/>
              </a:ext>
            </a:extLst>
          </p:cNvPr>
          <p:cNvSpPr/>
          <p:nvPr/>
        </p:nvSpPr>
        <p:spPr>
          <a:xfrm>
            <a:off x="3505200" y="1397000"/>
            <a:ext cx="1117600" cy="355600"/>
          </a:xfrm>
          <a:prstGeom prst="rect">
            <a:avLst/>
          </a:prstGeom>
          <a:solidFill>
            <a:srgbClr val="CAF1FA"/>
          </a:solidFill>
          <a:ln w="7620">
            <a:solidFill>
              <a:srgbClr val="A1B9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25400" rtlCol="0" anchor="ctr"/>
          <a:lstStyle/>
          <a:p>
            <a:r>
              <a:rPr lang="en-US" sz="1150" b="1">
                <a:solidFill>
                  <a:srgbClr val="384655"/>
                </a:solidFill>
                <a:latin typeface="DM Sans" pitchFamily="2" charset="0"/>
              </a:rPr>
              <a:t>Measured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546058-29F7-85AC-B49A-4767DDE63FFE}"/>
              </a:ext>
            </a:extLst>
          </p:cNvPr>
          <p:cNvSpPr/>
          <p:nvPr/>
        </p:nvSpPr>
        <p:spPr>
          <a:xfrm>
            <a:off x="4622800" y="1397000"/>
            <a:ext cx="1041400" cy="355600"/>
          </a:xfrm>
          <a:prstGeom prst="rect">
            <a:avLst/>
          </a:prstGeom>
          <a:solidFill>
            <a:srgbClr val="CAF1FA"/>
          </a:solidFill>
          <a:ln w="7620">
            <a:solidFill>
              <a:srgbClr val="A1B9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25400" rtlCol="0" anchor="ctr"/>
          <a:lstStyle/>
          <a:p>
            <a:r>
              <a:rPr lang="en-US" sz="1150" b="1">
                <a:solidFill>
                  <a:srgbClr val="384655"/>
                </a:solidFill>
                <a:latin typeface="DM Sans" pitchFamily="2" charset="0"/>
              </a:rPr>
              <a:t>Load*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0C3473-0D82-AD5D-10D3-2DA192241F81}"/>
              </a:ext>
            </a:extLst>
          </p:cNvPr>
          <p:cNvSpPr/>
          <p:nvPr/>
        </p:nvSpPr>
        <p:spPr>
          <a:xfrm>
            <a:off x="5664200" y="1397000"/>
            <a:ext cx="889000" cy="355600"/>
          </a:xfrm>
          <a:prstGeom prst="rect">
            <a:avLst/>
          </a:prstGeom>
          <a:solidFill>
            <a:srgbClr val="CAF1FA"/>
          </a:solidFill>
          <a:ln w="7620">
            <a:solidFill>
              <a:srgbClr val="A1B9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25400" rtlCol="0" anchor="ctr"/>
          <a:lstStyle/>
          <a:p>
            <a:r>
              <a:rPr lang="en-US" sz="1150" b="1">
                <a:solidFill>
                  <a:srgbClr val="384655"/>
                </a:solidFill>
                <a:latin typeface="DM Sans" pitchFamily="2" charset="0"/>
              </a:rPr>
              <a:t>R4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2ED710-BE96-1065-129B-52778BECCDC1}"/>
              </a:ext>
            </a:extLst>
          </p:cNvPr>
          <p:cNvSpPr/>
          <p:nvPr/>
        </p:nvSpPr>
        <p:spPr>
          <a:xfrm>
            <a:off x="6553200" y="1397000"/>
            <a:ext cx="1879600" cy="355600"/>
          </a:xfrm>
          <a:prstGeom prst="rect">
            <a:avLst/>
          </a:prstGeom>
          <a:solidFill>
            <a:srgbClr val="CAF1FA"/>
          </a:solidFill>
          <a:ln w="7620">
            <a:solidFill>
              <a:srgbClr val="A1B9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25400" rtlCol="0" anchor="ctr"/>
          <a:lstStyle/>
          <a:p>
            <a:r>
              <a:rPr lang="en-US" sz="1150" b="1">
                <a:solidFill>
                  <a:srgbClr val="384655"/>
                </a:solidFill>
                <a:latin typeface="DM Sans" pitchFamily="2" charset="0"/>
              </a:rPr>
              <a:t>R5 risk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AC14AC-BEF9-599D-3E67-BD576D1043DB}"/>
              </a:ext>
            </a:extLst>
          </p:cNvPr>
          <p:cNvSpPr/>
          <p:nvPr/>
        </p:nvSpPr>
        <p:spPr>
          <a:xfrm>
            <a:off x="723900" y="1752600"/>
            <a:ext cx="1778000" cy="508000"/>
          </a:xfrm>
          <a:prstGeom prst="rect">
            <a:avLst/>
          </a:prstGeom>
          <a:solidFill>
            <a:srgbClr val="FFFFFF"/>
          </a:solidFill>
          <a:ln w="7620">
            <a:solidFill>
              <a:srgbClr val="A1B9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25400" rtlCol="0" anchor="ctr"/>
          <a:lstStyle/>
          <a:p>
            <a:r>
              <a:rPr lang="en-US" sz="1070">
                <a:solidFill>
                  <a:srgbClr val="384655"/>
                </a:solidFill>
                <a:latin typeface="DM Sans" pitchFamily="2" charset="0"/>
              </a:rPr>
              <a:t>Llama 3.2 1B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A23AEB-205D-7BDD-828B-7A0485B8991F}"/>
              </a:ext>
            </a:extLst>
          </p:cNvPr>
          <p:cNvSpPr/>
          <p:nvPr/>
        </p:nvSpPr>
        <p:spPr>
          <a:xfrm>
            <a:off x="2501900" y="1752600"/>
            <a:ext cx="1003300" cy="508000"/>
          </a:xfrm>
          <a:prstGeom prst="rect">
            <a:avLst/>
          </a:prstGeom>
          <a:solidFill>
            <a:srgbClr val="FFFFFF"/>
          </a:solidFill>
          <a:ln w="7620">
            <a:solidFill>
              <a:srgbClr val="A1B9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25400" rtlCol="0" anchor="ctr"/>
          <a:lstStyle/>
          <a:p>
            <a:r>
              <a:rPr lang="en-US" sz="1070">
                <a:solidFill>
                  <a:srgbClr val="384655"/>
                </a:solidFill>
                <a:latin typeface="DM Sans" pitchFamily="2" charset="0"/>
              </a:rPr>
              <a:t>68%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7FD55F-C162-08DF-0F9E-EE7159C78306}"/>
              </a:ext>
            </a:extLst>
          </p:cNvPr>
          <p:cNvSpPr/>
          <p:nvPr/>
        </p:nvSpPr>
        <p:spPr>
          <a:xfrm>
            <a:off x="3505200" y="1752600"/>
            <a:ext cx="1117600" cy="508000"/>
          </a:xfrm>
          <a:prstGeom prst="rect">
            <a:avLst/>
          </a:prstGeom>
          <a:solidFill>
            <a:srgbClr val="FFFFFF"/>
          </a:solidFill>
          <a:ln w="7620">
            <a:solidFill>
              <a:srgbClr val="A1B9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25400" rtlCol="0" anchor="ctr"/>
          <a:lstStyle/>
          <a:p>
            <a:r>
              <a:rPr lang="en-US" sz="1070">
                <a:solidFill>
                  <a:srgbClr val="384655"/>
                </a:solidFill>
                <a:latin typeface="DM Sans" pitchFamily="2" charset="0"/>
              </a:rPr>
              <a:t>19.43%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D0BBD0-1D46-0DA9-0A41-0964276A4D5E}"/>
              </a:ext>
            </a:extLst>
          </p:cNvPr>
          <p:cNvSpPr/>
          <p:nvPr/>
        </p:nvSpPr>
        <p:spPr>
          <a:xfrm>
            <a:off x="4622800" y="1752600"/>
            <a:ext cx="1041400" cy="508000"/>
          </a:xfrm>
          <a:prstGeom prst="rect">
            <a:avLst/>
          </a:prstGeom>
          <a:solidFill>
            <a:srgbClr val="FFFFFF"/>
          </a:solidFill>
          <a:ln w="7620">
            <a:solidFill>
              <a:srgbClr val="A1B9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25400" rtlCol="0" anchor="ctr"/>
          <a:lstStyle/>
          <a:p>
            <a:r>
              <a:rPr lang="en-US" sz="1070">
                <a:solidFill>
                  <a:srgbClr val="384655"/>
                </a:solidFill>
                <a:latin typeface="DM Sans" pitchFamily="2" charset="0"/>
              </a:rPr>
              <a:t>Supported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7C291C-ED30-14C5-3808-44CF7077CF20}"/>
              </a:ext>
            </a:extLst>
          </p:cNvPr>
          <p:cNvSpPr/>
          <p:nvPr/>
        </p:nvSpPr>
        <p:spPr>
          <a:xfrm>
            <a:off x="5664200" y="1752600"/>
            <a:ext cx="889000" cy="508000"/>
          </a:xfrm>
          <a:prstGeom prst="rect">
            <a:avLst/>
          </a:prstGeom>
          <a:solidFill>
            <a:srgbClr val="FFFFFF"/>
          </a:solidFill>
          <a:ln w="7620">
            <a:solidFill>
              <a:srgbClr val="A1B9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25400" rtlCol="0" anchor="ctr"/>
          <a:lstStyle/>
          <a:p>
            <a:r>
              <a:rPr lang="en-US" sz="1070">
                <a:solidFill>
                  <a:srgbClr val="384655"/>
                </a:solidFill>
                <a:latin typeface="DM Sans" pitchFamily="2" charset="0"/>
              </a:rPr>
              <a:t>Fail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327B9D-C5B6-DA9F-8381-5ACF986037B8}"/>
              </a:ext>
            </a:extLst>
          </p:cNvPr>
          <p:cNvSpPr/>
          <p:nvPr/>
        </p:nvSpPr>
        <p:spPr>
          <a:xfrm>
            <a:off x="6553200" y="1752600"/>
            <a:ext cx="1879600" cy="508000"/>
          </a:xfrm>
          <a:prstGeom prst="rect">
            <a:avLst/>
          </a:prstGeom>
          <a:solidFill>
            <a:srgbClr val="FFFFFF"/>
          </a:solidFill>
          <a:ln w="7620">
            <a:solidFill>
              <a:srgbClr val="A1B9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25400" rtlCol="0" anchor="ctr"/>
          <a:lstStyle/>
          <a:p>
            <a:r>
              <a:rPr lang="en-US" sz="1070">
                <a:solidFill>
                  <a:srgbClr val="384655"/>
                </a:solidFill>
                <a:latin typeface="DM Sans" pitchFamily="2" charset="0"/>
              </a:rPr>
              <a:t>6 of 7 below 60%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E6952FA-A000-187E-0E96-FB093DB14FD8}"/>
              </a:ext>
            </a:extLst>
          </p:cNvPr>
          <p:cNvSpPr/>
          <p:nvPr/>
        </p:nvSpPr>
        <p:spPr>
          <a:xfrm>
            <a:off x="723900" y="2260600"/>
            <a:ext cx="1778000" cy="508000"/>
          </a:xfrm>
          <a:prstGeom prst="rect">
            <a:avLst/>
          </a:prstGeom>
          <a:solidFill>
            <a:srgbClr val="EFF9FC"/>
          </a:solidFill>
          <a:ln w="7620">
            <a:solidFill>
              <a:srgbClr val="A1B9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25400" rtlCol="0" anchor="ctr"/>
          <a:lstStyle/>
          <a:p>
            <a:r>
              <a:rPr lang="en-US" sz="1070" b="1">
                <a:solidFill>
                  <a:srgbClr val="384655"/>
                </a:solidFill>
                <a:latin typeface="DM Sans" pitchFamily="2" charset="0"/>
              </a:rPr>
              <a:t>Gemma 3 4B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37EA5F-6714-0E39-02D1-EE32EB7CC55B}"/>
              </a:ext>
            </a:extLst>
          </p:cNvPr>
          <p:cNvSpPr/>
          <p:nvPr/>
        </p:nvSpPr>
        <p:spPr>
          <a:xfrm>
            <a:off x="2501900" y="2260600"/>
            <a:ext cx="1003300" cy="508000"/>
          </a:xfrm>
          <a:prstGeom prst="rect">
            <a:avLst/>
          </a:prstGeom>
          <a:solidFill>
            <a:srgbClr val="EFF9FC"/>
          </a:solidFill>
          <a:ln w="7620">
            <a:solidFill>
              <a:srgbClr val="A1B9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25400" rtlCol="0" anchor="ctr"/>
          <a:lstStyle/>
          <a:p>
            <a:r>
              <a:rPr lang="en-US" sz="1070" b="1">
                <a:solidFill>
                  <a:srgbClr val="384655"/>
                </a:solidFill>
                <a:latin typeface="DM Sans" pitchFamily="2" charset="0"/>
              </a:rPr>
              <a:t>82%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617B94-0D3C-030A-5CC9-21412B5BDD2D}"/>
              </a:ext>
            </a:extLst>
          </p:cNvPr>
          <p:cNvSpPr/>
          <p:nvPr/>
        </p:nvSpPr>
        <p:spPr>
          <a:xfrm>
            <a:off x="3505200" y="2260600"/>
            <a:ext cx="1117600" cy="508000"/>
          </a:xfrm>
          <a:prstGeom prst="rect">
            <a:avLst/>
          </a:prstGeom>
          <a:solidFill>
            <a:srgbClr val="EFF9FC"/>
          </a:solidFill>
          <a:ln w="7620">
            <a:solidFill>
              <a:srgbClr val="A1B9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25400" rtlCol="0" anchor="ctr"/>
          <a:lstStyle/>
          <a:p>
            <a:r>
              <a:rPr lang="en-US" sz="1070" b="1">
                <a:solidFill>
                  <a:srgbClr val="384655"/>
                </a:solidFill>
                <a:latin typeface="DM Sans" pitchFamily="2" charset="0"/>
              </a:rPr>
              <a:t>76.57%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96C8F4F-2714-D2A9-F754-D9694CD466C4}"/>
              </a:ext>
            </a:extLst>
          </p:cNvPr>
          <p:cNvSpPr/>
          <p:nvPr/>
        </p:nvSpPr>
        <p:spPr>
          <a:xfrm>
            <a:off x="4622800" y="2260600"/>
            <a:ext cx="1041400" cy="508000"/>
          </a:xfrm>
          <a:prstGeom prst="rect">
            <a:avLst/>
          </a:prstGeom>
          <a:solidFill>
            <a:srgbClr val="EFF9FC"/>
          </a:solidFill>
          <a:ln w="7620">
            <a:solidFill>
              <a:srgbClr val="A1B9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25400" rtlCol="0" anchor="ctr"/>
          <a:lstStyle/>
          <a:p>
            <a:r>
              <a:rPr lang="en-US" sz="1070" b="1">
                <a:solidFill>
                  <a:srgbClr val="384655"/>
                </a:solidFill>
                <a:latin typeface="DM Sans" pitchFamily="2" charset="0"/>
              </a:rPr>
              <a:t>Supported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CB083F-6252-2740-FC6B-536C6F324765}"/>
              </a:ext>
            </a:extLst>
          </p:cNvPr>
          <p:cNvSpPr/>
          <p:nvPr/>
        </p:nvSpPr>
        <p:spPr>
          <a:xfrm>
            <a:off x="5664200" y="2260600"/>
            <a:ext cx="889000" cy="508000"/>
          </a:xfrm>
          <a:prstGeom prst="rect">
            <a:avLst/>
          </a:prstGeom>
          <a:solidFill>
            <a:srgbClr val="EFF9FC"/>
          </a:solidFill>
          <a:ln w="7620">
            <a:solidFill>
              <a:srgbClr val="A1B9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25400" rtlCol="0" anchor="ctr"/>
          <a:lstStyle/>
          <a:p>
            <a:r>
              <a:rPr lang="en-US" sz="1070" b="1">
                <a:solidFill>
                  <a:srgbClr val="384655"/>
                </a:solidFill>
                <a:latin typeface="DM Sans" pitchFamily="2" charset="0"/>
              </a:rPr>
              <a:t>Pass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FF07A96-D6BE-BB7E-CC9D-BECE09337C10}"/>
              </a:ext>
            </a:extLst>
          </p:cNvPr>
          <p:cNvSpPr/>
          <p:nvPr/>
        </p:nvSpPr>
        <p:spPr>
          <a:xfrm>
            <a:off x="6553200" y="2260600"/>
            <a:ext cx="1879600" cy="508000"/>
          </a:xfrm>
          <a:prstGeom prst="rect">
            <a:avLst/>
          </a:prstGeom>
          <a:solidFill>
            <a:srgbClr val="EFF9FC"/>
          </a:solidFill>
          <a:ln w="7620">
            <a:solidFill>
              <a:srgbClr val="A1B9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25400" rtlCol="0" anchor="ctr"/>
          <a:lstStyle/>
          <a:p>
            <a:r>
              <a:rPr lang="en-US" sz="1070" b="1">
                <a:solidFill>
                  <a:srgbClr val="384655"/>
                </a:solidFill>
                <a:latin typeface="DM Sans" pitchFamily="2" charset="0"/>
              </a:rPr>
              <a:t>Consumer loan: 20%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6E05C1-44DD-080A-D780-42D9AD5EB018}"/>
              </a:ext>
            </a:extLst>
          </p:cNvPr>
          <p:cNvSpPr/>
          <p:nvPr/>
        </p:nvSpPr>
        <p:spPr>
          <a:xfrm>
            <a:off x="723900" y="2768600"/>
            <a:ext cx="1778000" cy="508000"/>
          </a:xfrm>
          <a:prstGeom prst="rect">
            <a:avLst/>
          </a:prstGeom>
          <a:solidFill>
            <a:srgbClr val="FFFFFF"/>
          </a:solidFill>
          <a:ln w="7620">
            <a:solidFill>
              <a:srgbClr val="A1B9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25400" rtlCol="0" anchor="ctr"/>
          <a:lstStyle/>
          <a:p>
            <a:r>
              <a:rPr lang="en-US" sz="1070">
                <a:solidFill>
                  <a:srgbClr val="384655"/>
                </a:solidFill>
                <a:latin typeface="DM Sans" pitchFamily="2" charset="0"/>
              </a:rPr>
              <a:t>Mistral 7B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238DC9A-EDE7-7332-B654-8CA7A2321275}"/>
              </a:ext>
            </a:extLst>
          </p:cNvPr>
          <p:cNvSpPr/>
          <p:nvPr/>
        </p:nvSpPr>
        <p:spPr>
          <a:xfrm>
            <a:off x="2501900" y="2768600"/>
            <a:ext cx="1003300" cy="508000"/>
          </a:xfrm>
          <a:prstGeom prst="rect">
            <a:avLst/>
          </a:prstGeom>
          <a:solidFill>
            <a:srgbClr val="FFFFFF"/>
          </a:solidFill>
          <a:ln w="7620">
            <a:solidFill>
              <a:srgbClr val="A1B9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25400" rtlCol="0" anchor="ctr"/>
          <a:lstStyle/>
          <a:p>
            <a:r>
              <a:rPr lang="en-US" sz="1070">
                <a:solidFill>
                  <a:srgbClr val="384655"/>
                </a:solidFill>
                <a:latin typeface="DM Sans" pitchFamily="2" charset="0"/>
              </a:rPr>
              <a:t>86%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3699C2-B9FE-0D11-8786-24B748BC595A}"/>
              </a:ext>
            </a:extLst>
          </p:cNvPr>
          <p:cNvSpPr/>
          <p:nvPr/>
        </p:nvSpPr>
        <p:spPr>
          <a:xfrm>
            <a:off x="3505200" y="2768600"/>
            <a:ext cx="1117600" cy="508000"/>
          </a:xfrm>
          <a:prstGeom prst="rect">
            <a:avLst/>
          </a:prstGeom>
          <a:solidFill>
            <a:srgbClr val="FFFFFF"/>
          </a:solidFill>
          <a:ln w="7620">
            <a:solidFill>
              <a:srgbClr val="A1B9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25400" rtlCol="0" anchor="ctr"/>
          <a:lstStyle/>
          <a:p>
            <a:r>
              <a:rPr lang="en-US" sz="1070">
                <a:solidFill>
                  <a:srgbClr val="384655"/>
                </a:solidFill>
                <a:latin typeface="DM Sans" pitchFamily="2" charset="0"/>
              </a:rPr>
              <a:t>68.57%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2FC7981-098A-9295-9067-FEBCC6822E5D}"/>
              </a:ext>
            </a:extLst>
          </p:cNvPr>
          <p:cNvSpPr/>
          <p:nvPr/>
        </p:nvSpPr>
        <p:spPr>
          <a:xfrm>
            <a:off x="4622800" y="2768600"/>
            <a:ext cx="1041400" cy="508000"/>
          </a:xfrm>
          <a:prstGeom prst="rect">
            <a:avLst/>
          </a:prstGeom>
          <a:solidFill>
            <a:srgbClr val="FFFFFF"/>
          </a:solidFill>
          <a:ln w="7620">
            <a:solidFill>
              <a:srgbClr val="A1B9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25400" rtlCol="0" anchor="ctr"/>
          <a:lstStyle/>
          <a:p>
            <a:r>
              <a:rPr lang="en-US" sz="1070">
                <a:solidFill>
                  <a:srgbClr val="384655"/>
                </a:solidFill>
                <a:latin typeface="DM Sans" pitchFamily="2" charset="0"/>
              </a:rPr>
              <a:t>Supported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37C8AA-5ED9-165B-54BE-578CB9FF0BDA}"/>
              </a:ext>
            </a:extLst>
          </p:cNvPr>
          <p:cNvSpPr/>
          <p:nvPr/>
        </p:nvSpPr>
        <p:spPr>
          <a:xfrm>
            <a:off x="5664200" y="2768600"/>
            <a:ext cx="889000" cy="508000"/>
          </a:xfrm>
          <a:prstGeom prst="rect">
            <a:avLst/>
          </a:prstGeom>
          <a:solidFill>
            <a:srgbClr val="FFFFFF"/>
          </a:solidFill>
          <a:ln w="7620">
            <a:solidFill>
              <a:srgbClr val="A1B9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25400" rtlCol="0" anchor="ctr"/>
          <a:lstStyle/>
          <a:p>
            <a:r>
              <a:rPr lang="en-US" sz="1070">
                <a:solidFill>
                  <a:srgbClr val="384655"/>
                </a:solidFill>
                <a:latin typeface="DM Sans" pitchFamily="2" charset="0"/>
              </a:rPr>
              <a:t>Fail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70C5ADA-6C76-A9FC-27AC-18D7DFFE0114}"/>
              </a:ext>
            </a:extLst>
          </p:cNvPr>
          <p:cNvSpPr/>
          <p:nvPr/>
        </p:nvSpPr>
        <p:spPr>
          <a:xfrm>
            <a:off x="6553200" y="2768600"/>
            <a:ext cx="1879600" cy="508000"/>
          </a:xfrm>
          <a:prstGeom prst="rect">
            <a:avLst/>
          </a:prstGeom>
          <a:solidFill>
            <a:srgbClr val="FFFFFF"/>
          </a:solidFill>
          <a:ln w="7620">
            <a:solidFill>
              <a:srgbClr val="A1B9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63500" bIns="25400" rtlCol="0" anchor="ctr"/>
          <a:lstStyle/>
          <a:p>
            <a:r>
              <a:rPr lang="en-US" sz="1070">
                <a:solidFill>
                  <a:srgbClr val="384655"/>
                </a:solidFill>
                <a:latin typeface="DM Sans" pitchFamily="2" charset="0"/>
              </a:rPr>
              <a:t>Loan 53%; transfer 46%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3DFF0E4-CDF1-EFDA-0F9C-D86E4B1C70AD}"/>
              </a:ext>
            </a:extLst>
          </p:cNvPr>
          <p:cNvSpPr txBox="1"/>
          <p:nvPr/>
        </p:nvSpPr>
        <p:spPr>
          <a:xfrm>
            <a:off x="723900" y="3340100"/>
            <a:ext cx="7708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5A6C7A"/>
                </a:solidFill>
                <a:latin typeface="DM Sans" pitchFamily="2" charset="0"/>
              </a:rPr>
              <a:t>*R1-R3 supported at 60/180 tickets/h; 9/h was not directly timed. Search p95 has only 4/12 requests per run.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51EC857-ABEC-FD29-611E-073BEC0853A3}"/>
              </a:ext>
            </a:extLst>
          </p:cNvPr>
          <p:cNvSpPr/>
          <p:nvPr/>
        </p:nvSpPr>
        <p:spPr>
          <a:xfrm>
            <a:off x="723900" y="3746500"/>
            <a:ext cx="7708900" cy="1054100"/>
          </a:xfrm>
          <a:prstGeom prst="rect">
            <a:avLst/>
          </a:prstGeom>
          <a:solidFill>
            <a:srgbClr val="EFF9FC"/>
          </a:solidFill>
          <a:ln w="10160">
            <a:solidFill>
              <a:srgbClr val="CAF1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465139-BDDE-AB2A-5762-F9364FEB3EB0}"/>
              </a:ext>
            </a:extLst>
          </p:cNvPr>
          <p:cNvSpPr txBox="1"/>
          <p:nvPr/>
        </p:nvSpPr>
        <p:spPr>
          <a:xfrm>
            <a:off x="876300" y="3848100"/>
            <a:ext cx="7366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384655"/>
                </a:solidFill>
                <a:latin typeface="DM Sans" pitchFamily="2" charset="0"/>
              </a:rPr>
              <a:t>Recommendation: Gemma 3 4B, supervised pilot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E6A4CF9-BCD5-4D74-5150-A5F0EAA17DFA}"/>
              </a:ext>
            </a:extLst>
          </p:cNvPr>
          <p:cNvSpPr txBox="1"/>
          <p:nvPr/>
        </p:nvSpPr>
        <p:spPr>
          <a:xfrm>
            <a:off x="876300" y="4191000"/>
            <a:ext cx="7366000" cy="3570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60">
                <a:solidFill>
                  <a:srgbClr val="384655"/>
                </a:solidFill>
                <a:latin typeface="DM Sans" pitchFamily="2" charset="0"/>
              </a:rPr>
              <a:t>Only model over 75% end-to-end (134/175), with supported load targets. Consumer loan is 3/15 correct: a human must approve every route. No candidate has a clean seven-category pass.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 &amp; Acknowledgements 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F7E58-8CA6-1A43-5BEA-417041813E4F}"/>
              </a:ext>
            </a:extLst>
          </p:cNvPr>
          <p:cNvSpPr txBox="1"/>
          <p:nvPr/>
        </p:nvSpPr>
        <p:spPr>
          <a:xfrm>
            <a:off x="939800" y="14732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800" b="1">
                <a:solidFill>
                  <a:srgbClr val="384655"/>
                </a:solidFill>
                <a:latin typeface="DM Sans" pitchFamily="2" charset="0"/>
              </a:rPr>
              <a:t>Workload source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DB5EF3-F461-B5A5-687C-592313BC443A}"/>
              </a:ext>
            </a:extLst>
          </p:cNvPr>
          <p:cNvSpPr txBox="1"/>
          <p:nvPr/>
        </p:nvSpPr>
        <p:spPr>
          <a:xfrm>
            <a:off x="939800" y="1879600"/>
            <a:ext cx="711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384655"/>
                </a:solidFill>
                <a:latin typeface="DM Sans" pitchFamily="2" charset="0"/>
              </a:rPr>
              <a:t>CFPB, 2024 Consumer Response Annual Report (accessed 20 Sep 2026)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335C3F-EDE7-6A9C-84D6-FA63D478D7EC}"/>
              </a:ext>
            </a:extLst>
          </p:cNvPr>
          <p:cNvSpPr txBox="1"/>
          <p:nvPr/>
        </p:nvSpPr>
        <p:spPr>
          <a:xfrm>
            <a:off x="939800" y="2209800"/>
            <a:ext cx="723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5A6C7A"/>
                </a:solidFill>
                <a:latin typeface="DM Sans" pitchFamily="2" charset="0"/>
              </a:rPr>
              <a:t>consumerfinance.gov/data-research/research-reports/2024-consumer-response-annual-report/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E1183A-0643-E1EE-4292-480235AC2815}"/>
              </a:ext>
            </a:extLst>
          </p:cNvPr>
          <p:cNvSpPr txBox="1"/>
          <p:nvPr/>
        </p:nvSpPr>
        <p:spPr>
          <a:xfrm>
            <a:off x="939800" y="28321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800" b="1">
                <a:solidFill>
                  <a:srgbClr val="384655"/>
                </a:solidFill>
                <a:latin typeface="DM Sans" pitchFamily="2" charset="0"/>
              </a:rPr>
              <a:t>Dataset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E2CA2F-862B-11BE-6F2C-6AC4616E5823}"/>
              </a:ext>
            </a:extLst>
          </p:cNvPr>
          <p:cNvSpPr txBox="1"/>
          <p:nvPr/>
        </p:nvSpPr>
        <p:spPr>
          <a:xfrm>
            <a:off x="939800" y="3225800"/>
            <a:ext cx="723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384655"/>
                </a:solidFill>
                <a:latin typeface="DM Sans" pitchFamily="2" charset="0"/>
              </a:rPr>
              <a:t>CFPB Consumer Complaint Database - consumerfinance.gov/data-research/consumer-complaints/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2B489D-FB45-0CDB-9A4E-B6F139511AB7}"/>
              </a:ext>
            </a:extLst>
          </p:cNvPr>
          <p:cNvSpPr txBox="1"/>
          <p:nvPr/>
        </p:nvSpPr>
        <p:spPr>
          <a:xfrm>
            <a:off x="939800" y="39751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800" b="1">
                <a:solidFill>
                  <a:srgbClr val="384655"/>
                </a:solidFill>
                <a:latin typeface="DM Sans" pitchFamily="2" charset="0"/>
              </a:rPr>
              <a:t>Project evidence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D22B6F-CEDD-4D7F-3F47-582FF93DFC62}"/>
              </a:ext>
            </a:extLst>
          </p:cNvPr>
          <p:cNvSpPr txBox="1"/>
          <p:nvPr/>
        </p:nvSpPr>
        <p:spPr>
          <a:xfrm>
            <a:off x="939800" y="4343400"/>
            <a:ext cx="7239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384655"/>
                </a:solidFill>
                <a:latin typeface="DM Sans" pitchFamily="2" charset="0"/>
              </a:rPr>
              <a:t>docs/workload_model.md; docs/requirements.md; golden_set/golden_set.csv; results/accuracy/; results/summary/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1329</Words>
  <Application>Microsoft Office PowerPoint</Application>
  <PresentationFormat>On-screen Show (16:9)</PresentationFormat>
  <Paragraphs>270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DM Sans</vt:lpstr>
      <vt:lpstr>Nunito</vt:lpstr>
      <vt:lpstr>Anaheim</vt:lpstr>
      <vt:lpstr>Outfit</vt:lpstr>
      <vt:lpstr>Nunito Light</vt:lpstr>
      <vt:lpstr>Data Collection and Analysis - Master of Science in Community Health and Prevention Research by Slidesgo</vt:lpstr>
      <vt:lpstr>Automated financial complaint triage                  Performance Evaluation on CPU Infrastructure</vt:lpstr>
      <vt:lpstr>Service Architecture : Sync Baseline</vt:lpstr>
      <vt:lpstr>Workload Model </vt:lpstr>
      <vt:lpstr>Performance &amp; Accuracy Requirements</vt:lpstr>
      <vt:lpstr>Candidate Models </vt:lpstr>
      <vt:lpstr>Golden Test Set</vt:lpstr>
      <vt:lpstr>Test Environment </vt:lpstr>
      <vt:lpstr>Playbook (Testing Procedure)</vt:lpstr>
      <vt:lpstr>Load &amp; Stress Test Results </vt:lpstr>
      <vt:lpstr>Accuracy Results </vt:lpstr>
      <vt:lpstr>Predictions &amp; Recommendation</vt:lpstr>
      <vt:lpstr>References &amp; Acknowledgements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BRYAN KOH KAI XUN</cp:lastModifiedBy>
  <cp:revision>1</cp:revision>
  <dcterms:modified xsi:type="dcterms:W3CDTF">2026-10-09T09:03:48Z</dcterms:modified>
</cp:coreProperties>
</file>